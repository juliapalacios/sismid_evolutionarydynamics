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170" r:id="rId1"/>
  </p:sldMasterIdLst>
  <p:notesMasterIdLst>
    <p:notesMasterId r:id="rId34"/>
  </p:notesMasterIdLst>
  <p:handoutMasterIdLst>
    <p:handoutMasterId r:id="rId35"/>
  </p:handoutMasterIdLst>
  <p:sldIdLst>
    <p:sldId id="398" r:id="rId2"/>
    <p:sldId id="1522" r:id="rId3"/>
    <p:sldId id="1551" r:id="rId4"/>
    <p:sldId id="1550" r:id="rId5"/>
    <p:sldId id="1552" r:id="rId6"/>
    <p:sldId id="1525" r:id="rId7"/>
    <p:sldId id="1555" r:id="rId8"/>
    <p:sldId id="1523" r:id="rId9"/>
    <p:sldId id="1524" r:id="rId10"/>
    <p:sldId id="1527" r:id="rId11"/>
    <p:sldId id="1529" r:id="rId12"/>
    <p:sldId id="1528" r:id="rId13"/>
    <p:sldId id="1533" r:id="rId14"/>
    <p:sldId id="1558" r:id="rId15"/>
    <p:sldId id="1560" r:id="rId16"/>
    <p:sldId id="1561" r:id="rId17"/>
    <p:sldId id="1562" r:id="rId18"/>
    <p:sldId id="1564" r:id="rId19"/>
    <p:sldId id="1559" r:id="rId20"/>
    <p:sldId id="1535" r:id="rId21"/>
    <p:sldId id="1567" r:id="rId22"/>
    <p:sldId id="1568" r:id="rId23"/>
    <p:sldId id="1569" r:id="rId24"/>
    <p:sldId id="1570" r:id="rId25"/>
    <p:sldId id="1571" r:id="rId26"/>
    <p:sldId id="1544" r:id="rId27"/>
    <p:sldId id="1545" r:id="rId28"/>
    <p:sldId id="1546" r:id="rId29"/>
    <p:sldId id="1547" r:id="rId30"/>
    <p:sldId id="285" r:id="rId31"/>
    <p:sldId id="1548" r:id="rId32"/>
    <p:sldId id="1605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60103"/>
    <a:srgbClr val="9D0001"/>
    <a:srgbClr val="54823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934"/>
    <p:restoredTop sz="94626"/>
  </p:normalViewPr>
  <p:slideViewPr>
    <p:cSldViewPr snapToGrid="0" snapToObjects="1">
      <p:cViewPr varScale="1">
        <p:scale>
          <a:sx n="121" d="100"/>
          <a:sy n="121" d="100"/>
        </p:scale>
        <p:origin x="81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0" d="100"/>
          <a:sy n="80" d="100"/>
        </p:scale>
        <p:origin x="3656" y="2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8679DFE-8518-9D49-9E50-AC45C5B97A8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AF0FC4-10CC-C44E-A663-413C364BE77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480B8A-FD9C-1344-8D25-71D587D00BBF}" type="datetimeFigureOut">
              <a:rPr lang="en-US" smtClean="0"/>
              <a:t>7/16/25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73B526C-DAF2-1345-8098-EFB07DED944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126601-796B-B246-9463-C19BE5A837A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E0EDA9-C391-2646-87B8-C678BCF4A9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124133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FDA795-B73F-A246-9702-E77F21B8669E}" type="datetimeFigureOut">
              <a:rPr lang="en-US" smtClean="0"/>
              <a:t>7/16/25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207BA9-DD6B-554F-8D26-EE5FD017BA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910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69260D-431B-C44C-8453-2C8999C4062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2512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69260D-431B-C44C-8453-2C8999C4062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01413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69260D-431B-C44C-8453-2C8999C4062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08381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69260D-431B-C44C-8453-2C8999C4062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7246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69260D-431B-C44C-8453-2C8999C4062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9149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69260D-431B-C44C-8453-2C8999C4062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9743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69260D-431B-C44C-8453-2C8999C4062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41785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69260D-431B-C44C-8453-2C8999C4062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26804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69260D-431B-C44C-8453-2C8999C4062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031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Based on heuristics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69260D-431B-C44C-8453-2C8999C4062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8536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69260D-431B-C44C-8453-2C8999C4062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0697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69260D-431B-C44C-8453-2C8999C4062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78509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69260D-431B-C44C-8453-2C8999C4062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86362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69260D-431B-C44C-8453-2C8999C4062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34669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69260D-431B-C44C-8453-2C8999C4062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7437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69260D-431B-C44C-8453-2C8999C4062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30362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69260D-431B-C44C-8453-2C8999C4062C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295810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69260D-431B-C44C-8453-2C8999C4062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59483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69260D-431B-C44C-8453-2C8999C4062C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95785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69260D-431B-C44C-8453-2C8999C4062C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092820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69260D-431B-C44C-8453-2C8999C4062C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53817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69260D-431B-C44C-8453-2C8999C4062C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62686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69260D-431B-C44C-8453-2C8999C4062C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245170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69260D-431B-C44C-8453-2C8999C4062C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21703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69260D-431B-C44C-8453-2C8999C4062C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88392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69260D-431B-C44C-8453-2C8999C4062C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99652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Phylogenies or genealogies are usually not directly observed, instead we observe genetic data such as molecular DNA or RNA sequences and having a mutation model and a tree model in place we can then estimate the posterior distributions of the trees. This is usually done via MCMC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69260D-431B-C44C-8453-2C8999C4062C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72606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69260D-431B-C44C-8453-2C8999C4062C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4739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CF19F1-9E09-1441-8A0C-BC1B12014C25}" type="datetimeFigureOut">
              <a:rPr lang="en-US" smtClean="0"/>
              <a:t>7/16/25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Julia Palacios</a:t>
            </a:r>
          </a:p>
        </p:txBody>
      </p:sp>
    </p:spTree>
    <p:extLst>
      <p:ext uri="{BB962C8B-B14F-4D97-AF65-F5344CB8AC3E}">
        <p14:creationId xmlns:p14="http://schemas.microsoft.com/office/powerpoint/2010/main" val="31609701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CF19F1-9E09-1441-8A0C-BC1B12014C25}" type="datetimeFigureOut">
              <a:rPr lang="en-US" smtClean="0"/>
              <a:t>7/16/25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Julia Palacios</a:t>
            </a:r>
          </a:p>
        </p:txBody>
      </p:sp>
    </p:spTree>
    <p:extLst>
      <p:ext uri="{BB962C8B-B14F-4D97-AF65-F5344CB8AC3E}">
        <p14:creationId xmlns:p14="http://schemas.microsoft.com/office/powerpoint/2010/main" val="32751043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CF19F1-9E09-1441-8A0C-BC1B12014C25}" type="datetimeFigureOut">
              <a:rPr lang="en-US" smtClean="0"/>
              <a:t>7/16/25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E2C12-BBAB-DA40-85B5-9D59B80A0B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33264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CF19F1-9E09-1441-8A0C-BC1B12014C25}" type="datetimeFigureOut">
              <a:rPr lang="en-US" smtClean="0"/>
              <a:t>7/16/25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E2C12-BBAB-DA40-85B5-9D59B80A0B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3282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CF19F1-9E09-1441-8A0C-BC1B12014C25}" type="datetimeFigureOut">
              <a:rPr lang="en-US" smtClean="0"/>
              <a:t>7/16/25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8447314" y="6356350"/>
            <a:ext cx="2743200" cy="365125"/>
          </a:xfrm>
        </p:spPr>
        <p:txBody>
          <a:bodyPr/>
          <a:lstStyle/>
          <a:p>
            <a:fld id="{033E2C12-BBAB-DA40-85B5-9D59B80A0B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2490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CF19F1-9E09-1441-8A0C-BC1B12014C25}" type="datetimeFigureOut">
              <a:rPr lang="en-US" smtClean="0"/>
              <a:t>7/16/25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E2C12-BBAB-DA40-85B5-9D59B80A0B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7609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CF19F1-9E09-1441-8A0C-BC1B12014C25}" type="datetimeFigureOut">
              <a:rPr lang="en-US" smtClean="0"/>
              <a:t>7/16/25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E2C12-BBAB-DA40-85B5-9D59B80A0B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98997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CF19F1-9E09-1441-8A0C-BC1B12014C25}" type="datetimeFigureOut">
              <a:rPr lang="en-US" smtClean="0"/>
              <a:t>7/16/25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E2C12-BBAB-DA40-85B5-9D59B80A0B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5843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CF19F1-9E09-1441-8A0C-BC1B12014C25}" type="datetimeFigureOut">
              <a:rPr lang="en-US" smtClean="0"/>
              <a:t>7/16/25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E2C12-BBAB-DA40-85B5-9D59B80A0B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59255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CF19F1-9E09-1441-8A0C-BC1B12014C25}" type="datetimeFigureOut">
              <a:rPr lang="en-US" smtClean="0"/>
              <a:t>7/16/25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E2C12-BBAB-DA40-85B5-9D59B80A0B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354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CF19F1-9E09-1441-8A0C-BC1B12014C25}" type="datetimeFigureOut">
              <a:rPr lang="en-US" smtClean="0"/>
              <a:t>7/16/25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E2C12-BBAB-DA40-85B5-9D59B80A0B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76134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CF19F1-9E09-1441-8A0C-BC1B12014C25}" type="datetimeFigureOut">
              <a:rPr lang="en-US" smtClean="0"/>
              <a:t>7/16/25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3E2C12-BBAB-DA40-85B5-9D59B80A0B74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30534FC-4B4F-F240-79A0-9DB7953EE2CA}"/>
              </a:ext>
            </a:extLst>
          </p:cNvPr>
          <p:cNvSpPr/>
          <p:nvPr userDrawn="1"/>
        </p:nvSpPr>
        <p:spPr>
          <a:xfrm>
            <a:off x="0" y="6311900"/>
            <a:ext cx="12192000" cy="541699"/>
          </a:xfrm>
          <a:prstGeom prst="rect">
            <a:avLst/>
          </a:prstGeom>
          <a:solidFill>
            <a:srgbClr val="96010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897118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71" r:id="rId1"/>
    <p:sldLayoutId id="2147484172" r:id="rId2"/>
    <p:sldLayoutId id="2147484173" r:id="rId3"/>
    <p:sldLayoutId id="2147484174" r:id="rId4"/>
    <p:sldLayoutId id="2147484175" r:id="rId5"/>
    <p:sldLayoutId id="2147484176" r:id="rId6"/>
    <p:sldLayoutId id="2147484177" r:id="rId7"/>
    <p:sldLayoutId id="2147484178" r:id="rId8"/>
    <p:sldLayoutId id="2147484179" r:id="rId9"/>
    <p:sldLayoutId id="2147484180" r:id="rId10"/>
    <p:sldLayoutId id="214748418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doi.org/10.1101/2022.12.24.521833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5.emf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7.em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doi.org/10.1101/2022.12.24.521833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5.png"/><Relationship Id="rId4" Type="http://schemas.openxmlformats.org/officeDocument/2006/relationships/image" Target="../media/image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EBFF7B-4259-0443-868E-F73325615B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0789" y="2431375"/>
            <a:ext cx="11214100" cy="1565514"/>
          </a:xfrm>
        </p:spPr>
        <p:txBody>
          <a:bodyPr>
            <a:normAutofit/>
          </a:bodyPr>
          <a:lstStyle/>
          <a:p>
            <a:r>
              <a:rPr lang="en-US" sz="4800" b="1" dirty="0">
                <a:solidFill>
                  <a:schemeClr val="accent1">
                    <a:lumMod val="75000"/>
                  </a:schemeClr>
                </a:solidFill>
              </a:rPr>
              <a:t>Phylogenetic mapping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2F599A-1CFF-3A46-A85A-5632050D79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5839" y="3996889"/>
            <a:ext cx="9144000" cy="1655762"/>
          </a:xfrm>
        </p:spPr>
        <p:txBody>
          <a:bodyPr>
            <a:normAutofit/>
          </a:bodyPr>
          <a:lstStyle/>
          <a:p>
            <a:endParaRPr lang="en-US" dirty="0"/>
          </a:p>
          <a:p>
            <a:r>
              <a:rPr lang="en-US" dirty="0"/>
              <a:t>Julia A. Palacios</a:t>
            </a:r>
          </a:p>
        </p:txBody>
      </p:sp>
      <p:pic>
        <p:nvPicPr>
          <p:cNvPr id="7" name="Picture 6" descr="A blue circle with a city skyline and text&#10;&#10;Description automatically generated">
            <a:extLst>
              <a:ext uri="{FF2B5EF4-FFF2-40B4-BE49-F238E27FC236}">
                <a16:creationId xmlns:a16="http://schemas.microsoft.com/office/drawing/2014/main" id="{0DF1DF0B-875E-B156-6309-49D31BED61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9000" y="0"/>
            <a:ext cx="2489200" cy="2466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84355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1029AE3-F357-D307-5723-0A7A3723F1A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6465"/>
          <a:stretch/>
        </p:blipFill>
        <p:spPr>
          <a:xfrm>
            <a:off x="724279" y="552450"/>
            <a:ext cx="4339040" cy="57531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2BD6309-3F95-8263-D8CC-F9FE9AC8B5BB}"/>
              </a:ext>
            </a:extLst>
          </p:cNvPr>
          <p:cNvSpPr txBox="1">
            <a:spLocks/>
          </p:cNvSpPr>
          <p:nvPr/>
        </p:nvSpPr>
        <p:spPr>
          <a:xfrm>
            <a:off x="410690" y="0"/>
            <a:ext cx="11725466" cy="6864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solidFill>
                  <a:srgbClr val="C00000"/>
                </a:solidFill>
              </a:rPr>
              <a:t>SARS-CoV-2 Study  early 2020 at Stanford Hospital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620E08-8523-37BC-BF8D-467D044E1B1A}"/>
              </a:ext>
            </a:extLst>
          </p:cNvPr>
          <p:cNvSpPr txBox="1"/>
          <p:nvPr/>
        </p:nvSpPr>
        <p:spPr>
          <a:xfrm>
            <a:off x="7938468" y="5936218"/>
            <a:ext cx="41976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Parikh et al., Nature Communications 2022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359F23-3BF5-8BB5-361A-B7D0F2651ACF}"/>
              </a:ext>
            </a:extLst>
          </p:cNvPr>
          <p:cNvSpPr txBox="1"/>
          <p:nvPr/>
        </p:nvSpPr>
        <p:spPr>
          <a:xfrm>
            <a:off x="5884331" y="3627894"/>
            <a:ext cx="558339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The phylogenetic tree is </a:t>
            </a:r>
            <a:r>
              <a:rPr lang="en-US" sz="2400" u="sng" dirty="0">
                <a:latin typeface="Arial" panose="020B0604020202020204" pitchFamily="34" charset="0"/>
                <a:cs typeface="Arial" panose="020B0604020202020204" pitchFamily="34" charset="0"/>
              </a:rPr>
              <a:t>estimated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from SARS-CoV-2 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viral sequences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Ancestry of infected 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patients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is </a:t>
            </a:r>
            <a:r>
              <a:rPr lang="en-US" sz="2400" u="sng" dirty="0">
                <a:latin typeface="Arial" panose="020B0604020202020204" pitchFamily="34" charset="0"/>
                <a:cs typeface="Arial" panose="020B0604020202020204" pitchFamily="34" charset="0"/>
              </a:rPr>
              <a:t>estimated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from their 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genomes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DDEC92A-AD57-43E1-F337-4B0BB45F1C2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31498"/>
          <a:stretch/>
        </p:blipFill>
        <p:spPr>
          <a:xfrm>
            <a:off x="5613779" y="686435"/>
            <a:ext cx="4076131" cy="2997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15379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1029AE3-F357-D307-5723-0A7A3723F1A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6465"/>
          <a:stretch/>
        </p:blipFill>
        <p:spPr>
          <a:xfrm>
            <a:off x="724279" y="552450"/>
            <a:ext cx="4339040" cy="57531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2BD6309-3F95-8263-D8CC-F9FE9AC8B5BB}"/>
              </a:ext>
            </a:extLst>
          </p:cNvPr>
          <p:cNvSpPr txBox="1">
            <a:spLocks/>
          </p:cNvSpPr>
          <p:nvPr/>
        </p:nvSpPr>
        <p:spPr>
          <a:xfrm>
            <a:off x="410690" y="0"/>
            <a:ext cx="11725466" cy="6864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solidFill>
                  <a:srgbClr val="C00000"/>
                </a:solidFill>
              </a:rPr>
              <a:t>SARS-CoV-2 Study  early 2020 at Stanford Hospital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620E08-8523-37BC-BF8D-467D044E1B1A}"/>
              </a:ext>
            </a:extLst>
          </p:cNvPr>
          <p:cNvSpPr txBox="1"/>
          <p:nvPr/>
        </p:nvSpPr>
        <p:spPr>
          <a:xfrm>
            <a:off x="7938468" y="5936218"/>
            <a:ext cx="41976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Parikh et al., Nature Communications 2022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D2558C-1E1A-6159-50CD-6D29F36E44B0}"/>
              </a:ext>
            </a:extLst>
          </p:cNvPr>
          <p:cNvSpPr txBox="1"/>
          <p:nvPr/>
        </p:nvSpPr>
        <p:spPr>
          <a:xfrm>
            <a:off x="6268894" y="4109719"/>
            <a:ext cx="4559261" cy="83099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Is the virus being transmitted </a:t>
            </a:r>
          </a:p>
          <a:p>
            <a:pPr algn="ctr"/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within ancestries?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D07245-586F-2619-873E-C83F781AE74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31498"/>
          <a:stretch/>
        </p:blipFill>
        <p:spPr>
          <a:xfrm>
            <a:off x="5613779" y="686435"/>
            <a:ext cx="4076131" cy="2997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76940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1029AE3-F357-D307-5723-0A7A3723F1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279" y="552450"/>
            <a:ext cx="5194300" cy="57531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2BD6309-3F95-8263-D8CC-F9FE9AC8B5BB}"/>
              </a:ext>
            </a:extLst>
          </p:cNvPr>
          <p:cNvSpPr txBox="1">
            <a:spLocks/>
          </p:cNvSpPr>
          <p:nvPr/>
        </p:nvSpPr>
        <p:spPr>
          <a:xfrm>
            <a:off x="410690" y="0"/>
            <a:ext cx="11725466" cy="6864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solidFill>
                  <a:srgbClr val="C00000"/>
                </a:solidFill>
              </a:rPr>
              <a:t>SARS-CoV-2 Study  early 2020 at Stanford Hospital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E50B369-05AF-F223-F8A8-745CF1514E0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68273"/>
          <a:stretch/>
        </p:blipFill>
        <p:spPr>
          <a:xfrm>
            <a:off x="5761655" y="498982"/>
            <a:ext cx="1887890" cy="299701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F620E08-8523-37BC-BF8D-467D044E1B1A}"/>
              </a:ext>
            </a:extLst>
          </p:cNvPr>
          <p:cNvSpPr txBox="1"/>
          <p:nvPr/>
        </p:nvSpPr>
        <p:spPr>
          <a:xfrm>
            <a:off x="7492620" y="5622877"/>
            <a:ext cx="41976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Parikh et al., Nature Communications 2022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B77F2B-3033-975D-0A9A-65CE3F1B454E}"/>
              </a:ext>
            </a:extLst>
          </p:cNvPr>
          <p:cNvSpPr txBox="1"/>
          <p:nvPr/>
        </p:nvSpPr>
        <p:spPr>
          <a:xfrm>
            <a:off x="6552766" y="727379"/>
            <a:ext cx="558339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A 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severity score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is calculated for each infected 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patient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according to observed 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disease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response. </a:t>
            </a:r>
          </a:p>
        </p:txBody>
      </p:sp>
    </p:spTree>
    <p:extLst>
      <p:ext uri="{BB962C8B-B14F-4D97-AF65-F5344CB8AC3E}">
        <p14:creationId xmlns:p14="http://schemas.microsoft.com/office/powerpoint/2010/main" val="9677806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1029AE3-F357-D307-5723-0A7A3723F1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279" y="552450"/>
            <a:ext cx="5194300" cy="57531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2BD6309-3F95-8263-D8CC-F9FE9AC8B5BB}"/>
              </a:ext>
            </a:extLst>
          </p:cNvPr>
          <p:cNvSpPr txBox="1">
            <a:spLocks/>
          </p:cNvSpPr>
          <p:nvPr/>
        </p:nvSpPr>
        <p:spPr>
          <a:xfrm>
            <a:off x="410690" y="0"/>
            <a:ext cx="11725466" cy="6864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solidFill>
                  <a:srgbClr val="C00000"/>
                </a:solidFill>
              </a:rPr>
              <a:t>SARS-CoV-2 Study  early 2020 at Stanford Hospital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E50B369-05AF-F223-F8A8-745CF1514E0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68273"/>
          <a:stretch/>
        </p:blipFill>
        <p:spPr>
          <a:xfrm>
            <a:off x="5761655" y="498982"/>
            <a:ext cx="1887890" cy="299701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F620E08-8523-37BC-BF8D-467D044E1B1A}"/>
              </a:ext>
            </a:extLst>
          </p:cNvPr>
          <p:cNvSpPr txBox="1"/>
          <p:nvPr/>
        </p:nvSpPr>
        <p:spPr>
          <a:xfrm>
            <a:off x="7492620" y="5622877"/>
            <a:ext cx="41976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Parikh et al., Nature Communications 2022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B77F2B-3033-975D-0A9A-65CE3F1B454E}"/>
              </a:ext>
            </a:extLst>
          </p:cNvPr>
          <p:cNvSpPr txBox="1"/>
          <p:nvPr/>
        </p:nvSpPr>
        <p:spPr>
          <a:xfrm>
            <a:off x="6552766" y="727379"/>
            <a:ext cx="558339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A 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severity score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is calculated for each infected 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patient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according to observed 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disease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response.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887C27-82DC-6B88-031E-0BF5D0A10B03}"/>
              </a:ext>
            </a:extLst>
          </p:cNvPr>
          <p:cNvSpPr txBox="1"/>
          <p:nvPr/>
        </p:nvSpPr>
        <p:spPr>
          <a:xfrm>
            <a:off x="6496008" y="3358417"/>
            <a:ext cx="5194300" cy="1200329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Are patients infected with similar strains presenting similar disease symptoms?</a:t>
            </a:r>
          </a:p>
        </p:txBody>
      </p:sp>
    </p:spTree>
    <p:extLst>
      <p:ext uri="{BB962C8B-B14F-4D97-AF65-F5344CB8AC3E}">
        <p14:creationId xmlns:p14="http://schemas.microsoft.com/office/powerpoint/2010/main" val="661546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2BD6309-3F95-8263-D8CC-F9FE9AC8B5BB}"/>
              </a:ext>
            </a:extLst>
          </p:cNvPr>
          <p:cNvSpPr txBox="1">
            <a:spLocks/>
          </p:cNvSpPr>
          <p:nvPr/>
        </p:nvSpPr>
        <p:spPr>
          <a:xfrm>
            <a:off x="410690" y="0"/>
            <a:ext cx="11725466" cy="6864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solidFill>
                  <a:srgbClr val="C00000"/>
                </a:solidFill>
              </a:rPr>
              <a:t>Breast cancer gene expression data on 98 patients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F90CB50-03DF-AA14-6754-E2C2EEB6B1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081" y="781969"/>
            <a:ext cx="5726342" cy="561465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CACD8B6-109F-6C89-A9EE-162F99DF6396}"/>
              </a:ext>
            </a:extLst>
          </p:cNvPr>
          <p:cNvSpPr txBox="1"/>
          <p:nvPr/>
        </p:nvSpPr>
        <p:spPr>
          <a:xfrm>
            <a:off x="6637708" y="2229256"/>
            <a:ext cx="4457922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Traits tested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BRCA mutation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Estrogen receptor expression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Histological grade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Lymphocytic infiltration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Angioinvasion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F47483-666C-F098-0C5C-925E58F3BA6C}"/>
              </a:ext>
            </a:extLst>
          </p:cNvPr>
          <p:cNvSpPr txBox="1"/>
          <p:nvPr/>
        </p:nvSpPr>
        <p:spPr>
          <a:xfrm>
            <a:off x="7398892" y="5673319"/>
            <a:ext cx="44579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Behr et al, 2020;  </a:t>
            </a:r>
            <a:r>
              <a:rPr lang="en-US" dirty="0" err="1"/>
              <a:t>van’t</a:t>
            </a:r>
            <a:r>
              <a:rPr lang="en-US" dirty="0"/>
              <a:t> Veer et al.,  2002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8761F3E-CB2C-5DAD-301A-EB5FA713241E}"/>
              </a:ext>
            </a:extLst>
          </p:cNvPr>
          <p:cNvSpPr txBox="1"/>
          <p:nvPr/>
        </p:nvSpPr>
        <p:spPr>
          <a:xfrm>
            <a:off x="6273423" y="857681"/>
            <a:ext cx="558339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The </a:t>
            </a:r>
            <a:r>
              <a:rPr lang="en-US" sz="2400" u="sng" dirty="0">
                <a:latin typeface="Arial" panose="020B0604020202020204" pitchFamily="34" charset="0"/>
                <a:cs typeface="Arial" panose="020B0604020202020204" pitchFamily="34" charset="0"/>
              </a:rPr>
              <a:t>hierarchical tree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is constructed from correlation of gene expression data used as “distance”.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6CC9DC-B329-3228-0D84-100B7ACD25A8}"/>
              </a:ext>
            </a:extLst>
          </p:cNvPr>
          <p:cNvSpPr txBox="1"/>
          <p:nvPr/>
        </p:nvSpPr>
        <p:spPr>
          <a:xfrm>
            <a:off x="900752" y="2332899"/>
            <a:ext cx="5195247" cy="25391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sz="10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2EADB8E-4854-4E17-1D92-0EC056C7AB3B}"/>
              </a:ext>
            </a:extLst>
          </p:cNvPr>
          <p:cNvSpPr txBox="1"/>
          <p:nvPr/>
        </p:nvSpPr>
        <p:spPr>
          <a:xfrm>
            <a:off x="862087" y="4237805"/>
            <a:ext cx="5195247" cy="25391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119A57-9F81-EB99-9DFA-C329821C3A34}"/>
              </a:ext>
            </a:extLst>
          </p:cNvPr>
          <p:cNvSpPr txBox="1"/>
          <p:nvPr/>
        </p:nvSpPr>
        <p:spPr>
          <a:xfrm>
            <a:off x="657367" y="6042651"/>
            <a:ext cx="5195247" cy="25391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22010655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2BD6309-3F95-8263-D8CC-F9FE9AC8B5BB}"/>
              </a:ext>
            </a:extLst>
          </p:cNvPr>
          <p:cNvSpPr txBox="1">
            <a:spLocks/>
          </p:cNvSpPr>
          <p:nvPr/>
        </p:nvSpPr>
        <p:spPr>
          <a:xfrm>
            <a:off x="410690" y="0"/>
            <a:ext cx="11725466" cy="6864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solidFill>
                  <a:srgbClr val="C00000"/>
                </a:solidFill>
              </a:rPr>
              <a:t>Goal: Statistical test for phylogenetic/tree association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D4D285-2B64-609C-235F-19D95EF7DBFF}"/>
              </a:ext>
            </a:extLst>
          </p:cNvPr>
          <p:cNvSpPr txBox="1"/>
          <p:nvPr/>
        </p:nvSpPr>
        <p:spPr>
          <a:xfrm>
            <a:off x="1696278" y="871552"/>
            <a:ext cx="8799443" cy="2246769"/>
          </a:xfrm>
          <a:prstGeom prst="rect">
            <a:avLst/>
          </a:prstGeom>
          <a:noFill/>
          <a:ln w="57150">
            <a:solidFill>
              <a:schemeClr val="bg1">
                <a:lumMod val="8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i="1" dirty="0"/>
              <a:t>Phylogenetic Association:</a:t>
            </a:r>
          </a:p>
          <a:p>
            <a:endParaRPr lang="en-US" sz="2800" dirty="0"/>
          </a:p>
          <a:p>
            <a:r>
              <a:rPr lang="en-US" sz="2800" dirty="0"/>
              <a:t>	The tendency of related organisms to share some trait characteristics more than organisms drawn at random from the same tree.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CAA9AC3-7BDB-B629-D7DD-7A4D894604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2083" y="5301839"/>
            <a:ext cx="4520393" cy="1002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84920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2BD6309-3F95-8263-D8CC-F9FE9AC8B5BB}"/>
              </a:ext>
            </a:extLst>
          </p:cNvPr>
          <p:cNvSpPr txBox="1">
            <a:spLocks/>
          </p:cNvSpPr>
          <p:nvPr/>
        </p:nvSpPr>
        <p:spPr>
          <a:xfrm>
            <a:off x="410690" y="0"/>
            <a:ext cx="11725466" cy="6864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solidFill>
                  <a:srgbClr val="C00000"/>
                </a:solidFill>
              </a:rPr>
              <a:t>Swordtail fish species, an example in Phylogenetics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34596C1-7F7D-88BB-3DBB-115591AC807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7566" r="27172" b="7773"/>
          <a:stretch/>
        </p:blipFill>
        <p:spPr>
          <a:xfrm>
            <a:off x="0" y="1370076"/>
            <a:ext cx="5854891" cy="44935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C225BFD-9F4B-AF08-2536-6090D62D75D0}"/>
              </a:ext>
            </a:extLst>
          </p:cNvPr>
          <p:cNvSpPr txBox="1"/>
          <p:nvPr/>
        </p:nvSpPr>
        <p:spPr>
          <a:xfrm>
            <a:off x="5304473" y="5859537"/>
            <a:ext cx="68875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Preising</a:t>
            </a:r>
            <a:r>
              <a:rPr lang="en-US" dirty="0"/>
              <a:t> et al., </a:t>
            </a:r>
            <a:r>
              <a:rPr lang="en-US" b="0" i="1" dirty="0" err="1">
                <a:solidFill>
                  <a:srgbClr val="73757D"/>
                </a:solidFill>
                <a:effectLst/>
                <a:latin typeface="Gentium Book Basic"/>
              </a:rPr>
              <a:t>bioRxiv</a:t>
            </a:r>
            <a:r>
              <a:rPr lang="en-US" b="0" i="0" dirty="0">
                <a:solidFill>
                  <a:srgbClr val="73757D"/>
                </a:solidFill>
                <a:effectLst/>
                <a:latin typeface="Gentium Book Basic"/>
              </a:rPr>
              <a:t>. </a:t>
            </a:r>
            <a:r>
              <a:rPr lang="en-US" b="0" i="0" dirty="0" err="1">
                <a:solidFill>
                  <a:srgbClr val="73757D"/>
                </a:solidFill>
                <a:effectLst/>
                <a:latin typeface="Gentium Book Basic"/>
              </a:rPr>
              <a:t>doi</a:t>
            </a:r>
            <a:r>
              <a:rPr lang="en-US" b="0" i="0" dirty="0">
                <a:solidFill>
                  <a:srgbClr val="73757D"/>
                </a:solidFill>
                <a:effectLst/>
                <a:latin typeface="Gentium Book Basic"/>
              </a:rPr>
              <a:t>: </a:t>
            </a:r>
            <a:r>
              <a:rPr lang="en-US" b="0" i="0" u="sng" dirty="0">
                <a:solidFill>
                  <a:srgbClr val="2C313F"/>
                </a:solidFill>
                <a:effectLst/>
                <a:latin typeface="Gentium Book Basic"/>
                <a:hlinkClick r:id="rId4"/>
              </a:rPr>
              <a:t>https://doi.org/10.1101/2022.12.24.521833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4B8B02C-8887-8173-D8FA-9B55F1AD4BD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6192" t="21885" b="49823"/>
          <a:stretch/>
        </p:blipFill>
        <p:spPr>
          <a:xfrm>
            <a:off x="0" y="4730322"/>
            <a:ext cx="2522347" cy="13784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6B8ED49-BCA3-E970-D5A2-BFA7ABB6EE97}"/>
              </a:ext>
            </a:extLst>
          </p:cNvPr>
          <p:cNvSpPr txBox="1"/>
          <p:nvPr/>
        </p:nvSpPr>
        <p:spPr>
          <a:xfrm>
            <a:off x="6426295" y="3574381"/>
            <a:ext cx="5194300" cy="1200329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Is there a phylogenetic association with body size and sword ornament?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691C5E-8F6B-ADA7-B74C-F53E0D86AF9A}"/>
              </a:ext>
            </a:extLst>
          </p:cNvPr>
          <p:cNvSpPr txBox="1"/>
          <p:nvPr/>
        </p:nvSpPr>
        <p:spPr>
          <a:xfrm>
            <a:off x="4532274" y="1217264"/>
            <a:ext cx="7721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Sword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E98738-01C1-C3FC-7246-3D13018F01A6}"/>
              </a:ext>
            </a:extLst>
          </p:cNvPr>
          <p:cNvSpPr txBox="1"/>
          <p:nvPr/>
        </p:nvSpPr>
        <p:spPr>
          <a:xfrm>
            <a:off x="5304473" y="1124931"/>
            <a:ext cx="6575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Body</a:t>
            </a:r>
          </a:p>
          <a:p>
            <a:r>
              <a:rPr lang="en-US" dirty="0"/>
              <a:t>Size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6657A0-E7DF-66A2-4D37-F0264C78345E}"/>
              </a:ext>
            </a:extLst>
          </p:cNvPr>
          <p:cNvSpPr txBox="1"/>
          <p:nvPr/>
        </p:nvSpPr>
        <p:spPr>
          <a:xfrm>
            <a:off x="6972910" y="1309597"/>
            <a:ext cx="464768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Swordtail fish is a classic model for studying sexual selection.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It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is believed that </a:t>
            </a:r>
            <a:r>
              <a:rPr lang="en-US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females prefer large male body size and “sword” ornament.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21666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2BD6309-3F95-8263-D8CC-F9FE9AC8B5BB}"/>
              </a:ext>
            </a:extLst>
          </p:cNvPr>
          <p:cNvSpPr txBox="1">
            <a:spLocks/>
          </p:cNvSpPr>
          <p:nvPr/>
        </p:nvSpPr>
        <p:spPr>
          <a:xfrm>
            <a:off x="410690" y="0"/>
            <a:ext cx="11725466" cy="6864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solidFill>
                  <a:srgbClr val="C00000"/>
                </a:solidFill>
              </a:rPr>
              <a:t>Yellow fever virus in Brazil in 2017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9B06C5B-837B-21E1-1CD3-279CC39FEC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658" y="1027629"/>
            <a:ext cx="6481916" cy="518729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0C13BB3-C903-6520-0A9A-810D761156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012" y="4085408"/>
            <a:ext cx="1323812" cy="100861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A4491CD-2C1F-64B8-578E-4257AAC327C0}"/>
              </a:ext>
            </a:extLst>
          </p:cNvPr>
          <p:cNvSpPr txBox="1"/>
          <p:nvPr/>
        </p:nvSpPr>
        <p:spPr>
          <a:xfrm>
            <a:off x="6796259" y="4080101"/>
            <a:ext cx="5194300" cy="83099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Is the virus spreading between human and nonhuman primates?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4CD2C9-F9F9-7A31-5FEA-6A5D526776FC}"/>
              </a:ext>
            </a:extLst>
          </p:cNvPr>
          <p:cNvSpPr txBox="1"/>
          <p:nvPr/>
        </p:nvSpPr>
        <p:spPr>
          <a:xfrm>
            <a:off x="7355047" y="904121"/>
            <a:ext cx="4307589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YFV is the most severe mosquito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borne infection in South America,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where non-human primates and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humans are infected by different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mosquito species.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Faria</a:t>
            </a:r>
            <a:r>
              <a:rPr lang="en-US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et al. (2018) collected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complete viral genomes from 33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humans and 32 non-human primates.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42910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2BD6309-3F95-8263-D8CC-F9FE9AC8B5BB}"/>
              </a:ext>
            </a:extLst>
          </p:cNvPr>
          <p:cNvSpPr txBox="1">
            <a:spLocks/>
          </p:cNvSpPr>
          <p:nvPr/>
        </p:nvSpPr>
        <p:spPr>
          <a:xfrm>
            <a:off x="410690" y="0"/>
            <a:ext cx="11725466" cy="6864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solidFill>
                  <a:srgbClr val="C00000"/>
                </a:solidFill>
              </a:rPr>
              <a:t>Goal: Statistical test for phylogenetic association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D4D285-2B64-609C-235F-19D95EF7DBFF}"/>
              </a:ext>
            </a:extLst>
          </p:cNvPr>
          <p:cNvSpPr txBox="1"/>
          <p:nvPr/>
        </p:nvSpPr>
        <p:spPr>
          <a:xfrm>
            <a:off x="1068481" y="717777"/>
            <a:ext cx="879944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>
                <a:latin typeface="Arial" panose="020B0604020202020204" pitchFamily="34" charset="0"/>
                <a:cs typeface="Arial" panose="020B0604020202020204" pitchFamily="34" charset="0"/>
              </a:rPr>
              <a:t>Assumptions: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We are given a partially labeled </a:t>
            </a:r>
            <a:r>
              <a:rPr lang="en-US" sz="2000" u="sng" dirty="0">
                <a:latin typeface="Arial" panose="020B0604020202020204" pitchFamily="34" charset="0"/>
                <a:cs typeface="Arial" panose="020B0604020202020204" pitchFamily="34" charset="0"/>
              </a:rPr>
              <a:t>ranked tree shape: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We assume </a:t>
            </a:r>
            <a:r>
              <a:rPr lang="en-US" sz="20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 red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and </a:t>
            </a:r>
            <a:r>
              <a:rPr lang="en-US" sz="2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 blue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tips.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We ignore branch lengths.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8E1E060-2EDC-A995-0839-54CE78D52E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2825" y="2540889"/>
            <a:ext cx="8686018" cy="2948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00841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2BD6309-3F95-8263-D8CC-F9FE9AC8B5BB}"/>
              </a:ext>
            </a:extLst>
          </p:cNvPr>
          <p:cNvSpPr txBox="1">
            <a:spLocks/>
          </p:cNvSpPr>
          <p:nvPr/>
        </p:nvSpPr>
        <p:spPr>
          <a:xfrm>
            <a:off x="410690" y="0"/>
            <a:ext cx="11725466" cy="6864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solidFill>
                  <a:srgbClr val="C00000"/>
                </a:solidFill>
              </a:rPr>
              <a:t>Other tests for phylogenetic association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FF87377-C747-7F54-E6CE-0BC8E89B5A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6261" y="511163"/>
            <a:ext cx="2882900" cy="26162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5CE9098-FF5B-FEC1-E4EC-C69236B6AB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934" y="4496615"/>
            <a:ext cx="4612988" cy="170074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562F68C-0C75-046A-04EB-D26DA70F6293}"/>
              </a:ext>
            </a:extLst>
          </p:cNvPr>
          <p:cNvSpPr txBox="1"/>
          <p:nvPr/>
        </p:nvSpPr>
        <p:spPr>
          <a:xfrm>
            <a:off x="968991" y="1119117"/>
            <a:ext cx="469028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i="0" dirty="0">
                <a:effectLst/>
                <a:latin typeface="Arial" panose="020B0604020202020204" pitchFamily="34" charset="0"/>
              </a:rPr>
              <a:t>Parsimony Score</a:t>
            </a:r>
            <a:r>
              <a:rPr lang="en-US" sz="2000" b="0" i="0" dirty="0">
                <a:effectLst/>
                <a:latin typeface="Arial" panose="020B0604020202020204" pitchFamily="34" charset="0"/>
              </a:rPr>
              <a:t> (Fitch, 1971). </a:t>
            </a:r>
          </a:p>
          <a:p>
            <a:pPr algn="just"/>
            <a:endParaRPr lang="en-US" sz="2000" dirty="0">
              <a:latin typeface="Arial" panose="020B0604020202020204" pitchFamily="34" charset="0"/>
            </a:endParaRPr>
          </a:p>
          <a:p>
            <a:pPr algn="just"/>
            <a:r>
              <a:rPr lang="en-US" sz="2000" b="0" i="0" dirty="0">
                <a:effectLst/>
                <a:latin typeface="Arial" panose="020B0604020202020204" pitchFamily="34" charset="0"/>
              </a:rPr>
              <a:t>Statistic: the minimum number of state changes in the phylogeny in order to reconstruct the states at the parent nodes based on characters at the tips.</a:t>
            </a:r>
            <a:endParaRPr lang="en-US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3740EE-73AE-731E-EF24-02454A0C980B}"/>
              </a:ext>
            </a:extLst>
          </p:cNvPr>
          <p:cNvSpPr txBox="1"/>
          <p:nvPr/>
        </p:nvSpPr>
        <p:spPr>
          <a:xfrm>
            <a:off x="968990" y="3303961"/>
            <a:ext cx="512701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i="0" dirty="0">
                <a:effectLst/>
                <a:latin typeface="Arial" panose="020B0604020202020204" pitchFamily="34" charset="0"/>
              </a:rPr>
              <a:t>Association Index</a:t>
            </a:r>
            <a:r>
              <a:rPr lang="en-US" sz="2000" b="0" i="0" dirty="0">
                <a:effectLst/>
                <a:latin typeface="Arial" panose="020B0604020202020204" pitchFamily="34" charset="0"/>
              </a:rPr>
              <a:t> (Wang, 2001). </a:t>
            </a:r>
          </a:p>
          <a:p>
            <a:pPr algn="just"/>
            <a:endParaRPr lang="en-US" sz="2000" dirty="0">
              <a:latin typeface="Arial" panose="020B0604020202020204" pitchFamily="34" charset="0"/>
            </a:endParaRPr>
          </a:p>
          <a:p>
            <a:pPr algn="just"/>
            <a:r>
              <a:rPr lang="en-US" sz="2000" b="0" i="0" dirty="0">
                <a:effectLst/>
                <a:latin typeface="Arial" panose="020B0604020202020204" pitchFamily="34" charset="0"/>
              </a:rPr>
              <a:t>Statistic:</a:t>
            </a:r>
          </a:p>
          <a:p>
            <a:pPr algn="just"/>
            <a:endParaRPr lang="en-US" sz="2000" dirty="0">
              <a:latin typeface="Arial" panose="020B0604020202020204" pitchFamily="34" charset="0"/>
            </a:endParaRPr>
          </a:p>
          <a:p>
            <a:pPr algn="just"/>
            <a:endParaRPr lang="en-US" sz="2000" dirty="0">
              <a:latin typeface="Arial" panose="020B0604020202020204" pitchFamily="34" charset="0"/>
            </a:endParaRPr>
          </a:p>
          <a:p>
            <a:pPr algn="just"/>
            <a:r>
              <a:rPr lang="en-US" sz="2000" dirty="0">
                <a:latin typeface="Arial" panose="020B0604020202020204" pitchFamily="34" charset="0"/>
              </a:rPr>
              <a:t>           #tips subtended by node </a:t>
            </a:r>
            <a:r>
              <a:rPr lang="en-US" sz="2000" dirty="0" err="1">
                <a:latin typeface="Arial" panose="020B0604020202020204" pitchFamily="34" charset="0"/>
              </a:rPr>
              <a:t>i</a:t>
            </a:r>
            <a:endParaRPr lang="en-US" sz="2000" dirty="0">
              <a:latin typeface="Arial" panose="020B0604020202020204" pitchFamily="34" charset="0"/>
            </a:endParaRPr>
          </a:p>
          <a:p>
            <a:pPr algn="just"/>
            <a:r>
              <a:rPr lang="en-US" sz="2000" dirty="0">
                <a:latin typeface="Arial" panose="020B0604020202020204" pitchFamily="34" charset="0"/>
              </a:rPr>
              <a:t>         </a:t>
            </a:r>
          </a:p>
          <a:p>
            <a:pPr algn="just"/>
            <a:r>
              <a:rPr lang="en-US" sz="2000" dirty="0">
                <a:latin typeface="Arial" panose="020B0604020202020204" pitchFamily="34" charset="0"/>
              </a:rPr>
              <a:t>          freq. most common train subtending </a:t>
            </a:r>
            <a:r>
              <a:rPr lang="en-US" sz="2000" dirty="0" err="1">
                <a:latin typeface="Arial" panose="020B0604020202020204" pitchFamily="34" charset="0"/>
              </a:rPr>
              <a:t>i</a:t>
            </a:r>
            <a:endParaRPr lang="en-US" sz="2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0AE7EB3-E71B-5AE8-9475-DA80E10C8BAA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22065" r="59980" b="59319"/>
          <a:stretch/>
        </p:blipFill>
        <p:spPr>
          <a:xfrm>
            <a:off x="1982526" y="4091076"/>
            <a:ext cx="2663209" cy="47052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27D8428-AE4A-727B-9783-AE3FDD183FA9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56044" t="21570" r="35753" b="59812"/>
          <a:stretch/>
        </p:blipFill>
        <p:spPr>
          <a:xfrm>
            <a:off x="1201004" y="4763070"/>
            <a:ext cx="545910" cy="47052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9134AB6-A798-AB4B-B762-050EB4BFD4B6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80870" t="38358" r="13866" b="43023"/>
          <a:stretch/>
        </p:blipFill>
        <p:spPr>
          <a:xfrm>
            <a:off x="1205552" y="5361065"/>
            <a:ext cx="350293" cy="47052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BCF3B4F-A4EE-42A8-46C3-F2616897C30A}"/>
              </a:ext>
            </a:extLst>
          </p:cNvPr>
          <p:cNvSpPr txBox="1"/>
          <p:nvPr/>
        </p:nvSpPr>
        <p:spPr>
          <a:xfrm>
            <a:off x="6832934" y="4311949"/>
            <a:ext cx="50449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Significance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can be assessed via permutation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04A665F-0EE9-6DD2-D061-0872ABC88F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47374" y="3297639"/>
            <a:ext cx="1562100" cy="1028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417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2BD6309-3F95-8263-D8CC-F9FE9AC8B5BB}"/>
              </a:ext>
            </a:extLst>
          </p:cNvPr>
          <p:cNvSpPr txBox="1">
            <a:spLocks/>
          </p:cNvSpPr>
          <p:nvPr/>
        </p:nvSpPr>
        <p:spPr>
          <a:xfrm>
            <a:off x="410690" y="0"/>
            <a:ext cx="11725466" cy="6864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solidFill>
                  <a:srgbClr val="C00000"/>
                </a:solidFill>
              </a:rPr>
              <a:t>Goal: Statistical test for phylogenetic association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C15F0D-0895-F7ED-CAE3-E85EF79C757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6555"/>
          <a:stretch/>
        </p:blipFill>
        <p:spPr>
          <a:xfrm>
            <a:off x="741922" y="2383946"/>
            <a:ext cx="3376683" cy="26386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C1AE826-0A92-8D90-90E5-FD0186FB2374}"/>
              </a:ext>
            </a:extLst>
          </p:cNvPr>
          <p:cNvSpPr txBox="1"/>
          <p:nvPr/>
        </p:nvSpPr>
        <p:spPr>
          <a:xfrm>
            <a:off x="2337006" y="1323160"/>
            <a:ext cx="23539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N= Number of tips</a:t>
            </a:r>
          </a:p>
          <a:p>
            <a:r>
              <a:rPr lang="en-US" dirty="0"/>
              <a:t>B= Number of blue tips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123B1EA-C4C0-F277-0FA2-A9C3455CAA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2593" y="2103066"/>
            <a:ext cx="2882900" cy="26162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27D0D0F-7417-5375-B536-87FC5FDB1625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-1" r="1258" b="-10635"/>
          <a:stretch/>
        </p:blipFill>
        <p:spPr>
          <a:xfrm>
            <a:off x="4690984" y="3119065"/>
            <a:ext cx="2144405" cy="64633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5EB1981-54EB-FA04-78D3-C984477FCF3E}"/>
              </a:ext>
            </a:extLst>
          </p:cNvPr>
          <p:cNvSpPr txBox="1"/>
          <p:nvPr/>
        </p:nvSpPr>
        <p:spPr>
          <a:xfrm>
            <a:off x="10468426" y="2403790"/>
            <a:ext cx="108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Observed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53EE36D-262C-44B4-C409-CBD0A2EE3D99}"/>
              </a:ext>
            </a:extLst>
          </p:cNvPr>
          <p:cNvCxnSpPr>
            <a:stCxn id="10" idx="2"/>
          </p:cNvCxnSpPr>
          <p:nvPr/>
        </p:nvCxnSpPr>
        <p:spPr>
          <a:xfrm flipH="1">
            <a:off x="10235821" y="2773122"/>
            <a:ext cx="774741" cy="6268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050009EC-310B-7037-66C2-7B947A19C771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-1" r="52795" b="-10635"/>
          <a:stretch/>
        </p:blipFill>
        <p:spPr>
          <a:xfrm>
            <a:off x="1112468" y="1323160"/>
            <a:ext cx="1025154" cy="64633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64507A1-43DE-ABB1-0C64-B24CA8508219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" r="-3971" b="7817"/>
          <a:stretch/>
        </p:blipFill>
        <p:spPr>
          <a:xfrm>
            <a:off x="8073397" y="4850788"/>
            <a:ext cx="2257958" cy="538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26345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2BD6309-3F95-8263-D8CC-F9FE9AC8B5BB}"/>
              </a:ext>
            </a:extLst>
          </p:cNvPr>
          <p:cNvSpPr txBox="1">
            <a:spLocks/>
          </p:cNvSpPr>
          <p:nvPr/>
        </p:nvSpPr>
        <p:spPr>
          <a:xfrm>
            <a:off x="410690" y="0"/>
            <a:ext cx="11725466" cy="6864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solidFill>
                  <a:srgbClr val="C00000"/>
                </a:solidFill>
              </a:rPr>
              <a:t>A null coalescent model (unlabeled tips)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7759A32-5F64-5588-149B-8C9715B927CA}"/>
              </a:ext>
            </a:extLst>
          </p:cNvPr>
          <p:cNvSpPr/>
          <p:nvPr/>
        </p:nvSpPr>
        <p:spPr>
          <a:xfrm>
            <a:off x="1910687" y="5568287"/>
            <a:ext cx="272955" cy="21897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3366C3AF-7555-6C73-3EFF-850E9A75D7F0}"/>
              </a:ext>
            </a:extLst>
          </p:cNvPr>
          <p:cNvSpPr/>
          <p:nvPr/>
        </p:nvSpPr>
        <p:spPr>
          <a:xfrm>
            <a:off x="2744338" y="5572314"/>
            <a:ext cx="272955" cy="21897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05C41E0-FA05-AE0B-8C37-6670439799BC}"/>
              </a:ext>
            </a:extLst>
          </p:cNvPr>
          <p:cNvSpPr/>
          <p:nvPr/>
        </p:nvSpPr>
        <p:spPr>
          <a:xfrm>
            <a:off x="3564341" y="5568287"/>
            <a:ext cx="272955" cy="21897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B2E063A-A57B-CAEB-3439-381A7AD1CC95}"/>
              </a:ext>
            </a:extLst>
          </p:cNvPr>
          <p:cNvSpPr/>
          <p:nvPr/>
        </p:nvSpPr>
        <p:spPr>
          <a:xfrm>
            <a:off x="4492388" y="5537580"/>
            <a:ext cx="272955" cy="21897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943FC37-C563-F25B-B647-A244E0D429A4}"/>
              </a:ext>
            </a:extLst>
          </p:cNvPr>
          <p:cNvSpPr/>
          <p:nvPr/>
        </p:nvSpPr>
        <p:spPr>
          <a:xfrm>
            <a:off x="5326039" y="5541607"/>
            <a:ext cx="272955" cy="21897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1AC16C8-C18B-9FF3-4884-D680FE67F9BA}"/>
              </a:ext>
            </a:extLst>
          </p:cNvPr>
          <p:cNvSpPr/>
          <p:nvPr/>
        </p:nvSpPr>
        <p:spPr>
          <a:xfrm>
            <a:off x="6146042" y="5537580"/>
            <a:ext cx="272955" cy="21897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942C97A-81D8-E0DD-E384-C40733AD4F89}"/>
              </a:ext>
            </a:extLst>
          </p:cNvPr>
          <p:cNvSpPr/>
          <p:nvPr/>
        </p:nvSpPr>
        <p:spPr>
          <a:xfrm>
            <a:off x="7074089" y="5564260"/>
            <a:ext cx="272955" cy="21897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D56097E-41E0-240C-2FBA-415F89AE4BB8}"/>
              </a:ext>
            </a:extLst>
          </p:cNvPr>
          <p:cNvSpPr/>
          <p:nvPr/>
        </p:nvSpPr>
        <p:spPr>
          <a:xfrm>
            <a:off x="7907740" y="5568287"/>
            <a:ext cx="272955" cy="21897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53135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2BD6309-3F95-8263-D8CC-F9FE9AC8B5BB}"/>
              </a:ext>
            </a:extLst>
          </p:cNvPr>
          <p:cNvSpPr txBox="1">
            <a:spLocks/>
          </p:cNvSpPr>
          <p:nvPr/>
        </p:nvSpPr>
        <p:spPr>
          <a:xfrm>
            <a:off x="410690" y="0"/>
            <a:ext cx="11725466" cy="6864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solidFill>
                  <a:srgbClr val="C00000"/>
                </a:solidFill>
              </a:rPr>
              <a:t>A null coalescent model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4BBB0BE-092E-563A-E2A5-B08D7415D6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9186" y="1025763"/>
            <a:ext cx="6852314" cy="5042828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57759A32-5F64-5588-149B-8C9715B927CA}"/>
              </a:ext>
            </a:extLst>
          </p:cNvPr>
          <p:cNvSpPr/>
          <p:nvPr/>
        </p:nvSpPr>
        <p:spPr>
          <a:xfrm>
            <a:off x="1910687" y="5568287"/>
            <a:ext cx="272955" cy="21897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3366C3AF-7555-6C73-3EFF-850E9A75D7F0}"/>
              </a:ext>
            </a:extLst>
          </p:cNvPr>
          <p:cNvSpPr/>
          <p:nvPr/>
        </p:nvSpPr>
        <p:spPr>
          <a:xfrm>
            <a:off x="2744338" y="5572314"/>
            <a:ext cx="272955" cy="21897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05C41E0-FA05-AE0B-8C37-6670439799BC}"/>
              </a:ext>
            </a:extLst>
          </p:cNvPr>
          <p:cNvSpPr/>
          <p:nvPr/>
        </p:nvSpPr>
        <p:spPr>
          <a:xfrm>
            <a:off x="3564341" y="5568287"/>
            <a:ext cx="272955" cy="21897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B2E063A-A57B-CAEB-3439-381A7AD1CC95}"/>
              </a:ext>
            </a:extLst>
          </p:cNvPr>
          <p:cNvSpPr/>
          <p:nvPr/>
        </p:nvSpPr>
        <p:spPr>
          <a:xfrm>
            <a:off x="4492388" y="5537580"/>
            <a:ext cx="272955" cy="21897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943FC37-C563-F25B-B647-A244E0D429A4}"/>
              </a:ext>
            </a:extLst>
          </p:cNvPr>
          <p:cNvSpPr/>
          <p:nvPr/>
        </p:nvSpPr>
        <p:spPr>
          <a:xfrm>
            <a:off x="5326039" y="5541607"/>
            <a:ext cx="272955" cy="21897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1AC16C8-C18B-9FF3-4884-D680FE67F9BA}"/>
              </a:ext>
            </a:extLst>
          </p:cNvPr>
          <p:cNvSpPr/>
          <p:nvPr/>
        </p:nvSpPr>
        <p:spPr>
          <a:xfrm>
            <a:off x="6146042" y="5537580"/>
            <a:ext cx="272955" cy="21897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942C97A-81D8-E0DD-E384-C40733AD4F89}"/>
              </a:ext>
            </a:extLst>
          </p:cNvPr>
          <p:cNvSpPr/>
          <p:nvPr/>
        </p:nvSpPr>
        <p:spPr>
          <a:xfrm>
            <a:off x="7074089" y="5564260"/>
            <a:ext cx="272955" cy="21897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D56097E-41E0-240C-2FBA-415F89AE4BB8}"/>
              </a:ext>
            </a:extLst>
          </p:cNvPr>
          <p:cNvSpPr/>
          <p:nvPr/>
        </p:nvSpPr>
        <p:spPr>
          <a:xfrm>
            <a:off x="7907740" y="5568287"/>
            <a:ext cx="272955" cy="21897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6BCE4B1-777F-9B13-AE14-4EB85038908D}"/>
              </a:ext>
            </a:extLst>
          </p:cNvPr>
          <p:cNvSpPr/>
          <p:nvPr/>
        </p:nvSpPr>
        <p:spPr>
          <a:xfrm>
            <a:off x="3564341" y="968991"/>
            <a:ext cx="5538716" cy="4568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27E34E1-D280-56B2-CC40-D28E1C1004B9}"/>
              </a:ext>
            </a:extLst>
          </p:cNvPr>
          <p:cNvSpPr/>
          <p:nvPr/>
        </p:nvSpPr>
        <p:spPr>
          <a:xfrm>
            <a:off x="1910687" y="1473958"/>
            <a:ext cx="2242782" cy="33152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C9B2BE-ABE7-72D8-FA18-5D3FF93416A1}"/>
              </a:ext>
            </a:extLst>
          </p:cNvPr>
          <p:cNvSpPr txBox="1"/>
          <p:nvPr/>
        </p:nvSpPr>
        <p:spPr>
          <a:xfrm>
            <a:off x="2137254" y="4798458"/>
            <a:ext cx="314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559058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2BD6309-3F95-8263-D8CC-F9FE9AC8B5BB}"/>
              </a:ext>
            </a:extLst>
          </p:cNvPr>
          <p:cNvSpPr txBox="1">
            <a:spLocks/>
          </p:cNvSpPr>
          <p:nvPr/>
        </p:nvSpPr>
        <p:spPr>
          <a:xfrm>
            <a:off x="410690" y="0"/>
            <a:ext cx="11725466" cy="6864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solidFill>
                  <a:srgbClr val="C00000"/>
                </a:solidFill>
              </a:rPr>
              <a:t>A null coalescent model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4BBB0BE-092E-563A-E2A5-B08D7415D6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9186" y="1025763"/>
            <a:ext cx="6852314" cy="5042828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57759A32-5F64-5588-149B-8C9715B927CA}"/>
              </a:ext>
            </a:extLst>
          </p:cNvPr>
          <p:cNvSpPr/>
          <p:nvPr/>
        </p:nvSpPr>
        <p:spPr>
          <a:xfrm>
            <a:off x="1910687" y="5568287"/>
            <a:ext cx="272955" cy="21897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3366C3AF-7555-6C73-3EFF-850E9A75D7F0}"/>
              </a:ext>
            </a:extLst>
          </p:cNvPr>
          <p:cNvSpPr/>
          <p:nvPr/>
        </p:nvSpPr>
        <p:spPr>
          <a:xfrm>
            <a:off x="2744338" y="5572314"/>
            <a:ext cx="272955" cy="21897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05C41E0-FA05-AE0B-8C37-6670439799BC}"/>
              </a:ext>
            </a:extLst>
          </p:cNvPr>
          <p:cNvSpPr/>
          <p:nvPr/>
        </p:nvSpPr>
        <p:spPr>
          <a:xfrm>
            <a:off x="3564341" y="5568287"/>
            <a:ext cx="272955" cy="21897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B2E063A-A57B-CAEB-3439-381A7AD1CC95}"/>
              </a:ext>
            </a:extLst>
          </p:cNvPr>
          <p:cNvSpPr/>
          <p:nvPr/>
        </p:nvSpPr>
        <p:spPr>
          <a:xfrm>
            <a:off x="4492388" y="5537580"/>
            <a:ext cx="272955" cy="21897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943FC37-C563-F25B-B647-A244E0D429A4}"/>
              </a:ext>
            </a:extLst>
          </p:cNvPr>
          <p:cNvSpPr/>
          <p:nvPr/>
        </p:nvSpPr>
        <p:spPr>
          <a:xfrm>
            <a:off x="5326039" y="5541607"/>
            <a:ext cx="272955" cy="21897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1AC16C8-C18B-9FF3-4884-D680FE67F9BA}"/>
              </a:ext>
            </a:extLst>
          </p:cNvPr>
          <p:cNvSpPr/>
          <p:nvPr/>
        </p:nvSpPr>
        <p:spPr>
          <a:xfrm>
            <a:off x="6146042" y="5537580"/>
            <a:ext cx="272955" cy="21897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942C97A-81D8-E0DD-E384-C40733AD4F89}"/>
              </a:ext>
            </a:extLst>
          </p:cNvPr>
          <p:cNvSpPr/>
          <p:nvPr/>
        </p:nvSpPr>
        <p:spPr>
          <a:xfrm>
            <a:off x="7074089" y="5564260"/>
            <a:ext cx="272955" cy="21897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D56097E-41E0-240C-2FBA-415F89AE4BB8}"/>
              </a:ext>
            </a:extLst>
          </p:cNvPr>
          <p:cNvSpPr/>
          <p:nvPr/>
        </p:nvSpPr>
        <p:spPr>
          <a:xfrm>
            <a:off x="7907740" y="5568287"/>
            <a:ext cx="272955" cy="21897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6BCE4B1-777F-9B13-AE14-4EB85038908D}"/>
              </a:ext>
            </a:extLst>
          </p:cNvPr>
          <p:cNvSpPr/>
          <p:nvPr/>
        </p:nvSpPr>
        <p:spPr>
          <a:xfrm>
            <a:off x="3564341" y="968991"/>
            <a:ext cx="2034653" cy="4568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27E34E1-D280-56B2-CC40-D28E1C1004B9}"/>
              </a:ext>
            </a:extLst>
          </p:cNvPr>
          <p:cNvSpPr/>
          <p:nvPr/>
        </p:nvSpPr>
        <p:spPr>
          <a:xfrm>
            <a:off x="1910687" y="1473958"/>
            <a:ext cx="2242782" cy="3324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C9B2BE-ABE7-72D8-FA18-5D3FF93416A1}"/>
              </a:ext>
            </a:extLst>
          </p:cNvPr>
          <p:cNvSpPr txBox="1"/>
          <p:nvPr/>
        </p:nvSpPr>
        <p:spPr>
          <a:xfrm>
            <a:off x="2137254" y="4798458"/>
            <a:ext cx="314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9CE8D4D-ECC5-DE1D-BFC0-E5E00C079F5C}"/>
              </a:ext>
            </a:extLst>
          </p:cNvPr>
          <p:cNvSpPr/>
          <p:nvPr/>
        </p:nvSpPr>
        <p:spPr>
          <a:xfrm>
            <a:off x="5124335" y="1070734"/>
            <a:ext cx="3638666" cy="32954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194E7C3-866C-9581-134C-DEBEE5816A15}"/>
              </a:ext>
            </a:extLst>
          </p:cNvPr>
          <p:cNvSpPr/>
          <p:nvPr/>
        </p:nvSpPr>
        <p:spPr>
          <a:xfrm>
            <a:off x="7589377" y="2231315"/>
            <a:ext cx="3638666" cy="32954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E0F0F03-0E94-5FA5-E075-A15FA34EC2B1}"/>
              </a:ext>
            </a:extLst>
          </p:cNvPr>
          <p:cNvSpPr txBox="1"/>
          <p:nvPr/>
        </p:nvSpPr>
        <p:spPr>
          <a:xfrm>
            <a:off x="6436930" y="4211064"/>
            <a:ext cx="314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4307544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2BD6309-3F95-8263-D8CC-F9FE9AC8B5BB}"/>
              </a:ext>
            </a:extLst>
          </p:cNvPr>
          <p:cNvSpPr txBox="1">
            <a:spLocks/>
          </p:cNvSpPr>
          <p:nvPr/>
        </p:nvSpPr>
        <p:spPr>
          <a:xfrm>
            <a:off x="410690" y="0"/>
            <a:ext cx="11725466" cy="6864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solidFill>
                  <a:srgbClr val="C00000"/>
                </a:solidFill>
              </a:rPr>
              <a:t>A null coalescent model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4BBB0BE-092E-563A-E2A5-B08D7415D6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9186" y="1025763"/>
            <a:ext cx="6852314" cy="5042828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57759A32-5F64-5588-149B-8C9715B927CA}"/>
              </a:ext>
            </a:extLst>
          </p:cNvPr>
          <p:cNvSpPr/>
          <p:nvPr/>
        </p:nvSpPr>
        <p:spPr>
          <a:xfrm>
            <a:off x="1910687" y="5568287"/>
            <a:ext cx="272955" cy="21897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3366C3AF-7555-6C73-3EFF-850E9A75D7F0}"/>
              </a:ext>
            </a:extLst>
          </p:cNvPr>
          <p:cNvSpPr/>
          <p:nvPr/>
        </p:nvSpPr>
        <p:spPr>
          <a:xfrm>
            <a:off x="2744338" y="5572314"/>
            <a:ext cx="272955" cy="21897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05C41E0-FA05-AE0B-8C37-6670439799BC}"/>
              </a:ext>
            </a:extLst>
          </p:cNvPr>
          <p:cNvSpPr/>
          <p:nvPr/>
        </p:nvSpPr>
        <p:spPr>
          <a:xfrm>
            <a:off x="3564341" y="5568287"/>
            <a:ext cx="272955" cy="21897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B2E063A-A57B-CAEB-3439-381A7AD1CC95}"/>
              </a:ext>
            </a:extLst>
          </p:cNvPr>
          <p:cNvSpPr/>
          <p:nvPr/>
        </p:nvSpPr>
        <p:spPr>
          <a:xfrm>
            <a:off x="4492388" y="5537580"/>
            <a:ext cx="272955" cy="21897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943FC37-C563-F25B-B647-A244E0D429A4}"/>
              </a:ext>
            </a:extLst>
          </p:cNvPr>
          <p:cNvSpPr/>
          <p:nvPr/>
        </p:nvSpPr>
        <p:spPr>
          <a:xfrm>
            <a:off x="5326039" y="5541607"/>
            <a:ext cx="272955" cy="21897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1AC16C8-C18B-9FF3-4884-D680FE67F9BA}"/>
              </a:ext>
            </a:extLst>
          </p:cNvPr>
          <p:cNvSpPr/>
          <p:nvPr/>
        </p:nvSpPr>
        <p:spPr>
          <a:xfrm>
            <a:off x="6146042" y="5537580"/>
            <a:ext cx="272955" cy="21897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942C97A-81D8-E0DD-E384-C40733AD4F89}"/>
              </a:ext>
            </a:extLst>
          </p:cNvPr>
          <p:cNvSpPr/>
          <p:nvPr/>
        </p:nvSpPr>
        <p:spPr>
          <a:xfrm>
            <a:off x="7074089" y="5564260"/>
            <a:ext cx="272955" cy="21897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D56097E-41E0-240C-2FBA-415F89AE4BB8}"/>
              </a:ext>
            </a:extLst>
          </p:cNvPr>
          <p:cNvSpPr/>
          <p:nvPr/>
        </p:nvSpPr>
        <p:spPr>
          <a:xfrm>
            <a:off x="7907740" y="5568287"/>
            <a:ext cx="272955" cy="21897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6BCE4B1-777F-9B13-AE14-4EB85038908D}"/>
              </a:ext>
            </a:extLst>
          </p:cNvPr>
          <p:cNvSpPr/>
          <p:nvPr/>
        </p:nvSpPr>
        <p:spPr>
          <a:xfrm>
            <a:off x="3275463" y="968991"/>
            <a:ext cx="2323532" cy="2688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27E34E1-D280-56B2-CC40-D28E1C1004B9}"/>
              </a:ext>
            </a:extLst>
          </p:cNvPr>
          <p:cNvSpPr/>
          <p:nvPr/>
        </p:nvSpPr>
        <p:spPr>
          <a:xfrm>
            <a:off x="1910687" y="1473958"/>
            <a:ext cx="1364776" cy="3324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C9B2BE-ABE7-72D8-FA18-5D3FF93416A1}"/>
              </a:ext>
            </a:extLst>
          </p:cNvPr>
          <p:cNvSpPr txBox="1"/>
          <p:nvPr/>
        </p:nvSpPr>
        <p:spPr>
          <a:xfrm>
            <a:off x="2137254" y="4798458"/>
            <a:ext cx="314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9CE8D4D-ECC5-DE1D-BFC0-E5E00C079F5C}"/>
              </a:ext>
            </a:extLst>
          </p:cNvPr>
          <p:cNvSpPr/>
          <p:nvPr/>
        </p:nvSpPr>
        <p:spPr>
          <a:xfrm>
            <a:off x="5124335" y="1070734"/>
            <a:ext cx="3638666" cy="32954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194E7C3-866C-9581-134C-DEBEE5816A15}"/>
              </a:ext>
            </a:extLst>
          </p:cNvPr>
          <p:cNvSpPr/>
          <p:nvPr/>
        </p:nvSpPr>
        <p:spPr>
          <a:xfrm>
            <a:off x="7589377" y="2231315"/>
            <a:ext cx="3638666" cy="32954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E0F0F03-0E94-5FA5-E075-A15FA34EC2B1}"/>
              </a:ext>
            </a:extLst>
          </p:cNvPr>
          <p:cNvSpPr txBox="1"/>
          <p:nvPr/>
        </p:nvSpPr>
        <p:spPr>
          <a:xfrm>
            <a:off x="6436930" y="4211064"/>
            <a:ext cx="314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2EB958A-02B6-1C9A-203F-26A79137661C}"/>
              </a:ext>
            </a:extLst>
          </p:cNvPr>
          <p:cNvSpPr/>
          <p:nvPr/>
        </p:nvSpPr>
        <p:spPr>
          <a:xfrm>
            <a:off x="4887034" y="1110701"/>
            <a:ext cx="967856" cy="44160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FC2D38D-A33C-72E8-7BCB-93D7A89EC677}"/>
              </a:ext>
            </a:extLst>
          </p:cNvPr>
          <p:cNvSpPr txBox="1"/>
          <p:nvPr/>
        </p:nvSpPr>
        <p:spPr>
          <a:xfrm>
            <a:off x="3846964" y="3557545"/>
            <a:ext cx="314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2898786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2BD6309-3F95-8263-D8CC-F9FE9AC8B5BB}"/>
              </a:ext>
            </a:extLst>
          </p:cNvPr>
          <p:cNvSpPr txBox="1">
            <a:spLocks/>
          </p:cNvSpPr>
          <p:nvPr/>
        </p:nvSpPr>
        <p:spPr>
          <a:xfrm>
            <a:off x="410690" y="0"/>
            <a:ext cx="11725466" cy="6864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solidFill>
                  <a:srgbClr val="C00000"/>
                </a:solidFill>
              </a:rPr>
              <a:t>A null coalescent model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4BBB0BE-092E-563A-E2A5-B08D7415D6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9186" y="1025763"/>
            <a:ext cx="6852314" cy="5042828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57759A32-5F64-5588-149B-8C9715B927CA}"/>
              </a:ext>
            </a:extLst>
          </p:cNvPr>
          <p:cNvSpPr/>
          <p:nvPr/>
        </p:nvSpPr>
        <p:spPr>
          <a:xfrm>
            <a:off x="1910687" y="5568287"/>
            <a:ext cx="272955" cy="21897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3366C3AF-7555-6C73-3EFF-850E9A75D7F0}"/>
              </a:ext>
            </a:extLst>
          </p:cNvPr>
          <p:cNvSpPr/>
          <p:nvPr/>
        </p:nvSpPr>
        <p:spPr>
          <a:xfrm>
            <a:off x="2744338" y="5572314"/>
            <a:ext cx="272955" cy="21897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05C41E0-FA05-AE0B-8C37-6670439799BC}"/>
              </a:ext>
            </a:extLst>
          </p:cNvPr>
          <p:cNvSpPr/>
          <p:nvPr/>
        </p:nvSpPr>
        <p:spPr>
          <a:xfrm>
            <a:off x="3564341" y="5568287"/>
            <a:ext cx="272955" cy="21897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B2E063A-A57B-CAEB-3439-381A7AD1CC95}"/>
              </a:ext>
            </a:extLst>
          </p:cNvPr>
          <p:cNvSpPr/>
          <p:nvPr/>
        </p:nvSpPr>
        <p:spPr>
          <a:xfrm>
            <a:off x="4492388" y="5537580"/>
            <a:ext cx="272955" cy="21897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943FC37-C563-F25B-B647-A244E0D429A4}"/>
              </a:ext>
            </a:extLst>
          </p:cNvPr>
          <p:cNvSpPr/>
          <p:nvPr/>
        </p:nvSpPr>
        <p:spPr>
          <a:xfrm>
            <a:off x="5326039" y="5541607"/>
            <a:ext cx="272955" cy="21897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1AC16C8-C18B-9FF3-4884-D680FE67F9BA}"/>
              </a:ext>
            </a:extLst>
          </p:cNvPr>
          <p:cNvSpPr/>
          <p:nvPr/>
        </p:nvSpPr>
        <p:spPr>
          <a:xfrm>
            <a:off x="6146042" y="5537580"/>
            <a:ext cx="272955" cy="21897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942C97A-81D8-E0DD-E384-C40733AD4F89}"/>
              </a:ext>
            </a:extLst>
          </p:cNvPr>
          <p:cNvSpPr/>
          <p:nvPr/>
        </p:nvSpPr>
        <p:spPr>
          <a:xfrm>
            <a:off x="7074089" y="5564260"/>
            <a:ext cx="272955" cy="21897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D56097E-41E0-240C-2FBA-415F89AE4BB8}"/>
              </a:ext>
            </a:extLst>
          </p:cNvPr>
          <p:cNvSpPr/>
          <p:nvPr/>
        </p:nvSpPr>
        <p:spPr>
          <a:xfrm>
            <a:off x="7907740" y="5568287"/>
            <a:ext cx="272955" cy="21897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6BCE4B1-777F-9B13-AE14-4EB85038908D}"/>
              </a:ext>
            </a:extLst>
          </p:cNvPr>
          <p:cNvSpPr/>
          <p:nvPr/>
        </p:nvSpPr>
        <p:spPr>
          <a:xfrm>
            <a:off x="3275463" y="968992"/>
            <a:ext cx="2323532" cy="20466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27E34E1-D280-56B2-CC40-D28E1C1004B9}"/>
              </a:ext>
            </a:extLst>
          </p:cNvPr>
          <p:cNvSpPr/>
          <p:nvPr/>
        </p:nvSpPr>
        <p:spPr>
          <a:xfrm>
            <a:off x="1910687" y="1473958"/>
            <a:ext cx="1364776" cy="3324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C9B2BE-ABE7-72D8-FA18-5D3FF93416A1}"/>
              </a:ext>
            </a:extLst>
          </p:cNvPr>
          <p:cNvSpPr txBox="1"/>
          <p:nvPr/>
        </p:nvSpPr>
        <p:spPr>
          <a:xfrm>
            <a:off x="2137254" y="4798458"/>
            <a:ext cx="314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9CE8D4D-ECC5-DE1D-BFC0-E5E00C079F5C}"/>
              </a:ext>
            </a:extLst>
          </p:cNvPr>
          <p:cNvSpPr/>
          <p:nvPr/>
        </p:nvSpPr>
        <p:spPr>
          <a:xfrm>
            <a:off x="5598993" y="1070734"/>
            <a:ext cx="3164007" cy="32954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194E7C3-866C-9581-134C-DEBEE5816A15}"/>
              </a:ext>
            </a:extLst>
          </p:cNvPr>
          <p:cNvSpPr/>
          <p:nvPr/>
        </p:nvSpPr>
        <p:spPr>
          <a:xfrm>
            <a:off x="7589377" y="2231315"/>
            <a:ext cx="3638666" cy="32954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E0F0F03-0E94-5FA5-E075-A15FA34EC2B1}"/>
              </a:ext>
            </a:extLst>
          </p:cNvPr>
          <p:cNvSpPr txBox="1"/>
          <p:nvPr/>
        </p:nvSpPr>
        <p:spPr>
          <a:xfrm>
            <a:off x="6436930" y="4211064"/>
            <a:ext cx="314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2EB958A-02B6-1C9A-203F-26A79137661C}"/>
              </a:ext>
            </a:extLst>
          </p:cNvPr>
          <p:cNvSpPr/>
          <p:nvPr/>
        </p:nvSpPr>
        <p:spPr>
          <a:xfrm>
            <a:off x="4887034" y="1110701"/>
            <a:ext cx="967856" cy="16052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FC2D38D-A33C-72E8-7BCB-93D7A89EC677}"/>
              </a:ext>
            </a:extLst>
          </p:cNvPr>
          <p:cNvSpPr txBox="1"/>
          <p:nvPr/>
        </p:nvSpPr>
        <p:spPr>
          <a:xfrm>
            <a:off x="3846964" y="3557545"/>
            <a:ext cx="314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8B4AED0-7DE1-D2D9-BE06-B71E740F1657}"/>
              </a:ext>
            </a:extLst>
          </p:cNvPr>
          <p:cNvSpPr txBox="1"/>
          <p:nvPr/>
        </p:nvSpPr>
        <p:spPr>
          <a:xfrm>
            <a:off x="4473600" y="2922147"/>
            <a:ext cx="314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2178979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2BD6309-3F95-8263-D8CC-F9FE9AC8B5BB}"/>
              </a:ext>
            </a:extLst>
          </p:cNvPr>
          <p:cNvSpPr txBox="1">
            <a:spLocks/>
          </p:cNvSpPr>
          <p:nvPr/>
        </p:nvSpPr>
        <p:spPr>
          <a:xfrm>
            <a:off x="410690" y="0"/>
            <a:ext cx="11725466" cy="6864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solidFill>
                  <a:srgbClr val="C00000"/>
                </a:solidFill>
              </a:rPr>
              <a:t>A null coalescent model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4BBB0BE-092E-563A-E2A5-B08D7415D6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9186" y="1025763"/>
            <a:ext cx="6852314" cy="5042828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57759A32-5F64-5588-149B-8C9715B927CA}"/>
              </a:ext>
            </a:extLst>
          </p:cNvPr>
          <p:cNvSpPr/>
          <p:nvPr/>
        </p:nvSpPr>
        <p:spPr>
          <a:xfrm>
            <a:off x="1910687" y="5568287"/>
            <a:ext cx="272955" cy="21897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3366C3AF-7555-6C73-3EFF-850E9A75D7F0}"/>
              </a:ext>
            </a:extLst>
          </p:cNvPr>
          <p:cNvSpPr/>
          <p:nvPr/>
        </p:nvSpPr>
        <p:spPr>
          <a:xfrm>
            <a:off x="2744338" y="5572314"/>
            <a:ext cx="272955" cy="21897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05C41E0-FA05-AE0B-8C37-6670439799BC}"/>
              </a:ext>
            </a:extLst>
          </p:cNvPr>
          <p:cNvSpPr/>
          <p:nvPr/>
        </p:nvSpPr>
        <p:spPr>
          <a:xfrm>
            <a:off x="3564341" y="5568287"/>
            <a:ext cx="272955" cy="21897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B2E063A-A57B-CAEB-3439-381A7AD1CC95}"/>
              </a:ext>
            </a:extLst>
          </p:cNvPr>
          <p:cNvSpPr/>
          <p:nvPr/>
        </p:nvSpPr>
        <p:spPr>
          <a:xfrm>
            <a:off x="4492388" y="5537580"/>
            <a:ext cx="272955" cy="21897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943FC37-C563-F25B-B647-A244E0D429A4}"/>
              </a:ext>
            </a:extLst>
          </p:cNvPr>
          <p:cNvSpPr/>
          <p:nvPr/>
        </p:nvSpPr>
        <p:spPr>
          <a:xfrm>
            <a:off x="5326039" y="5541607"/>
            <a:ext cx="272955" cy="21897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1AC16C8-C18B-9FF3-4884-D680FE67F9BA}"/>
              </a:ext>
            </a:extLst>
          </p:cNvPr>
          <p:cNvSpPr/>
          <p:nvPr/>
        </p:nvSpPr>
        <p:spPr>
          <a:xfrm>
            <a:off x="6146042" y="5537580"/>
            <a:ext cx="272955" cy="21897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942C97A-81D8-E0DD-E384-C40733AD4F89}"/>
              </a:ext>
            </a:extLst>
          </p:cNvPr>
          <p:cNvSpPr/>
          <p:nvPr/>
        </p:nvSpPr>
        <p:spPr>
          <a:xfrm>
            <a:off x="7074089" y="5564260"/>
            <a:ext cx="272955" cy="21897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D56097E-41E0-240C-2FBA-415F89AE4BB8}"/>
              </a:ext>
            </a:extLst>
          </p:cNvPr>
          <p:cNvSpPr/>
          <p:nvPr/>
        </p:nvSpPr>
        <p:spPr>
          <a:xfrm>
            <a:off x="7907740" y="5568287"/>
            <a:ext cx="272955" cy="21897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C9B2BE-ABE7-72D8-FA18-5D3FF93416A1}"/>
              </a:ext>
            </a:extLst>
          </p:cNvPr>
          <p:cNvSpPr txBox="1"/>
          <p:nvPr/>
        </p:nvSpPr>
        <p:spPr>
          <a:xfrm>
            <a:off x="2137254" y="4798458"/>
            <a:ext cx="314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E0F0F03-0E94-5FA5-E075-A15FA34EC2B1}"/>
              </a:ext>
            </a:extLst>
          </p:cNvPr>
          <p:cNvSpPr txBox="1"/>
          <p:nvPr/>
        </p:nvSpPr>
        <p:spPr>
          <a:xfrm>
            <a:off x="6436930" y="4211064"/>
            <a:ext cx="314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FC2D38D-A33C-72E8-7BCB-93D7A89EC677}"/>
              </a:ext>
            </a:extLst>
          </p:cNvPr>
          <p:cNvSpPr txBox="1"/>
          <p:nvPr/>
        </p:nvSpPr>
        <p:spPr>
          <a:xfrm>
            <a:off x="3846964" y="3557545"/>
            <a:ext cx="314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8B4AED0-7DE1-D2D9-BE06-B71E740F1657}"/>
              </a:ext>
            </a:extLst>
          </p:cNvPr>
          <p:cNvSpPr txBox="1"/>
          <p:nvPr/>
        </p:nvSpPr>
        <p:spPr>
          <a:xfrm>
            <a:off x="4473600" y="2922147"/>
            <a:ext cx="314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CB29737-3653-8DA3-762D-314D7BAC47F1}"/>
              </a:ext>
            </a:extLst>
          </p:cNvPr>
          <p:cNvSpPr txBox="1"/>
          <p:nvPr/>
        </p:nvSpPr>
        <p:spPr>
          <a:xfrm>
            <a:off x="5441738" y="2286616"/>
            <a:ext cx="314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BE91D0A-9746-19D7-6ECB-A990636AD084}"/>
              </a:ext>
            </a:extLst>
          </p:cNvPr>
          <p:cNvSpPr txBox="1"/>
          <p:nvPr/>
        </p:nvSpPr>
        <p:spPr>
          <a:xfrm>
            <a:off x="3700818" y="1691489"/>
            <a:ext cx="314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6A93FC4-2BBB-A48F-BCFF-D9194D9FF839}"/>
              </a:ext>
            </a:extLst>
          </p:cNvPr>
          <p:cNvSpPr txBox="1"/>
          <p:nvPr/>
        </p:nvSpPr>
        <p:spPr>
          <a:xfrm>
            <a:off x="5598993" y="1056025"/>
            <a:ext cx="314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7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CB568F25-8E0D-293E-B5C4-D926332E0E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7958" y="2968941"/>
            <a:ext cx="3020219" cy="709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43901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45CE990-785B-90F3-E45D-945F3C9547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9186" y="1025763"/>
            <a:ext cx="6852314" cy="5042828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2BD6309-3F95-8263-D8CC-F9FE9AC8B5BB}"/>
              </a:ext>
            </a:extLst>
          </p:cNvPr>
          <p:cNvSpPr txBox="1">
            <a:spLocks/>
          </p:cNvSpPr>
          <p:nvPr/>
        </p:nvSpPr>
        <p:spPr>
          <a:xfrm>
            <a:off x="410690" y="0"/>
            <a:ext cx="11725466" cy="6864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solidFill>
                  <a:srgbClr val="C00000"/>
                </a:solidFill>
              </a:rPr>
              <a:t>A null coalescent model with colors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7759A32-5F64-5588-149B-8C9715B927CA}"/>
              </a:ext>
            </a:extLst>
          </p:cNvPr>
          <p:cNvSpPr/>
          <p:nvPr/>
        </p:nvSpPr>
        <p:spPr>
          <a:xfrm>
            <a:off x="1910687" y="5568287"/>
            <a:ext cx="272955" cy="21897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3366C3AF-7555-6C73-3EFF-850E9A75D7F0}"/>
              </a:ext>
            </a:extLst>
          </p:cNvPr>
          <p:cNvSpPr/>
          <p:nvPr/>
        </p:nvSpPr>
        <p:spPr>
          <a:xfrm>
            <a:off x="2744338" y="5572314"/>
            <a:ext cx="272955" cy="218979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05C41E0-FA05-AE0B-8C37-6670439799BC}"/>
              </a:ext>
            </a:extLst>
          </p:cNvPr>
          <p:cNvSpPr/>
          <p:nvPr/>
        </p:nvSpPr>
        <p:spPr>
          <a:xfrm>
            <a:off x="3564341" y="5568287"/>
            <a:ext cx="272955" cy="218979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B2E063A-A57B-CAEB-3439-381A7AD1CC95}"/>
              </a:ext>
            </a:extLst>
          </p:cNvPr>
          <p:cNvSpPr/>
          <p:nvPr/>
        </p:nvSpPr>
        <p:spPr>
          <a:xfrm>
            <a:off x="4492388" y="5537580"/>
            <a:ext cx="272955" cy="218979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943FC37-C563-F25B-B647-A244E0D429A4}"/>
              </a:ext>
            </a:extLst>
          </p:cNvPr>
          <p:cNvSpPr/>
          <p:nvPr/>
        </p:nvSpPr>
        <p:spPr>
          <a:xfrm>
            <a:off x="5326039" y="5541607"/>
            <a:ext cx="272955" cy="21897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1AC16C8-C18B-9FF3-4884-D680FE67F9BA}"/>
              </a:ext>
            </a:extLst>
          </p:cNvPr>
          <p:cNvSpPr/>
          <p:nvPr/>
        </p:nvSpPr>
        <p:spPr>
          <a:xfrm>
            <a:off x="6146042" y="5537580"/>
            <a:ext cx="272955" cy="218979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942C97A-81D8-E0DD-E384-C40733AD4F89}"/>
              </a:ext>
            </a:extLst>
          </p:cNvPr>
          <p:cNvSpPr/>
          <p:nvPr/>
        </p:nvSpPr>
        <p:spPr>
          <a:xfrm>
            <a:off x="7074089" y="5564260"/>
            <a:ext cx="272955" cy="218979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D56097E-41E0-240C-2FBA-415F89AE4BB8}"/>
              </a:ext>
            </a:extLst>
          </p:cNvPr>
          <p:cNvSpPr/>
          <p:nvPr/>
        </p:nvSpPr>
        <p:spPr>
          <a:xfrm>
            <a:off x="7907740" y="5568287"/>
            <a:ext cx="272955" cy="21897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51F79B-EA2E-639C-BC3D-3996C568CE51}"/>
              </a:ext>
            </a:extLst>
          </p:cNvPr>
          <p:cNvSpPr txBox="1"/>
          <p:nvPr/>
        </p:nvSpPr>
        <p:spPr>
          <a:xfrm>
            <a:off x="784238" y="1070734"/>
            <a:ext cx="14847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R=5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lang="en-US" sz="24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B=3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D1BBD8-1F01-68A5-200B-C9346285BBC5}"/>
              </a:ext>
            </a:extLst>
          </p:cNvPr>
          <p:cNvSpPr txBox="1"/>
          <p:nvPr/>
        </p:nvSpPr>
        <p:spPr>
          <a:xfrm>
            <a:off x="2137254" y="4798458"/>
            <a:ext cx="314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F02AE4-E816-3A44-3553-78173869488F}"/>
              </a:ext>
            </a:extLst>
          </p:cNvPr>
          <p:cNvSpPr txBox="1"/>
          <p:nvPr/>
        </p:nvSpPr>
        <p:spPr>
          <a:xfrm>
            <a:off x="6436930" y="4211064"/>
            <a:ext cx="314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1408A2-1D3D-F686-8552-B161CB816329}"/>
              </a:ext>
            </a:extLst>
          </p:cNvPr>
          <p:cNvSpPr txBox="1"/>
          <p:nvPr/>
        </p:nvSpPr>
        <p:spPr>
          <a:xfrm>
            <a:off x="3846964" y="3557545"/>
            <a:ext cx="314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66233FA-CBC5-CDB6-705E-C4798DED161D}"/>
              </a:ext>
            </a:extLst>
          </p:cNvPr>
          <p:cNvSpPr txBox="1"/>
          <p:nvPr/>
        </p:nvSpPr>
        <p:spPr>
          <a:xfrm>
            <a:off x="4473600" y="2922147"/>
            <a:ext cx="314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E889A5D-3050-AFB8-B505-686823A3AFAA}"/>
              </a:ext>
            </a:extLst>
          </p:cNvPr>
          <p:cNvSpPr txBox="1"/>
          <p:nvPr/>
        </p:nvSpPr>
        <p:spPr>
          <a:xfrm>
            <a:off x="5441738" y="2286616"/>
            <a:ext cx="314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C1B41B6-E777-E6D8-6FBF-B6BC99BF3400}"/>
              </a:ext>
            </a:extLst>
          </p:cNvPr>
          <p:cNvSpPr txBox="1"/>
          <p:nvPr/>
        </p:nvSpPr>
        <p:spPr>
          <a:xfrm>
            <a:off x="3700818" y="1691489"/>
            <a:ext cx="314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229362D-8B68-F242-7D8C-F919D1DC6B55}"/>
              </a:ext>
            </a:extLst>
          </p:cNvPr>
          <p:cNvSpPr txBox="1"/>
          <p:nvPr/>
        </p:nvSpPr>
        <p:spPr>
          <a:xfrm>
            <a:off x="5598993" y="1056025"/>
            <a:ext cx="314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7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2A9D1C54-8136-9B4E-0ABC-A3976C1872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0527" y="2565779"/>
            <a:ext cx="4113213" cy="1645285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124102E9-EAB5-92E6-F0B9-0B7674FB1215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44655" t="30498" r="10385"/>
          <a:stretch/>
        </p:blipFill>
        <p:spPr>
          <a:xfrm>
            <a:off x="8746448" y="4390038"/>
            <a:ext cx="2893568" cy="1127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32113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2BD6309-3F95-8263-D8CC-F9FE9AC8B5BB}"/>
              </a:ext>
            </a:extLst>
          </p:cNvPr>
          <p:cNvSpPr txBox="1">
            <a:spLocks/>
          </p:cNvSpPr>
          <p:nvPr/>
        </p:nvSpPr>
        <p:spPr>
          <a:xfrm>
            <a:off x="410690" y="0"/>
            <a:ext cx="11725466" cy="6864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solidFill>
                  <a:srgbClr val="C00000"/>
                </a:solidFill>
              </a:rPr>
              <a:t>An alternative model: The CRP-Tree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3AC12C-DEEC-40E6-E71D-0A1980BB940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1574" b="75233"/>
          <a:stretch/>
        </p:blipFill>
        <p:spPr>
          <a:xfrm>
            <a:off x="871540" y="570425"/>
            <a:ext cx="5433726" cy="1460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91254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2BD6309-3F95-8263-D8CC-F9FE9AC8B5BB}"/>
              </a:ext>
            </a:extLst>
          </p:cNvPr>
          <p:cNvSpPr txBox="1">
            <a:spLocks/>
          </p:cNvSpPr>
          <p:nvPr/>
        </p:nvSpPr>
        <p:spPr>
          <a:xfrm>
            <a:off x="410690" y="0"/>
            <a:ext cx="11725466" cy="6864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solidFill>
                  <a:srgbClr val="C00000"/>
                </a:solidFill>
              </a:rPr>
              <a:t>An alternative model: The CRP-Tree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3AC12C-DEEC-40E6-E71D-0A1980BB940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" r="51574" b="46715"/>
          <a:stretch/>
        </p:blipFill>
        <p:spPr>
          <a:xfrm>
            <a:off x="871540" y="570425"/>
            <a:ext cx="5433726" cy="3141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77576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2BD6309-3F95-8263-D8CC-F9FE9AC8B5BB}"/>
              </a:ext>
            </a:extLst>
          </p:cNvPr>
          <p:cNvSpPr txBox="1">
            <a:spLocks/>
          </p:cNvSpPr>
          <p:nvPr/>
        </p:nvSpPr>
        <p:spPr>
          <a:xfrm>
            <a:off x="410690" y="0"/>
            <a:ext cx="11725466" cy="6864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solidFill>
                  <a:srgbClr val="C00000"/>
                </a:solidFill>
              </a:rPr>
              <a:t>An alternative model: The CRP-Tree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3AC12C-DEEC-40E6-E71D-0A1980BB940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" r="51574" b="2042"/>
          <a:stretch/>
        </p:blipFill>
        <p:spPr>
          <a:xfrm>
            <a:off x="871540" y="570425"/>
            <a:ext cx="5433726" cy="577577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2325A59-95F6-2337-AC06-986F8A72C121}"/>
              </a:ext>
            </a:extLst>
          </p:cNvPr>
          <p:cNvSpPr txBox="1"/>
          <p:nvPr/>
        </p:nvSpPr>
        <p:spPr>
          <a:xfrm>
            <a:off x="2125724" y="3766782"/>
            <a:ext cx="41795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Note: We are </a:t>
            </a:r>
            <a:r>
              <a:rPr lang="en-US" sz="20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branching (forward)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361C5B-131D-5C7F-EB85-FCB0602A894D}"/>
              </a:ext>
            </a:extLst>
          </p:cNvPr>
          <p:cNvSpPr txBox="1"/>
          <p:nvPr/>
        </p:nvSpPr>
        <p:spPr>
          <a:xfrm>
            <a:off x="5041169" y="5887465"/>
            <a:ext cx="31792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Note: We attach to the </a:t>
            </a:r>
            <a:r>
              <a:rPr lang="en-US" sz="20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left</a:t>
            </a:r>
          </a:p>
        </p:txBody>
      </p:sp>
    </p:spTree>
    <p:extLst>
      <p:ext uri="{BB962C8B-B14F-4D97-AF65-F5344CB8AC3E}">
        <p14:creationId xmlns:p14="http://schemas.microsoft.com/office/powerpoint/2010/main" val="7825369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2BD6309-3F95-8263-D8CC-F9FE9AC8B5BB}"/>
              </a:ext>
            </a:extLst>
          </p:cNvPr>
          <p:cNvSpPr txBox="1">
            <a:spLocks/>
          </p:cNvSpPr>
          <p:nvPr/>
        </p:nvSpPr>
        <p:spPr>
          <a:xfrm>
            <a:off x="410690" y="0"/>
            <a:ext cx="11725466" cy="6864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solidFill>
                  <a:srgbClr val="C00000"/>
                </a:solidFill>
              </a:rPr>
              <a:t>An alternative model: The CRP-Tree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3AC12C-DEEC-40E6-E71D-0A1980BB940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" r="2770" b="2042"/>
          <a:stretch/>
        </p:blipFill>
        <p:spPr>
          <a:xfrm>
            <a:off x="871539" y="570425"/>
            <a:ext cx="10909771" cy="5775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67088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2BD6309-3F95-8263-D8CC-F9FE9AC8B5BB}"/>
              </a:ext>
            </a:extLst>
          </p:cNvPr>
          <p:cNvSpPr txBox="1">
            <a:spLocks/>
          </p:cNvSpPr>
          <p:nvPr/>
        </p:nvSpPr>
        <p:spPr>
          <a:xfrm>
            <a:off x="410690" y="0"/>
            <a:ext cx="11725466" cy="6864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solidFill>
                  <a:srgbClr val="C00000"/>
                </a:solidFill>
              </a:rPr>
              <a:t>An alternative model: The CRP-Tree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3AC12C-DEEC-40E6-E71D-0A1980BB940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33000"/>
          </a:blip>
          <a:srcRect t="1" r="2770" b="2042"/>
          <a:stretch/>
        </p:blipFill>
        <p:spPr>
          <a:xfrm>
            <a:off x="871539" y="570425"/>
            <a:ext cx="10909771" cy="577577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D117B61-AD7D-F6E7-CE33-D2161CA2521B}"/>
              </a:ext>
            </a:extLst>
          </p:cNvPr>
          <p:cNvSpPr txBox="1"/>
          <p:nvPr/>
        </p:nvSpPr>
        <p:spPr>
          <a:xfrm>
            <a:off x="1172748" y="1768055"/>
            <a:ext cx="9846503" cy="1754326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parameter in our tree-generating model controls how likely are lineages to descend from a node of the same type.</a:t>
            </a:r>
          </a:p>
        </p:txBody>
      </p:sp>
    </p:spTree>
    <p:extLst>
      <p:ext uri="{BB962C8B-B14F-4D97-AF65-F5344CB8AC3E}">
        <p14:creationId xmlns:p14="http://schemas.microsoft.com/office/powerpoint/2010/main" val="33724640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2BD6309-3F95-8263-D8CC-F9FE9AC8B5BB}"/>
              </a:ext>
            </a:extLst>
          </p:cNvPr>
          <p:cNvSpPr txBox="1">
            <a:spLocks/>
          </p:cNvSpPr>
          <p:nvPr/>
        </p:nvSpPr>
        <p:spPr>
          <a:xfrm>
            <a:off x="410690" y="0"/>
            <a:ext cx="11725466" cy="6864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solidFill>
                  <a:srgbClr val="C00000"/>
                </a:solidFill>
              </a:rPr>
              <a:t>An alternative model: The CRP-Tree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3AC12C-DEEC-40E6-E71D-0A1980BB940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33000"/>
          </a:blip>
          <a:srcRect t="1" r="2770" b="2042"/>
          <a:stretch/>
        </p:blipFill>
        <p:spPr>
          <a:xfrm>
            <a:off x="871539" y="570425"/>
            <a:ext cx="10909771" cy="577577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D117B61-AD7D-F6E7-CE33-D2161CA2521B}"/>
              </a:ext>
            </a:extLst>
          </p:cNvPr>
          <p:cNvSpPr txBox="1"/>
          <p:nvPr/>
        </p:nvSpPr>
        <p:spPr>
          <a:xfrm>
            <a:off x="1172748" y="1768055"/>
            <a:ext cx="9846503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initial ordering and always attaching to the left are key.</a:t>
            </a:r>
          </a:p>
        </p:txBody>
      </p:sp>
    </p:spTree>
    <p:extLst>
      <p:ext uri="{BB962C8B-B14F-4D97-AF65-F5344CB8AC3E}">
        <p14:creationId xmlns:p14="http://schemas.microsoft.com/office/powerpoint/2010/main" val="1828506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3B5947D-A2F2-5418-BABE-2F4A1B85EA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9630" y="805218"/>
            <a:ext cx="10602101" cy="4962349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C7BB14B3-A495-604A-8F2E-A19A06B565FD}"/>
              </a:ext>
            </a:extLst>
          </p:cNvPr>
          <p:cNvSpPr txBox="1">
            <a:spLocks/>
          </p:cNvSpPr>
          <p:nvPr/>
        </p:nvSpPr>
        <p:spPr>
          <a:xfrm>
            <a:off x="466534" y="232012"/>
            <a:ext cx="11725466" cy="6864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solidFill>
                  <a:srgbClr val="C00000"/>
                </a:solidFill>
              </a:rPr>
              <a:t>Results on Simulations</a:t>
            </a:r>
          </a:p>
        </p:txBody>
      </p:sp>
    </p:spTree>
    <p:extLst>
      <p:ext uri="{BB962C8B-B14F-4D97-AF65-F5344CB8AC3E}">
        <p14:creationId xmlns:p14="http://schemas.microsoft.com/office/powerpoint/2010/main" val="17073937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C7BB14B3-A495-604A-8F2E-A19A06B565FD}"/>
              </a:ext>
            </a:extLst>
          </p:cNvPr>
          <p:cNvSpPr txBox="1">
            <a:spLocks/>
          </p:cNvSpPr>
          <p:nvPr/>
        </p:nvSpPr>
        <p:spPr>
          <a:xfrm>
            <a:off x="466534" y="232012"/>
            <a:ext cx="11725466" cy="6864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solidFill>
                  <a:srgbClr val="C00000"/>
                </a:solidFill>
              </a:rPr>
              <a:t>Results on Simulations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CA6067A-3A89-9523-F89C-AC3341DAD7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355" y="918447"/>
            <a:ext cx="9473963" cy="5345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43005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2BD6309-3F95-8263-D8CC-F9FE9AC8B5BB}"/>
              </a:ext>
            </a:extLst>
          </p:cNvPr>
          <p:cNvSpPr txBox="1">
            <a:spLocks/>
          </p:cNvSpPr>
          <p:nvPr/>
        </p:nvSpPr>
        <p:spPr>
          <a:xfrm>
            <a:off x="410690" y="0"/>
            <a:ext cx="11725466" cy="6864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solidFill>
                  <a:srgbClr val="C00000"/>
                </a:solidFill>
              </a:rPr>
              <a:t>Breast cancer gene expression data on 98 patients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F90CB50-03DF-AA14-6754-E2C2EEB6B1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2677" y="686435"/>
            <a:ext cx="5726342" cy="561465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CACD8B6-109F-6C89-A9EE-162F99DF6396}"/>
              </a:ext>
            </a:extLst>
          </p:cNvPr>
          <p:cNvSpPr txBox="1"/>
          <p:nvPr/>
        </p:nvSpPr>
        <p:spPr>
          <a:xfrm>
            <a:off x="5504944" y="4683882"/>
            <a:ext cx="610737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Traits: BRCA mutation, estrogen receptor expression, histological grade, lymphocytic infiltration, angioinvasion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F47483-666C-F098-0C5C-925E58F3BA6C}"/>
              </a:ext>
            </a:extLst>
          </p:cNvPr>
          <p:cNvSpPr txBox="1"/>
          <p:nvPr/>
        </p:nvSpPr>
        <p:spPr>
          <a:xfrm>
            <a:off x="8842612" y="5630987"/>
            <a:ext cx="25277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van’t</a:t>
            </a:r>
            <a:r>
              <a:rPr lang="en-US" dirty="0"/>
              <a:t> Veer et al.,  2002</a:t>
            </a:r>
          </a:p>
        </p:txBody>
      </p:sp>
    </p:spTree>
    <p:extLst>
      <p:ext uri="{BB962C8B-B14F-4D97-AF65-F5344CB8AC3E}">
        <p14:creationId xmlns:p14="http://schemas.microsoft.com/office/powerpoint/2010/main" val="2041764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2BD6309-3F95-8263-D8CC-F9FE9AC8B5BB}"/>
              </a:ext>
            </a:extLst>
          </p:cNvPr>
          <p:cNvSpPr txBox="1">
            <a:spLocks/>
          </p:cNvSpPr>
          <p:nvPr/>
        </p:nvSpPr>
        <p:spPr>
          <a:xfrm>
            <a:off x="410690" y="0"/>
            <a:ext cx="11725466" cy="6864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solidFill>
                  <a:srgbClr val="C00000"/>
                </a:solidFill>
              </a:rPr>
              <a:t>Swordtail fish species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34596C1-7F7D-88BB-3DBB-115591AC80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50" y="992875"/>
            <a:ext cx="10594785" cy="48722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C225BFD-9F4B-AF08-2536-6090D62D75D0}"/>
              </a:ext>
            </a:extLst>
          </p:cNvPr>
          <p:cNvSpPr txBox="1"/>
          <p:nvPr/>
        </p:nvSpPr>
        <p:spPr>
          <a:xfrm>
            <a:off x="5304473" y="5859537"/>
            <a:ext cx="68875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Preising</a:t>
            </a:r>
            <a:r>
              <a:rPr lang="en-US" dirty="0"/>
              <a:t> et al., </a:t>
            </a:r>
            <a:r>
              <a:rPr lang="en-US" b="0" i="1" dirty="0" err="1">
                <a:solidFill>
                  <a:srgbClr val="73757D"/>
                </a:solidFill>
                <a:effectLst/>
                <a:latin typeface="Gentium Book Basic"/>
              </a:rPr>
              <a:t>bioRxiv</a:t>
            </a:r>
            <a:r>
              <a:rPr lang="en-US" b="0" i="0" dirty="0">
                <a:solidFill>
                  <a:srgbClr val="73757D"/>
                </a:solidFill>
                <a:effectLst/>
                <a:latin typeface="Gentium Book Basic"/>
              </a:rPr>
              <a:t>. </a:t>
            </a:r>
            <a:r>
              <a:rPr lang="en-US" b="0" i="0" dirty="0" err="1">
                <a:solidFill>
                  <a:srgbClr val="73757D"/>
                </a:solidFill>
                <a:effectLst/>
                <a:latin typeface="Gentium Book Basic"/>
              </a:rPr>
              <a:t>doi</a:t>
            </a:r>
            <a:r>
              <a:rPr lang="en-US" b="0" i="0" dirty="0">
                <a:solidFill>
                  <a:srgbClr val="73757D"/>
                </a:solidFill>
                <a:effectLst/>
                <a:latin typeface="Gentium Book Basic"/>
              </a:rPr>
              <a:t>: </a:t>
            </a:r>
            <a:r>
              <a:rPr lang="en-US" b="0" i="0" u="sng" dirty="0">
                <a:solidFill>
                  <a:srgbClr val="2C313F"/>
                </a:solidFill>
                <a:effectLst/>
                <a:latin typeface="Gentium Book Basic"/>
                <a:hlinkClick r:id="rId4"/>
              </a:rPr>
              <a:t>https://doi.org/10.1101/2022.12.24.521833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3BD2F4-E3AA-F21C-D1F9-BD3FA6722764}"/>
              </a:ext>
            </a:extLst>
          </p:cNvPr>
          <p:cNvSpPr txBox="1"/>
          <p:nvPr/>
        </p:nvSpPr>
        <p:spPr>
          <a:xfrm>
            <a:off x="636450" y="683641"/>
            <a:ext cx="97420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Classic model for studying sexual selection. Females prefer large male body size and “sword” ornament</a:t>
            </a:r>
          </a:p>
        </p:txBody>
      </p:sp>
    </p:spTree>
    <p:extLst>
      <p:ext uri="{BB962C8B-B14F-4D97-AF65-F5344CB8AC3E}">
        <p14:creationId xmlns:p14="http://schemas.microsoft.com/office/powerpoint/2010/main" val="25759965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FD19F1D-CAAA-2144-A4F4-6C8EAF39205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0418" b="13081"/>
          <a:stretch/>
        </p:blipFill>
        <p:spPr>
          <a:xfrm>
            <a:off x="435428" y="995245"/>
            <a:ext cx="10751457" cy="525571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CE5C7F2-93EB-7849-AD2C-26B77B0DBB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9157" y="2939654"/>
            <a:ext cx="9144000" cy="3311309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22CB4D62-158D-C34B-B24C-6E69095C45FD}"/>
              </a:ext>
            </a:extLst>
          </p:cNvPr>
          <p:cNvSpPr txBox="1">
            <a:spLocks/>
          </p:cNvSpPr>
          <p:nvPr/>
        </p:nvSpPr>
        <p:spPr>
          <a:xfrm>
            <a:off x="271462" y="222535"/>
            <a:ext cx="11725466" cy="6864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solidFill>
                  <a:srgbClr val="C00000"/>
                </a:solidFill>
              </a:rPr>
              <a:t>Trees are usually not directly observed</a:t>
            </a:r>
          </a:p>
        </p:txBody>
      </p:sp>
    </p:spTree>
    <p:extLst>
      <p:ext uri="{BB962C8B-B14F-4D97-AF65-F5344CB8AC3E}">
        <p14:creationId xmlns:p14="http://schemas.microsoft.com/office/powerpoint/2010/main" val="13433270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2BD6309-3F95-8263-D8CC-F9FE9AC8B5BB}"/>
              </a:ext>
            </a:extLst>
          </p:cNvPr>
          <p:cNvSpPr txBox="1">
            <a:spLocks/>
          </p:cNvSpPr>
          <p:nvPr/>
        </p:nvSpPr>
        <p:spPr>
          <a:xfrm>
            <a:off x="410690" y="0"/>
            <a:ext cx="11725466" cy="6864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solidFill>
                  <a:srgbClr val="C00000"/>
                </a:solidFill>
              </a:rPr>
              <a:t>Yellow fever virus in Brazil in 2017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9B06C5B-837B-21E1-1CD3-279CC39FEC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8953" y="835353"/>
            <a:ext cx="6481916" cy="518729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0C13BB3-C903-6520-0A9A-810D761156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7498" y="686435"/>
            <a:ext cx="1323812" cy="100861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016EEC9-CE97-2A6E-B500-BA0D6040B5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653" y="1317577"/>
            <a:ext cx="5366532" cy="4222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349083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CED8F38-AFA6-068F-99A3-A77F2DFCB5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6119" y="2621713"/>
            <a:ext cx="6447570" cy="3461782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AA445A7A-8DFE-7CE2-6C8F-7FD6561F7138}"/>
              </a:ext>
            </a:extLst>
          </p:cNvPr>
          <p:cNvSpPr txBox="1">
            <a:spLocks/>
          </p:cNvSpPr>
          <p:nvPr/>
        </p:nvSpPr>
        <p:spPr>
          <a:xfrm>
            <a:off x="410690" y="0"/>
            <a:ext cx="11725466" cy="6864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solidFill>
                  <a:srgbClr val="C00000"/>
                </a:solidFill>
              </a:rPr>
              <a:t>Reference and R-package CRP-Tree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93B391-711D-8CE1-6881-3DBCEC4A6F53}"/>
              </a:ext>
            </a:extLst>
          </p:cNvPr>
          <p:cNvSpPr txBox="1"/>
          <p:nvPr/>
        </p:nvSpPr>
        <p:spPr>
          <a:xfrm>
            <a:off x="410690" y="923163"/>
            <a:ext cx="15440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Preprint: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9DD52D-13D1-5ADE-EC2E-DFCA43A8B4D6}"/>
              </a:ext>
            </a:extLst>
          </p:cNvPr>
          <p:cNvSpPr txBox="1"/>
          <p:nvPr/>
        </p:nvSpPr>
        <p:spPr>
          <a:xfrm>
            <a:off x="47233" y="3167390"/>
            <a:ext cx="318388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Arial" panose="020B0604020202020204" pitchFamily="34" charset="0"/>
                <a:cs typeface="Arial" panose="020B0604020202020204" pitchFamily="34" charset="0"/>
              </a:rPr>
              <a:t>Github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R-package: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ED19E84-2C29-92F6-1014-E394C1CD06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183" y="3927338"/>
            <a:ext cx="2835038" cy="117883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4D6883C-62F1-1E5F-699A-BD438DCC30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8910" y="997717"/>
            <a:ext cx="7772400" cy="1312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29331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18412</TotalTime>
  <Words>794</Words>
  <Application>Microsoft Macintosh PowerPoint</Application>
  <PresentationFormat>Widescreen</PresentationFormat>
  <Paragraphs>155</Paragraphs>
  <Slides>32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Arial</vt:lpstr>
      <vt:lpstr>Calibri</vt:lpstr>
      <vt:lpstr>Calibri Light</vt:lpstr>
      <vt:lpstr>Gentium Book Basic</vt:lpstr>
      <vt:lpstr>Office Theme</vt:lpstr>
      <vt:lpstr>Phylogenetic mapping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Julia Palacios</dc:creator>
  <cp:lastModifiedBy>Julia Adela Palacios</cp:lastModifiedBy>
  <cp:revision>304</cp:revision>
  <cp:lastPrinted>2020-07-23T19:32:21Z</cp:lastPrinted>
  <dcterms:created xsi:type="dcterms:W3CDTF">2019-09-20T04:33:17Z</dcterms:created>
  <dcterms:modified xsi:type="dcterms:W3CDTF">2025-07-16T13:29:06Z</dcterms:modified>
</cp:coreProperties>
</file>