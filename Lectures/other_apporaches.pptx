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73" r:id="rId3"/>
    <p:sldId id="274" r:id="rId4"/>
    <p:sldId id="260" r:id="rId5"/>
    <p:sldId id="261" r:id="rId6"/>
    <p:sldId id="258" r:id="rId7"/>
    <p:sldId id="259" r:id="rId8"/>
    <p:sldId id="269" r:id="rId9"/>
    <p:sldId id="262" r:id="rId10"/>
    <p:sldId id="263" r:id="rId11"/>
    <p:sldId id="264" r:id="rId12"/>
    <p:sldId id="265" r:id="rId13"/>
    <p:sldId id="266" r:id="rId14"/>
    <p:sldId id="267" r:id="rId15"/>
    <p:sldId id="268" r:id="rId16"/>
    <p:sldId id="270" r:id="rId17"/>
    <p:sldId id="271" r:id="rId18"/>
    <p:sldId id="272"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22"/>
    <p:restoredTop sz="94760"/>
  </p:normalViewPr>
  <p:slideViewPr>
    <p:cSldViewPr snapToGrid="0">
      <p:cViewPr>
        <p:scale>
          <a:sx n="109" d="100"/>
          <a:sy n="109" d="100"/>
        </p:scale>
        <p:origin x="-30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83F62-08DD-8009-D527-2C4C5049645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062401-8E91-376B-439F-15EC11BAD4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23C36D7-B136-6E1E-9416-911F797AA5C0}"/>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5" name="Footer Placeholder 4">
            <a:extLst>
              <a:ext uri="{FF2B5EF4-FFF2-40B4-BE49-F238E27FC236}">
                <a16:creationId xmlns:a16="http://schemas.microsoft.com/office/drawing/2014/main" id="{1A44E2A5-894C-E29B-4F10-1EA2EB208D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34FE29-6889-5118-E772-7F0C8A670A22}"/>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35554799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52D03-1177-2CA9-513A-103A8704DA5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B960FF-DA2C-037F-4C7C-0986AB94A72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8008883-BF36-E8DF-61A3-3059CD9929F5}"/>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5" name="Footer Placeholder 4">
            <a:extLst>
              <a:ext uri="{FF2B5EF4-FFF2-40B4-BE49-F238E27FC236}">
                <a16:creationId xmlns:a16="http://schemas.microsoft.com/office/drawing/2014/main" id="{0DCE10E3-97AD-6542-BFB8-ED4543EA6F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F6A9FF-F7D8-B48E-DC4E-B89338A6E139}"/>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21322500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99D3E-A164-BCBF-8439-F08C2E884E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727377E-DEA1-7A55-2461-2432FCFF9FC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348E50-D2D2-06F6-1584-FBDB65CB8095}"/>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5" name="Footer Placeholder 4">
            <a:extLst>
              <a:ext uri="{FF2B5EF4-FFF2-40B4-BE49-F238E27FC236}">
                <a16:creationId xmlns:a16="http://schemas.microsoft.com/office/drawing/2014/main" id="{DBE81E39-1923-DF0C-6753-8BFFC6124C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DD89E0-4330-73A3-6790-9CB9F5F85333}"/>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1521160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54E1F6-2A51-18EF-8610-B3493A2B0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13F7822-5C88-2CA3-F33C-163286F67B6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41F625-F041-6136-639B-0BD4C41D9C6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280CF4-1CDD-CB2D-A8E9-FEBAEA6FC65D}"/>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6" name="Footer Placeholder 5">
            <a:extLst>
              <a:ext uri="{FF2B5EF4-FFF2-40B4-BE49-F238E27FC236}">
                <a16:creationId xmlns:a16="http://schemas.microsoft.com/office/drawing/2014/main" id="{001358DF-E621-48C0-4769-387A908C03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5B2E4D-7251-A54A-041E-AE4C108ED747}"/>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179547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6C28D-1B9E-D208-858B-3FEE6CD6F7E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A3BC4F-AE14-2ACC-284B-4037E23F70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3D6F27-407F-A854-AA5D-AB56D7BC8A9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4EBC1E6-B4AD-2828-3168-108914625D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13F8D3-EBF5-1D87-E6CD-279836F9F9C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66CEE85-7237-3FA6-B129-93238F0A91EA}"/>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8" name="Footer Placeholder 7">
            <a:extLst>
              <a:ext uri="{FF2B5EF4-FFF2-40B4-BE49-F238E27FC236}">
                <a16:creationId xmlns:a16="http://schemas.microsoft.com/office/drawing/2014/main" id="{D7C8BC9C-4D0D-DD9A-F800-CDEAE18D77F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7FC2148-BA04-55C8-1977-5D98D9AEC289}"/>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22460975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91FB4-2595-8778-AC79-AC3447CF56A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FD1A06B-3D0C-8216-701F-6425D856FDA2}"/>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4" name="Footer Placeholder 3">
            <a:extLst>
              <a:ext uri="{FF2B5EF4-FFF2-40B4-BE49-F238E27FC236}">
                <a16:creationId xmlns:a16="http://schemas.microsoft.com/office/drawing/2014/main" id="{72FA3B10-CE21-AFD5-35E6-EF078E5B77F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598B413-3C02-78DF-FC08-C8ACF145C76A}"/>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36990846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E1BAF51-0D0D-E19A-2A9C-4F60CB083910}"/>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3" name="Footer Placeholder 2">
            <a:extLst>
              <a:ext uri="{FF2B5EF4-FFF2-40B4-BE49-F238E27FC236}">
                <a16:creationId xmlns:a16="http://schemas.microsoft.com/office/drawing/2014/main" id="{49450299-2721-1BCC-C108-ACEBD24FBAA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1D50F6-8C53-5328-0CAA-B084D8AC7864}"/>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28140257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87FAA-2322-8EDD-15F8-36B1846BE2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9CE0FE-FE25-0DAC-5EE9-324BB546EE6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39E29EB-8171-8874-CC68-F7418E72F0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64D105E-1792-01BA-04A8-EEF3C038621A}"/>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6" name="Footer Placeholder 5">
            <a:extLst>
              <a:ext uri="{FF2B5EF4-FFF2-40B4-BE49-F238E27FC236}">
                <a16:creationId xmlns:a16="http://schemas.microsoft.com/office/drawing/2014/main" id="{9EDE1CB9-8306-66CA-1BF9-339D166815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B0FB55-BAE1-D649-F2C3-A9F55953067B}"/>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328236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E5BBC-6973-6DB6-11AE-CCB0F92DA2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C27BAF2-5B24-9B03-5F03-A162C8F04F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C4F1DFD-B041-3A33-91BD-91DE421856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6933CC-54F3-DFF1-AF77-5E08A1D93B6F}"/>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6" name="Footer Placeholder 5">
            <a:extLst>
              <a:ext uri="{FF2B5EF4-FFF2-40B4-BE49-F238E27FC236}">
                <a16:creationId xmlns:a16="http://schemas.microsoft.com/office/drawing/2014/main" id="{16B174E1-596B-099B-699B-F090004EBE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6D47A3-EC12-85B5-04F2-4D69199CBC16}"/>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24430047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C30EA-204D-9B99-A69B-9A425B33408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9F36B4D-76F6-F00D-10C2-9ED0A617DB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37BD76-EA18-FEAF-02AB-F2B726BF3558}"/>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5" name="Footer Placeholder 4">
            <a:extLst>
              <a:ext uri="{FF2B5EF4-FFF2-40B4-BE49-F238E27FC236}">
                <a16:creationId xmlns:a16="http://schemas.microsoft.com/office/drawing/2014/main" id="{28B2508C-93E1-E354-8FF9-6379A88ADA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489AFFE-2871-33A8-17D9-7FA78012AF3B}"/>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2965890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D9E3CE6-595B-726B-F2D6-5C5D07B4347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3150388-72E7-E824-38BD-6778B6B7807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0B44FA-F549-4461-EFCB-8E20DD80A322}"/>
              </a:ext>
            </a:extLst>
          </p:cNvPr>
          <p:cNvSpPr>
            <a:spLocks noGrp="1"/>
          </p:cNvSpPr>
          <p:nvPr>
            <p:ph type="dt" sz="half" idx="10"/>
          </p:nvPr>
        </p:nvSpPr>
        <p:spPr/>
        <p:txBody>
          <a:bodyPr/>
          <a:lstStyle/>
          <a:p>
            <a:fld id="{2A86028F-650D-674E-985D-98475E47F2E2}" type="datetimeFigureOut">
              <a:rPr lang="en-US" smtClean="0"/>
              <a:t>7/16/25</a:t>
            </a:fld>
            <a:endParaRPr lang="en-US"/>
          </a:p>
        </p:txBody>
      </p:sp>
      <p:sp>
        <p:nvSpPr>
          <p:cNvPr id="5" name="Footer Placeholder 4">
            <a:extLst>
              <a:ext uri="{FF2B5EF4-FFF2-40B4-BE49-F238E27FC236}">
                <a16:creationId xmlns:a16="http://schemas.microsoft.com/office/drawing/2014/main" id="{DD692210-4150-6637-C914-45B03EDC94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7A271B-F0D5-C71C-CB74-7703D4924479}"/>
              </a:ext>
            </a:extLst>
          </p:cNvPr>
          <p:cNvSpPr>
            <a:spLocks noGrp="1"/>
          </p:cNvSpPr>
          <p:nvPr>
            <p:ph type="sldNum" sz="quarter" idx="12"/>
          </p:nvPr>
        </p:nvSpPr>
        <p:spPr/>
        <p:txBody>
          <a:bodyPr/>
          <a:lstStyle/>
          <a:p>
            <a:fld id="{4D4EB1B9-0DB0-274D-91F4-D573BFEE8C4C}" type="slidenum">
              <a:rPr lang="en-US" smtClean="0"/>
              <a:t>‹#›</a:t>
            </a:fld>
            <a:endParaRPr lang="en-US"/>
          </a:p>
        </p:txBody>
      </p:sp>
    </p:spTree>
    <p:extLst>
      <p:ext uri="{BB962C8B-B14F-4D97-AF65-F5344CB8AC3E}">
        <p14:creationId xmlns:p14="http://schemas.microsoft.com/office/powerpoint/2010/main" val="450426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C4059A-B8A8-B5DE-6B0D-10EE309A90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088CF04-2487-80A2-71E9-1934B9AD5C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136938C-DD77-096E-6C03-2461706FF0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86028F-650D-674E-985D-98475E47F2E2}" type="datetimeFigureOut">
              <a:rPr lang="en-US" smtClean="0"/>
              <a:t>7/16/25</a:t>
            </a:fld>
            <a:endParaRPr lang="en-US"/>
          </a:p>
        </p:txBody>
      </p:sp>
      <p:sp>
        <p:nvSpPr>
          <p:cNvPr id="5" name="Footer Placeholder 4">
            <a:extLst>
              <a:ext uri="{FF2B5EF4-FFF2-40B4-BE49-F238E27FC236}">
                <a16:creationId xmlns:a16="http://schemas.microsoft.com/office/drawing/2014/main" id="{D83FE3E9-B6D3-3906-9417-AE5883E502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EF0F52E-32B4-C539-2E31-379F8A6D9F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4EB1B9-0DB0-274D-91F4-D573BFEE8C4C}" type="slidenum">
              <a:rPr lang="en-US" smtClean="0"/>
              <a:t>‹#›</a:t>
            </a:fld>
            <a:endParaRPr lang="en-US"/>
          </a:p>
        </p:txBody>
      </p:sp>
    </p:spTree>
    <p:extLst>
      <p:ext uri="{BB962C8B-B14F-4D97-AF65-F5344CB8AC3E}">
        <p14:creationId xmlns:p14="http://schemas.microsoft.com/office/powerpoint/2010/main" val="42296847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14D474-FF27-7476-C5AD-7F3DACC4955D}"/>
              </a:ext>
            </a:extLst>
          </p:cNvPr>
          <p:cNvSpPr>
            <a:spLocks noGrp="1"/>
          </p:cNvSpPr>
          <p:nvPr>
            <p:ph type="title"/>
          </p:nvPr>
        </p:nvSpPr>
        <p:spPr/>
        <p:txBody>
          <a:bodyPr/>
          <a:lstStyle/>
          <a:p>
            <a:r>
              <a:rPr lang="en-US" dirty="0"/>
              <a:t>Unsampled dynamics: HCV</a:t>
            </a:r>
          </a:p>
        </p:txBody>
      </p:sp>
      <p:pic>
        <p:nvPicPr>
          <p:cNvPr id="1026" name="Picture 2" descr="A Bayesian skyline plot (m = 24) derived from an alignment of Egyptian HCV sequences (63 partial E1 gene sequences, sampled in 1993). The x axis is in units of years before 1993, and the y axis is equal to \batchmode \documentclass[fleqn,10pt,legalpaper]{article} \usepackage{amssymb} \usepackage{amsfonts} \usepackage{amsmath} \pagestyle{empty} \begin{document} \(N_{e}{\tau}\) \end{document} (the product of the effective population size and the generation length in years). The thick solid line is the median estimate, and the dashed lines show the 95% HPD limits. The thick dashed line shows the mean estimate for the four-parameter model used in Pybus et al. (2003) (see text for details). The plot shows a sharp increase in the effective number of infections in the early 20th century, probably caused by viral contamination of injectable antischistosomiasis treatment that was widely used in Egypt from 1920s (see text for details).">
            <a:extLst>
              <a:ext uri="{FF2B5EF4-FFF2-40B4-BE49-F238E27FC236}">
                <a16:creationId xmlns:a16="http://schemas.microsoft.com/office/drawing/2014/main" id="{5DDB043C-86FA-E89F-8F5A-92A22470A7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6874" y="1974574"/>
            <a:ext cx="4733535" cy="380834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907418B-19A3-912E-567D-58BBF23AF22F}"/>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Drummond et al. 2005, MBE</a:t>
            </a:r>
          </a:p>
        </p:txBody>
      </p:sp>
    </p:spTree>
    <p:extLst>
      <p:ext uri="{BB962C8B-B14F-4D97-AF65-F5344CB8AC3E}">
        <p14:creationId xmlns:p14="http://schemas.microsoft.com/office/powerpoint/2010/main" val="250521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F6A2C-C0D1-2D13-2BDD-FA1F287460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A9E4BC-0EBD-3213-F71F-5C627D80E0C3}"/>
              </a:ext>
            </a:extLst>
          </p:cNvPr>
          <p:cNvSpPr>
            <a:spLocks noGrp="1"/>
          </p:cNvSpPr>
          <p:nvPr>
            <p:ph type="title"/>
          </p:nvPr>
        </p:nvSpPr>
        <p:spPr/>
        <p:txBody>
          <a:bodyPr/>
          <a:lstStyle/>
          <a:p>
            <a:r>
              <a:rPr lang="en-US" dirty="0"/>
              <a:t>Unsampled dynamics: HBV</a:t>
            </a:r>
          </a:p>
        </p:txBody>
      </p:sp>
      <p:sp>
        <p:nvSpPr>
          <p:cNvPr id="4" name="TextBox 3">
            <a:extLst>
              <a:ext uri="{FF2B5EF4-FFF2-40B4-BE49-F238E27FC236}">
                <a16:creationId xmlns:a16="http://schemas.microsoft.com/office/drawing/2014/main" id="{9305481C-EEA4-B660-8E55-5DC527B2FFE8}"/>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Kocher et al. 2021, Science</a:t>
            </a:r>
          </a:p>
        </p:txBody>
      </p:sp>
      <p:pic>
        <p:nvPicPr>
          <p:cNvPr id="10242" name="Picture 2">
            <a:extLst>
              <a:ext uri="{FF2B5EF4-FFF2-40B4-BE49-F238E27FC236}">
                <a16:creationId xmlns:a16="http://schemas.microsoft.com/office/drawing/2014/main" id="{28BF7C37-B75B-8E0B-32F5-18BEB62CB3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60035" y="1426868"/>
            <a:ext cx="5974245" cy="543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27891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E2D4D-9D59-D090-0F69-2666075869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84B6C2-9333-9E11-13D3-4D2D11178656}"/>
              </a:ext>
            </a:extLst>
          </p:cNvPr>
          <p:cNvSpPr>
            <a:spLocks noGrp="1"/>
          </p:cNvSpPr>
          <p:nvPr>
            <p:ph type="title"/>
          </p:nvPr>
        </p:nvSpPr>
        <p:spPr/>
        <p:txBody>
          <a:bodyPr/>
          <a:lstStyle/>
          <a:p>
            <a:r>
              <a:rPr lang="en-US" dirty="0"/>
              <a:t>Unsampled dynamics: Languages</a:t>
            </a:r>
          </a:p>
        </p:txBody>
      </p:sp>
      <p:sp>
        <p:nvSpPr>
          <p:cNvPr id="4" name="TextBox 3">
            <a:extLst>
              <a:ext uri="{FF2B5EF4-FFF2-40B4-BE49-F238E27FC236}">
                <a16:creationId xmlns:a16="http://schemas.microsoft.com/office/drawing/2014/main" id="{8DBEA9CB-4B29-7BFC-1423-1C41A1C00996}"/>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err="1">
                <a:solidFill>
                  <a:srgbClr val="000000"/>
                </a:solidFill>
                <a:effectLst/>
                <a:latin typeface="Helvetica" pitchFamily="2" charset="0"/>
                <a:ea typeface="Times New Roman" panose="02020603050405020304" pitchFamily="18" charset="0"/>
                <a:cs typeface="Arial" panose="020B0604020202020204" pitchFamily="34" charset="0"/>
              </a:rPr>
              <a:t>Bourckaert</a:t>
            </a: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 2012, Science</a:t>
            </a:r>
          </a:p>
        </p:txBody>
      </p:sp>
      <p:pic>
        <p:nvPicPr>
          <p:cNvPr id="12290" name="Picture 2">
            <a:extLst>
              <a:ext uri="{FF2B5EF4-FFF2-40B4-BE49-F238E27FC236}">
                <a16:creationId xmlns:a16="http://schemas.microsoft.com/office/drawing/2014/main" id="{83A52378-83A3-6F30-0496-092A98436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1960" y="1438913"/>
            <a:ext cx="7157657" cy="4909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4181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46F95-4A83-A9FA-3DD1-F59F534572B5}"/>
              </a:ext>
            </a:extLst>
          </p:cNvPr>
          <p:cNvSpPr>
            <a:spLocks noGrp="1"/>
          </p:cNvSpPr>
          <p:nvPr>
            <p:ph type="title"/>
          </p:nvPr>
        </p:nvSpPr>
        <p:spPr/>
        <p:txBody>
          <a:bodyPr/>
          <a:lstStyle/>
          <a:p>
            <a:r>
              <a:rPr lang="en-US" dirty="0"/>
              <a:t>Fitness</a:t>
            </a:r>
            <a:br>
              <a:rPr lang="en-US" dirty="0"/>
            </a:br>
            <a:endParaRPr lang="en-US" dirty="0"/>
          </a:p>
        </p:txBody>
      </p:sp>
      <p:sp>
        <p:nvSpPr>
          <p:cNvPr id="3" name="Content Placeholder 2">
            <a:extLst>
              <a:ext uri="{FF2B5EF4-FFF2-40B4-BE49-F238E27FC236}">
                <a16:creationId xmlns:a16="http://schemas.microsoft.com/office/drawing/2014/main" id="{776E7A1A-D107-6B12-E7F0-7CDEEE2741A5}"/>
              </a:ext>
            </a:extLst>
          </p:cNvPr>
          <p:cNvSpPr>
            <a:spLocks noGrp="1"/>
          </p:cNvSpPr>
          <p:nvPr>
            <p:ph idx="1"/>
          </p:nvPr>
        </p:nvSpPr>
        <p:spPr/>
        <p:txBody>
          <a:bodyPr/>
          <a:lstStyle/>
          <a:p>
            <a:endParaRPr lang="en-US"/>
          </a:p>
        </p:txBody>
      </p:sp>
      <p:pic>
        <p:nvPicPr>
          <p:cNvPr id="5122" name="Picture 2" descr="Figure 1">
            <a:extLst>
              <a:ext uri="{FF2B5EF4-FFF2-40B4-BE49-F238E27FC236}">
                <a16:creationId xmlns:a16="http://schemas.microsoft.com/office/drawing/2014/main" id="{335FE2E1-CF52-4702-2DB6-4B7F780880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8916" y="1605808"/>
            <a:ext cx="5454167" cy="479097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A88C5EE-229B-EFEA-A15B-2453A9C8B719}"/>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err="1">
                <a:solidFill>
                  <a:srgbClr val="000000"/>
                </a:solidFill>
                <a:effectLst/>
                <a:latin typeface="Helvetica" pitchFamily="2" charset="0"/>
                <a:ea typeface="Times New Roman" panose="02020603050405020304" pitchFamily="18" charset="0"/>
                <a:cs typeface="Arial" panose="020B0604020202020204" pitchFamily="34" charset="0"/>
              </a:rPr>
              <a:t>Lukzsa</a:t>
            </a: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 et al. 2014, Nature</a:t>
            </a:r>
          </a:p>
        </p:txBody>
      </p:sp>
    </p:spTree>
    <p:extLst>
      <p:ext uri="{BB962C8B-B14F-4D97-AF65-F5344CB8AC3E}">
        <p14:creationId xmlns:p14="http://schemas.microsoft.com/office/powerpoint/2010/main" val="3223595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03120-584F-AF70-5349-A25D2F9BD873}"/>
              </a:ext>
            </a:extLst>
          </p:cNvPr>
          <p:cNvSpPr>
            <a:spLocks noGrp="1"/>
          </p:cNvSpPr>
          <p:nvPr>
            <p:ph type="title"/>
          </p:nvPr>
        </p:nvSpPr>
        <p:spPr/>
        <p:txBody>
          <a:bodyPr/>
          <a:lstStyle/>
          <a:p>
            <a:r>
              <a:rPr lang="en-US" dirty="0"/>
              <a:t>Cryptic transmission….</a:t>
            </a:r>
          </a:p>
        </p:txBody>
      </p:sp>
      <p:sp>
        <p:nvSpPr>
          <p:cNvPr id="3" name="Content Placeholder 2">
            <a:extLst>
              <a:ext uri="{FF2B5EF4-FFF2-40B4-BE49-F238E27FC236}">
                <a16:creationId xmlns:a16="http://schemas.microsoft.com/office/drawing/2014/main" id="{FF55C200-59FD-9C81-243C-B9694886A5F6}"/>
              </a:ext>
            </a:extLst>
          </p:cNvPr>
          <p:cNvSpPr>
            <a:spLocks noGrp="1"/>
          </p:cNvSpPr>
          <p:nvPr>
            <p:ph idx="1"/>
          </p:nvPr>
        </p:nvSpPr>
        <p:spPr/>
        <p:txBody>
          <a:bodyPr/>
          <a:lstStyle/>
          <a:p>
            <a:endParaRPr lang="en-US" dirty="0"/>
          </a:p>
        </p:txBody>
      </p:sp>
      <p:pic>
        <p:nvPicPr>
          <p:cNvPr id="3074" name="Picture 2" descr="figure 4">
            <a:extLst>
              <a:ext uri="{FF2B5EF4-FFF2-40B4-BE49-F238E27FC236}">
                <a16:creationId xmlns:a16="http://schemas.microsoft.com/office/drawing/2014/main" id="{E466B688-D234-0A3E-DE26-9C2F49F1D0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00317" y="2928232"/>
            <a:ext cx="3608787" cy="2491907"/>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3">
            <a:extLst>
              <a:ext uri="{FF2B5EF4-FFF2-40B4-BE49-F238E27FC236}">
                <a16:creationId xmlns:a16="http://schemas.microsoft.com/office/drawing/2014/main" id="{310FD9B0-7135-B156-02AC-4982A25DD2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9659" y="1825625"/>
            <a:ext cx="5565199" cy="41109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9AB2133-E71A-12EE-5E03-37444E1A1E1E}"/>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Faria et al. 2017, Nature</a:t>
            </a:r>
          </a:p>
        </p:txBody>
      </p:sp>
    </p:spTree>
    <p:extLst>
      <p:ext uri="{BB962C8B-B14F-4D97-AF65-F5344CB8AC3E}">
        <p14:creationId xmlns:p14="http://schemas.microsoft.com/office/powerpoint/2010/main" val="908716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89C5E-DAF5-DBE9-A6C8-36B4EE0D9478}"/>
              </a:ext>
            </a:extLst>
          </p:cNvPr>
          <p:cNvSpPr>
            <a:spLocks noGrp="1"/>
          </p:cNvSpPr>
          <p:nvPr>
            <p:ph type="title"/>
          </p:nvPr>
        </p:nvSpPr>
        <p:spPr/>
        <p:txBody>
          <a:bodyPr/>
          <a:lstStyle/>
          <a:p>
            <a:r>
              <a:rPr lang="en-US" dirty="0"/>
              <a:t>Cross-species transmission</a:t>
            </a:r>
          </a:p>
        </p:txBody>
      </p:sp>
      <p:sp>
        <p:nvSpPr>
          <p:cNvPr id="3" name="Content Placeholder 2">
            <a:extLst>
              <a:ext uri="{FF2B5EF4-FFF2-40B4-BE49-F238E27FC236}">
                <a16:creationId xmlns:a16="http://schemas.microsoft.com/office/drawing/2014/main" id="{85EBF0A2-3130-2230-4F88-126E033278C8}"/>
              </a:ext>
            </a:extLst>
          </p:cNvPr>
          <p:cNvSpPr>
            <a:spLocks noGrp="1"/>
          </p:cNvSpPr>
          <p:nvPr>
            <p:ph idx="1"/>
          </p:nvPr>
        </p:nvSpPr>
        <p:spPr/>
        <p:txBody>
          <a:bodyPr/>
          <a:lstStyle/>
          <a:p>
            <a:endParaRPr lang="en-US" dirty="0"/>
          </a:p>
        </p:txBody>
      </p:sp>
      <p:sp>
        <p:nvSpPr>
          <p:cNvPr id="6" name="TextBox 5">
            <a:extLst>
              <a:ext uri="{FF2B5EF4-FFF2-40B4-BE49-F238E27FC236}">
                <a16:creationId xmlns:a16="http://schemas.microsoft.com/office/drawing/2014/main" id="{19729D5C-BD6A-9266-7EDE-9F9005F9796E}"/>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Dudas et al. 2018, </a:t>
            </a:r>
            <a:r>
              <a:rPr lang="en-US" sz="1400" dirty="0" err="1">
                <a:solidFill>
                  <a:srgbClr val="000000"/>
                </a:solidFill>
                <a:effectLst/>
                <a:latin typeface="Helvetica" pitchFamily="2" charset="0"/>
                <a:ea typeface="Times New Roman" panose="02020603050405020304" pitchFamily="18" charset="0"/>
                <a:cs typeface="Arial" panose="020B0604020202020204" pitchFamily="34" charset="0"/>
              </a:rPr>
              <a:t>eLife</a:t>
            </a:r>
            <a:endParaRPr lang="en-US" sz="1400" dirty="0">
              <a:solidFill>
                <a:srgbClr val="000000"/>
              </a:solidFill>
              <a:effectLst/>
              <a:latin typeface="Helvetica" pitchFamily="2" charset="0"/>
              <a:ea typeface="Times New Roman" panose="02020603050405020304" pitchFamily="18" charset="0"/>
              <a:cs typeface="Arial" panose="020B0604020202020204" pitchFamily="34" charset="0"/>
            </a:endParaRPr>
          </a:p>
        </p:txBody>
      </p:sp>
      <p:pic>
        <p:nvPicPr>
          <p:cNvPr id="2050" name="Picture 2">
            <a:extLst>
              <a:ext uri="{FF2B5EF4-FFF2-40B4-BE49-F238E27FC236}">
                <a16:creationId xmlns:a16="http://schemas.microsoft.com/office/drawing/2014/main" id="{961F2624-8897-722E-CE04-7311003A83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61944" y="1690688"/>
            <a:ext cx="4668111" cy="46909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4482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30803-B56A-8E06-8533-ED2D8E1D22F5}"/>
              </a:ext>
            </a:extLst>
          </p:cNvPr>
          <p:cNvSpPr>
            <a:spLocks noGrp="1"/>
          </p:cNvSpPr>
          <p:nvPr>
            <p:ph type="title"/>
          </p:nvPr>
        </p:nvSpPr>
        <p:spPr/>
        <p:txBody>
          <a:bodyPr/>
          <a:lstStyle/>
          <a:p>
            <a:r>
              <a:rPr lang="en-US" dirty="0"/>
              <a:t>Persistence </a:t>
            </a:r>
          </a:p>
        </p:txBody>
      </p:sp>
      <p:sp>
        <p:nvSpPr>
          <p:cNvPr id="3" name="Content Placeholder 2">
            <a:extLst>
              <a:ext uri="{FF2B5EF4-FFF2-40B4-BE49-F238E27FC236}">
                <a16:creationId xmlns:a16="http://schemas.microsoft.com/office/drawing/2014/main" id="{5AE9A7E5-8C45-A127-C416-A4AB1DEC3E4E}"/>
              </a:ext>
            </a:extLst>
          </p:cNvPr>
          <p:cNvSpPr>
            <a:spLocks noGrp="1"/>
          </p:cNvSpPr>
          <p:nvPr>
            <p:ph idx="1"/>
          </p:nvPr>
        </p:nvSpPr>
        <p:spPr/>
        <p:txBody>
          <a:bodyPr/>
          <a:lstStyle/>
          <a:p>
            <a:endParaRPr lang="en-US"/>
          </a:p>
        </p:txBody>
      </p:sp>
      <p:pic>
        <p:nvPicPr>
          <p:cNvPr id="4098" name="Picture 2" descr="Figure 2">
            <a:extLst>
              <a:ext uri="{FF2B5EF4-FFF2-40B4-BE49-F238E27FC236}">
                <a16:creationId xmlns:a16="http://schemas.microsoft.com/office/drawing/2014/main" id="{B8706BDB-6A1B-D581-1E50-BF47DEEC54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83893" y="2083424"/>
            <a:ext cx="3224213" cy="422847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2375A9B-B26F-AA72-A5A8-8E3B28E23DC1}"/>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Tarbuck et al. 2025, EID</a:t>
            </a:r>
          </a:p>
        </p:txBody>
      </p:sp>
    </p:spTree>
    <p:extLst>
      <p:ext uri="{BB962C8B-B14F-4D97-AF65-F5344CB8AC3E}">
        <p14:creationId xmlns:p14="http://schemas.microsoft.com/office/powerpoint/2010/main" val="3180695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2EA4A-96EA-61B5-A39B-8DB984D8F0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1EE16E-9D12-ED5D-0A1D-DB5ACB7D4AAE}"/>
              </a:ext>
            </a:extLst>
          </p:cNvPr>
          <p:cNvSpPr>
            <a:spLocks noGrp="1"/>
          </p:cNvSpPr>
          <p:nvPr>
            <p:ph type="title"/>
          </p:nvPr>
        </p:nvSpPr>
        <p:spPr/>
        <p:txBody>
          <a:bodyPr/>
          <a:lstStyle/>
          <a:p>
            <a:r>
              <a:rPr lang="en-US" dirty="0"/>
              <a:t>Introductions </a:t>
            </a:r>
          </a:p>
        </p:txBody>
      </p:sp>
      <p:sp>
        <p:nvSpPr>
          <p:cNvPr id="6" name="TextBox 5">
            <a:extLst>
              <a:ext uri="{FF2B5EF4-FFF2-40B4-BE49-F238E27FC236}">
                <a16:creationId xmlns:a16="http://schemas.microsoft.com/office/drawing/2014/main" id="{69975E89-D83E-80CB-95DA-796C89215C8A}"/>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latin typeface="Helvetica" pitchFamily="2" charset="0"/>
                <a:ea typeface="Times New Roman" panose="02020603050405020304" pitchFamily="18" charset="0"/>
                <a:cs typeface="Arial" panose="020B0604020202020204" pitchFamily="34" charset="0"/>
              </a:rPr>
              <a:t>M</a:t>
            </a: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ueller et al. 2021, STM</a:t>
            </a:r>
          </a:p>
        </p:txBody>
      </p:sp>
      <p:pic>
        <p:nvPicPr>
          <p:cNvPr id="6146" name="Picture 2">
            <a:extLst>
              <a:ext uri="{FF2B5EF4-FFF2-40B4-BE49-F238E27FC236}">
                <a16:creationId xmlns:a16="http://schemas.microsoft.com/office/drawing/2014/main" id="{4B3FE979-EA1D-386D-A747-7CDC42542B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60273" y="1938169"/>
            <a:ext cx="7293527" cy="4126249"/>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FDB82239-ABAB-6D5D-27C0-A581AA34D110}"/>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16919" y="2570059"/>
            <a:ext cx="3731337" cy="2862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72500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E561D-39E4-F99A-0275-FC7B1F10FA6A}"/>
              </a:ext>
            </a:extLst>
          </p:cNvPr>
          <p:cNvSpPr>
            <a:spLocks noGrp="1"/>
          </p:cNvSpPr>
          <p:nvPr>
            <p:ph type="title"/>
          </p:nvPr>
        </p:nvSpPr>
        <p:spPr/>
        <p:txBody>
          <a:bodyPr/>
          <a:lstStyle/>
          <a:p>
            <a:r>
              <a:rPr lang="en-US" dirty="0"/>
              <a:t>Alternative Approaches</a:t>
            </a:r>
          </a:p>
        </p:txBody>
      </p:sp>
      <p:sp>
        <p:nvSpPr>
          <p:cNvPr id="3" name="Content Placeholder 2">
            <a:extLst>
              <a:ext uri="{FF2B5EF4-FFF2-40B4-BE49-F238E27FC236}">
                <a16:creationId xmlns:a16="http://schemas.microsoft.com/office/drawing/2014/main" id="{0823B3CF-7ADE-1A6B-3EDA-FEE6F1728152}"/>
              </a:ext>
            </a:extLst>
          </p:cNvPr>
          <p:cNvSpPr>
            <a:spLocks noGrp="1"/>
          </p:cNvSpPr>
          <p:nvPr>
            <p:ph idx="1"/>
          </p:nvPr>
        </p:nvSpPr>
        <p:spPr/>
        <p:txBody>
          <a:bodyPr/>
          <a:lstStyle/>
          <a:p>
            <a:r>
              <a:rPr lang="en-US" dirty="0"/>
              <a:t>Parsimony</a:t>
            </a:r>
          </a:p>
          <a:p>
            <a:r>
              <a:rPr lang="en-US" dirty="0"/>
              <a:t>Maximum Likelihood</a:t>
            </a:r>
          </a:p>
          <a:p>
            <a:r>
              <a:rPr lang="en-US" dirty="0"/>
              <a:t>Bayesian </a:t>
            </a:r>
            <a:r>
              <a:rPr lang="en-US" dirty="0" err="1"/>
              <a:t>phylodynamics</a:t>
            </a:r>
            <a:r>
              <a:rPr lang="en-US" dirty="0"/>
              <a:t> with mutation annotated trees</a:t>
            </a:r>
          </a:p>
        </p:txBody>
      </p:sp>
    </p:spTree>
    <p:extLst>
      <p:ext uri="{BB962C8B-B14F-4D97-AF65-F5344CB8AC3E}">
        <p14:creationId xmlns:p14="http://schemas.microsoft.com/office/powerpoint/2010/main" val="6526635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4FE9E-54DB-FD6A-D933-300EBE6E64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A88DD0-064F-BC38-4460-D2A5B7F4DCB5}"/>
              </a:ext>
            </a:extLst>
          </p:cNvPr>
          <p:cNvSpPr>
            <a:spLocks noGrp="1"/>
          </p:cNvSpPr>
          <p:nvPr>
            <p:ph type="title"/>
          </p:nvPr>
        </p:nvSpPr>
        <p:spPr/>
        <p:txBody>
          <a:bodyPr/>
          <a:lstStyle/>
          <a:p>
            <a:r>
              <a:rPr lang="en-US" dirty="0"/>
              <a:t>Parsimony</a:t>
            </a:r>
          </a:p>
        </p:txBody>
      </p:sp>
      <p:pic>
        <p:nvPicPr>
          <p:cNvPr id="5" name="Content Placeholder 4" descr="A screenshot of a computer&#10;&#10;AI-generated content may be incorrect.">
            <a:extLst>
              <a:ext uri="{FF2B5EF4-FFF2-40B4-BE49-F238E27FC236}">
                <a16:creationId xmlns:a16="http://schemas.microsoft.com/office/drawing/2014/main" id="{1F0EE4F8-E79E-0F56-8725-04DDF721DAE3}"/>
              </a:ext>
            </a:extLst>
          </p:cNvPr>
          <p:cNvPicPr>
            <a:picLocks noGrp="1" noChangeAspect="1"/>
          </p:cNvPicPr>
          <p:nvPr>
            <p:ph idx="1"/>
          </p:nvPr>
        </p:nvPicPr>
        <p:blipFill>
          <a:blip r:embed="rId2"/>
          <a:stretch>
            <a:fillRect/>
          </a:stretch>
        </p:blipFill>
        <p:spPr>
          <a:xfrm>
            <a:off x="2116836" y="1391478"/>
            <a:ext cx="7296387" cy="4785485"/>
          </a:xfrm>
        </p:spPr>
      </p:pic>
    </p:spTree>
    <p:extLst>
      <p:ext uri="{BB962C8B-B14F-4D97-AF65-F5344CB8AC3E}">
        <p14:creationId xmlns:p14="http://schemas.microsoft.com/office/powerpoint/2010/main" val="1131536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5A27A-97BC-B538-0688-B096B5E40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7058F2-BCF1-1198-F61C-83BB76F57571}"/>
              </a:ext>
            </a:extLst>
          </p:cNvPr>
          <p:cNvSpPr>
            <a:spLocks noGrp="1"/>
          </p:cNvSpPr>
          <p:nvPr>
            <p:ph type="title"/>
          </p:nvPr>
        </p:nvSpPr>
        <p:spPr/>
        <p:txBody>
          <a:bodyPr/>
          <a:lstStyle/>
          <a:p>
            <a:r>
              <a:rPr lang="en-US" dirty="0"/>
              <a:t>https://</a:t>
            </a:r>
            <a:r>
              <a:rPr lang="en-US" dirty="0" err="1"/>
              <a:t>taxonium.org</a:t>
            </a:r>
            <a:r>
              <a:rPr lang="en-US" dirty="0"/>
              <a:t>/</a:t>
            </a:r>
          </a:p>
        </p:txBody>
      </p:sp>
      <p:pic>
        <p:nvPicPr>
          <p:cNvPr id="7" name="Content Placeholder 6" descr="A screen shot of a computer error&#10;&#10;AI-generated content may be incorrect.">
            <a:extLst>
              <a:ext uri="{FF2B5EF4-FFF2-40B4-BE49-F238E27FC236}">
                <a16:creationId xmlns:a16="http://schemas.microsoft.com/office/drawing/2014/main" id="{A3C4AAB5-92E4-92F2-0CCB-461A59129AE3}"/>
              </a:ext>
            </a:extLst>
          </p:cNvPr>
          <p:cNvPicPr>
            <a:picLocks noGrp="1" noChangeAspect="1"/>
          </p:cNvPicPr>
          <p:nvPr>
            <p:ph idx="1"/>
          </p:nvPr>
        </p:nvPicPr>
        <p:blipFill>
          <a:blip r:embed="rId2"/>
          <a:stretch>
            <a:fillRect/>
          </a:stretch>
        </p:blipFill>
        <p:spPr>
          <a:xfrm>
            <a:off x="2830750" y="1825625"/>
            <a:ext cx="6530499" cy="4351338"/>
          </a:xfrm>
        </p:spPr>
      </p:pic>
    </p:spTree>
    <p:extLst>
      <p:ext uri="{BB962C8B-B14F-4D97-AF65-F5344CB8AC3E}">
        <p14:creationId xmlns:p14="http://schemas.microsoft.com/office/powerpoint/2010/main" val="629480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5A67C-AD85-77DA-8C27-62AFE26748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C061F5-D4E5-9273-A445-8390BF08D97D}"/>
              </a:ext>
            </a:extLst>
          </p:cNvPr>
          <p:cNvSpPr>
            <a:spLocks noGrp="1"/>
          </p:cNvSpPr>
          <p:nvPr>
            <p:ph type="title"/>
          </p:nvPr>
        </p:nvSpPr>
        <p:spPr/>
        <p:txBody>
          <a:bodyPr/>
          <a:lstStyle/>
          <a:p>
            <a:r>
              <a:rPr lang="en-US" dirty="0"/>
              <a:t>Maximum Likelihood</a:t>
            </a:r>
          </a:p>
        </p:txBody>
      </p:sp>
      <p:sp>
        <p:nvSpPr>
          <p:cNvPr id="4" name="Content Placeholder 3">
            <a:extLst>
              <a:ext uri="{FF2B5EF4-FFF2-40B4-BE49-F238E27FC236}">
                <a16:creationId xmlns:a16="http://schemas.microsoft.com/office/drawing/2014/main" id="{2CFF1DA5-4242-4231-6E96-F0F29AE79964}"/>
              </a:ext>
            </a:extLst>
          </p:cNvPr>
          <p:cNvSpPr>
            <a:spLocks noGrp="1"/>
          </p:cNvSpPr>
          <p:nvPr>
            <p:ph idx="1"/>
          </p:nvPr>
        </p:nvSpPr>
        <p:spPr/>
        <p:txBody>
          <a:bodyPr/>
          <a:lstStyle/>
          <a:p>
            <a:r>
              <a:rPr lang="en-US" dirty="0"/>
              <a:t>MLE tree is inferred using e.g. </a:t>
            </a:r>
            <a:r>
              <a:rPr lang="en-US" dirty="0" err="1"/>
              <a:t>raxml</a:t>
            </a:r>
            <a:r>
              <a:rPr lang="en-US" dirty="0"/>
              <a:t>, </a:t>
            </a:r>
            <a:r>
              <a:rPr lang="en-US" dirty="0" err="1"/>
              <a:t>Iqtree</a:t>
            </a:r>
            <a:r>
              <a:rPr lang="en-US" dirty="0"/>
              <a:t>, </a:t>
            </a:r>
            <a:r>
              <a:rPr lang="en-US" dirty="0" err="1"/>
              <a:t>fasttree</a:t>
            </a:r>
            <a:endParaRPr lang="en-US" dirty="0"/>
          </a:p>
        </p:txBody>
      </p:sp>
      <p:pic>
        <p:nvPicPr>
          <p:cNvPr id="6" name="Picture 5" descr="A screenshot of a computer&#10;&#10;AI-generated content may be incorrect.">
            <a:extLst>
              <a:ext uri="{FF2B5EF4-FFF2-40B4-BE49-F238E27FC236}">
                <a16:creationId xmlns:a16="http://schemas.microsoft.com/office/drawing/2014/main" id="{831EE3AA-6648-E12B-1C13-B7661A3871AA}"/>
              </a:ext>
            </a:extLst>
          </p:cNvPr>
          <p:cNvPicPr>
            <a:picLocks noChangeAspect="1"/>
          </p:cNvPicPr>
          <p:nvPr/>
        </p:nvPicPr>
        <p:blipFill>
          <a:blip r:embed="rId2"/>
          <a:stretch>
            <a:fillRect/>
          </a:stretch>
        </p:blipFill>
        <p:spPr>
          <a:xfrm>
            <a:off x="314915" y="2915478"/>
            <a:ext cx="3225619" cy="31930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73BC75D9-FFD1-252B-8252-0E1140756EEB}"/>
              </a:ext>
            </a:extLst>
          </p:cNvPr>
          <p:cNvPicPr>
            <a:picLocks noChangeAspect="1"/>
          </p:cNvPicPr>
          <p:nvPr/>
        </p:nvPicPr>
        <p:blipFill>
          <a:blip r:embed="rId3"/>
          <a:stretch>
            <a:fillRect/>
          </a:stretch>
        </p:blipFill>
        <p:spPr>
          <a:xfrm>
            <a:off x="4224968" y="2915478"/>
            <a:ext cx="3903248" cy="2589498"/>
          </a:xfrm>
          <a:prstGeom prst="rect">
            <a:avLst/>
          </a:prstGeom>
        </p:spPr>
      </p:pic>
      <p:pic>
        <p:nvPicPr>
          <p:cNvPr id="11" name="Picture 10" descr="A blue and white document with black text&#10;&#10;AI-generated content may be incorrect.">
            <a:extLst>
              <a:ext uri="{FF2B5EF4-FFF2-40B4-BE49-F238E27FC236}">
                <a16:creationId xmlns:a16="http://schemas.microsoft.com/office/drawing/2014/main" id="{D16DAE04-102E-2082-FACD-F4E5784212F0}"/>
              </a:ext>
            </a:extLst>
          </p:cNvPr>
          <p:cNvPicPr>
            <a:picLocks noChangeAspect="1"/>
          </p:cNvPicPr>
          <p:nvPr/>
        </p:nvPicPr>
        <p:blipFill>
          <a:blip r:embed="rId4"/>
          <a:stretch>
            <a:fillRect/>
          </a:stretch>
        </p:blipFill>
        <p:spPr>
          <a:xfrm>
            <a:off x="8626756" y="3031182"/>
            <a:ext cx="3411478" cy="2757611"/>
          </a:xfrm>
          <a:prstGeom prst="rect">
            <a:avLst/>
          </a:prstGeom>
        </p:spPr>
      </p:pic>
    </p:spTree>
    <p:extLst>
      <p:ext uri="{BB962C8B-B14F-4D97-AF65-F5344CB8AC3E}">
        <p14:creationId xmlns:p14="http://schemas.microsoft.com/office/powerpoint/2010/main" val="1850978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529E2-041B-D022-174B-CFE8D08D8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D6316E-32EA-9E8D-AE54-B0F59EDE24CB}"/>
              </a:ext>
            </a:extLst>
          </p:cNvPr>
          <p:cNvSpPr>
            <a:spLocks noGrp="1"/>
          </p:cNvSpPr>
          <p:nvPr>
            <p:ph type="title"/>
          </p:nvPr>
        </p:nvSpPr>
        <p:spPr/>
        <p:txBody>
          <a:bodyPr/>
          <a:lstStyle/>
          <a:p>
            <a:r>
              <a:rPr lang="en-US" dirty="0"/>
              <a:t>Maximum Likelihood</a:t>
            </a:r>
          </a:p>
        </p:txBody>
      </p:sp>
      <p:sp>
        <p:nvSpPr>
          <p:cNvPr id="4" name="Content Placeholder 3">
            <a:extLst>
              <a:ext uri="{FF2B5EF4-FFF2-40B4-BE49-F238E27FC236}">
                <a16:creationId xmlns:a16="http://schemas.microsoft.com/office/drawing/2014/main" id="{A4147215-C500-B4B9-F254-227AE74A7FD4}"/>
              </a:ext>
            </a:extLst>
          </p:cNvPr>
          <p:cNvSpPr>
            <a:spLocks noGrp="1"/>
          </p:cNvSpPr>
          <p:nvPr>
            <p:ph idx="1"/>
          </p:nvPr>
        </p:nvSpPr>
        <p:spPr/>
        <p:txBody>
          <a:bodyPr/>
          <a:lstStyle/>
          <a:p>
            <a:r>
              <a:rPr lang="en-US" dirty="0"/>
              <a:t>Timed phylogenetic tree is inferred from the MLE tree and sampling times</a:t>
            </a:r>
          </a:p>
        </p:txBody>
      </p:sp>
      <p:pic>
        <p:nvPicPr>
          <p:cNvPr id="5" name="Picture 4" descr="A screenshot of a medical report&#10;&#10;AI-generated content may be incorrect.">
            <a:extLst>
              <a:ext uri="{FF2B5EF4-FFF2-40B4-BE49-F238E27FC236}">
                <a16:creationId xmlns:a16="http://schemas.microsoft.com/office/drawing/2014/main" id="{ECABE417-A4B0-FD96-6002-DFB38E194975}"/>
              </a:ext>
            </a:extLst>
          </p:cNvPr>
          <p:cNvPicPr>
            <a:picLocks noChangeAspect="1"/>
          </p:cNvPicPr>
          <p:nvPr/>
        </p:nvPicPr>
        <p:blipFill>
          <a:blip r:embed="rId2"/>
          <a:stretch>
            <a:fillRect/>
          </a:stretch>
        </p:blipFill>
        <p:spPr>
          <a:xfrm>
            <a:off x="825612" y="2692112"/>
            <a:ext cx="5414847" cy="3619788"/>
          </a:xfrm>
          <a:prstGeom prst="rect">
            <a:avLst/>
          </a:prstGeom>
        </p:spPr>
      </p:pic>
      <p:pic>
        <p:nvPicPr>
          <p:cNvPr id="8" name="Picture 7" descr="A close up of a document&#10;&#10;AI-generated content may be incorrect.">
            <a:extLst>
              <a:ext uri="{FF2B5EF4-FFF2-40B4-BE49-F238E27FC236}">
                <a16:creationId xmlns:a16="http://schemas.microsoft.com/office/drawing/2014/main" id="{DD2D6ADF-2A47-1062-DCAA-0693C1CEFF00}"/>
              </a:ext>
            </a:extLst>
          </p:cNvPr>
          <p:cNvPicPr>
            <a:picLocks noChangeAspect="1"/>
          </p:cNvPicPr>
          <p:nvPr/>
        </p:nvPicPr>
        <p:blipFill>
          <a:blip r:embed="rId3"/>
          <a:stretch>
            <a:fillRect/>
          </a:stretch>
        </p:blipFill>
        <p:spPr>
          <a:xfrm>
            <a:off x="6552819" y="2791952"/>
            <a:ext cx="5113341" cy="3519948"/>
          </a:xfrm>
          <a:prstGeom prst="rect">
            <a:avLst/>
          </a:prstGeom>
        </p:spPr>
      </p:pic>
    </p:spTree>
    <p:extLst>
      <p:ext uri="{BB962C8B-B14F-4D97-AF65-F5344CB8AC3E}">
        <p14:creationId xmlns:p14="http://schemas.microsoft.com/office/powerpoint/2010/main" val="30933413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E8D9B-BA8B-8644-672E-3EB54A1BF19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E309E995-C425-E454-A701-4B32BE12B484}"/>
              </a:ext>
            </a:extLst>
          </p:cNvPr>
          <p:cNvSpPr>
            <a:spLocks noGrp="1"/>
          </p:cNvSpPr>
          <p:nvPr>
            <p:ph idx="1"/>
          </p:nvPr>
        </p:nvSpPr>
        <p:spPr/>
        <p:txBody>
          <a:bodyPr/>
          <a:lstStyle/>
          <a:p>
            <a:endParaRPr lang="en-US" dirty="0"/>
          </a:p>
        </p:txBody>
      </p:sp>
      <p:pic>
        <p:nvPicPr>
          <p:cNvPr id="6" name="Picture 5" descr="A graph of a virus&#10;&#10;AI-generated content may be incorrect.">
            <a:extLst>
              <a:ext uri="{FF2B5EF4-FFF2-40B4-BE49-F238E27FC236}">
                <a16:creationId xmlns:a16="http://schemas.microsoft.com/office/drawing/2014/main" id="{CC03AEFA-2230-98AF-2201-913BFAFDC2E4}"/>
              </a:ext>
            </a:extLst>
          </p:cNvPr>
          <p:cNvPicPr>
            <a:picLocks noChangeAspect="1"/>
          </p:cNvPicPr>
          <p:nvPr/>
        </p:nvPicPr>
        <p:blipFill>
          <a:blip r:embed="rId2"/>
          <a:stretch>
            <a:fillRect/>
          </a:stretch>
        </p:blipFill>
        <p:spPr>
          <a:xfrm>
            <a:off x="838200" y="737508"/>
            <a:ext cx="10515599" cy="5382984"/>
          </a:xfrm>
          <a:prstGeom prst="rect">
            <a:avLst/>
          </a:prstGeom>
        </p:spPr>
      </p:pic>
      <p:sp>
        <p:nvSpPr>
          <p:cNvPr id="9" name="Title 8">
            <a:extLst>
              <a:ext uri="{FF2B5EF4-FFF2-40B4-BE49-F238E27FC236}">
                <a16:creationId xmlns:a16="http://schemas.microsoft.com/office/drawing/2014/main" id="{5B9BD782-3B11-F335-4965-F170F907660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7929113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44E58-737E-2C67-3A13-F4F4E89F3734}"/>
            </a:ext>
          </a:extLst>
        </p:cNvPr>
        <p:cNvGrpSpPr/>
        <p:nvPr/>
      </p:nvGrpSpPr>
      <p:grpSpPr>
        <a:xfrm>
          <a:off x="0" y="0"/>
          <a:ext cx="0" cy="0"/>
          <a:chOff x="0" y="0"/>
          <a:chExt cx="0" cy="0"/>
        </a:xfrm>
      </p:grpSpPr>
      <p:pic>
        <p:nvPicPr>
          <p:cNvPr id="3" name="Content Placeholder 2" descr="A screenshot of a blue screen&#10;&#10;AI-generated content may be incorrect.">
            <a:extLst>
              <a:ext uri="{FF2B5EF4-FFF2-40B4-BE49-F238E27FC236}">
                <a16:creationId xmlns:a16="http://schemas.microsoft.com/office/drawing/2014/main" id="{D6BF3986-641A-339C-65EE-56CB8EE48F80}"/>
              </a:ext>
            </a:extLst>
          </p:cNvPr>
          <p:cNvPicPr>
            <a:picLocks noGrp="1" noChangeAspect="1"/>
          </p:cNvPicPr>
          <p:nvPr>
            <p:ph idx="1"/>
          </p:nvPr>
        </p:nvPicPr>
        <p:blipFill>
          <a:blip r:embed="rId2"/>
          <a:stretch>
            <a:fillRect/>
          </a:stretch>
        </p:blipFill>
        <p:spPr>
          <a:xfrm>
            <a:off x="3737115" y="1754993"/>
            <a:ext cx="4253947" cy="4737882"/>
          </a:xfrm>
        </p:spPr>
      </p:pic>
      <p:sp>
        <p:nvSpPr>
          <p:cNvPr id="9" name="Title 8">
            <a:extLst>
              <a:ext uri="{FF2B5EF4-FFF2-40B4-BE49-F238E27FC236}">
                <a16:creationId xmlns:a16="http://schemas.microsoft.com/office/drawing/2014/main" id="{ED4F893D-F11B-2DF9-CB72-0EC3F01C79AD}"/>
              </a:ext>
            </a:extLst>
          </p:cNvPr>
          <p:cNvSpPr>
            <a:spLocks noGrp="1"/>
          </p:cNvSpPr>
          <p:nvPr>
            <p:ph type="title"/>
          </p:nvPr>
        </p:nvSpPr>
        <p:spPr/>
        <p:txBody>
          <a:bodyPr>
            <a:normAutofit/>
          </a:bodyPr>
          <a:lstStyle/>
          <a:p>
            <a:r>
              <a:rPr lang="en-US" dirty="0"/>
              <a:t>Bayesian </a:t>
            </a:r>
            <a:r>
              <a:rPr lang="en-US" dirty="0" err="1"/>
              <a:t>phylodynamics</a:t>
            </a:r>
            <a:r>
              <a:rPr lang="en-US" dirty="0"/>
              <a:t> with mutation annotated trees -&gt; https://</a:t>
            </a:r>
            <a:r>
              <a:rPr lang="en-US" dirty="0" err="1"/>
              <a:t>delphy.fathom.info</a:t>
            </a:r>
            <a:r>
              <a:rPr lang="en-US" dirty="0"/>
              <a:t>/</a:t>
            </a:r>
          </a:p>
        </p:txBody>
      </p:sp>
    </p:spTree>
    <p:extLst>
      <p:ext uri="{BB962C8B-B14F-4D97-AF65-F5344CB8AC3E}">
        <p14:creationId xmlns:p14="http://schemas.microsoft.com/office/powerpoint/2010/main" val="32064712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AF7C0-6715-9F40-5A3C-BB9EB70290DE}"/>
            </a:ext>
          </a:extLst>
        </p:cNvPr>
        <p:cNvGrpSpPr/>
        <p:nvPr/>
      </p:nvGrpSpPr>
      <p:grpSpPr>
        <a:xfrm>
          <a:off x="0" y="0"/>
          <a:ext cx="0" cy="0"/>
          <a:chOff x="0" y="0"/>
          <a:chExt cx="0" cy="0"/>
        </a:xfrm>
      </p:grpSpPr>
      <p:pic>
        <p:nvPicPr>
          <p:cNvPr id="11" name="Content Placeholder 10" descr="A diagram of a tree&#10;&#10;AI-generated content may be incorrect.">
            <a:extLst>
              <a:ext uri="{FF2B5EF4-FFF2-40B4-BE49-F238E27FC236}">
                <a16:creationId xmlns:a16="http://schemas.microsoft.com/office/drawing/2014/main" id="{B694D0B1-DAF5-5B76-2301-888326732A2F}"/>
              </a:ext>
            </a:extLst>
          </p:cNvPr>
          <p:cNvPicPr>
            <a:picLocks noGrp="1" noChangeAspect="1"/>
          </p:cNvPicPr>
          <p:nvPr>
            <p:ph idx="1"/>
          </p:nvPr>
        </p:nvPicPr>
        <p:blipFill>
          <a:blip r:embed="rId2"/>
          <a:stretch>
            <a:fillRect/>
          </a:stretch>
        </p:blipFill>
        <p:spPr>
          <a:xfrm>
            <a:off x="2730788" y="281954"/>
            <a:ext cx="6730423" cy="6294092"/>
          </a:xfrm>
        </p:spPr>
      </p:pic>
      <p:sp>
        <p:nvSpPr>
          <p:cNvPr id="13" name="Title 12">
            <a:extLst>
              <a:ext uri="{FF2B5EF4-FFF2-40B4-BE49-F238E27FC236}">
                <a16:creationId xmlns:a16="http://schemas.microsoft.com/office/drawing/2014/main" id="{C5F9E435-13FE-36CE-EF2A-9E32B92046E2}"/>
              </a:ext>
            </a:extLst>
          </p:cNvPr>
          <p:cNvSpPr>
            <a:spLocks noGrp="1"/>
          </p:cNvSpPr>
          <p:nvPr>
            <p:ph type="title"/>
          </p:nvPr>
        </p:nvSpPr>
        <p:spPr/>
        <p:txBody>
          <a:bodyPr/>
          <a:lstStyle/>
          <a:p>
            <a:endParaRPr lang="en-US"/>
          </a:p>
        </p:txBody>
      </p:sp>
      <p:sp>
        <p:nvSpPr>
          <p:cNvPr id="14" name="TextBox 13">
            <a:extLst>
              <a:ext uri="{FF2B5EF4-FFF2-40B4-BE49-F238E27FC236}">
                <a16:creationId xmlns:a16="http://schemas.microsoft.com/office/drawing/2014/main" id="{B38CEC12-1362-0055-1B5C-A31F6BFFB7C5}"/>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latin typeface="Helvetica" pitchFamily="2" charset="0"/>
                <a:ea typeface="Times New Roman" panose="02020603050405020304" pitchFamily="18" charset="0"/>
                <a:cs typeface="Arial" panose="020B0604020202020204" pitchFamily="34" charset="0"/>
              </a:rPr>
              <a:t>Bouckaert</a:t>
            </a: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 et al. 2025, </a:t>
            </a:r>
            <a:r>
              <a:rPr lang="en-US" sz="1400" dirty="0" err="1">
                <a:solidFill>
                  <a:srgbClr val="000000"/>
                </a:solidFill>
                <a:effectLst/>
                <a:latin typeface="Helvetica" pitchFamily="2" charset="0"/>
                <a:ea typeface="Times New Roman" panose="02020603050405020304" pitchFamily="18" charset="0"/>
                <a:cs typeface="Arial" panose="020B0604020202020204" pitchFamily="34" charset="0"/>
              </a:rPr>
              <a:t>BioRxiv</a:t>
            </a:r>
            <a:endParaRPr lang="en-US" sz="1400" dirty="0">
              <a:solidFill>
                <a:srgbClr val="000000"/>
              </a:solidFill>
              <a:effectLst/>
              <a:latin typeface="Helvetica" pitchFamily="2"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6000184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91C68-4367-C122-CF5A-37A5E5F2185D}"/>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061307E-72B6-009E-655E-7E6467ECA8B1}"/>
              </a:ext>
            </a:extLst>
          </p:cNvPr>
          <p:cNvSpPr>
            <a:spLocks noGrp="1"/>
          </p:cNvSpPr>
          <p:nvPr>
            <p:ph type="title"/>
          </p:nvPr>
        </p:nvSpPr>
        <p:spPr/>
        <p:txBody>
          <a:bodyPr>
            <a:normAutofit/>
          </a:bodyPr>
          <a:lstStyle/>
          <a:p>
            <a:r>
              <a:rPr lang="en-US" dirty="0"/>
              <a:t>Faster BEAST using the </a:t>
            </a:r>
            <a:r>
              <a:rPr lang="en-US" dirty="0" err="1"/>
              <a:t>TargetedBEAST</a:t>
            </a:r>
            <a:r>
              <a:rPr lang="en-US" dirty="0"/>
              <a:t> package</a:t>
            </a:r>
          </a:p>
        </p:txBody>
      </p:sp>
      <p:pic>
        <p:nvPicPr>
          <p:cNvPr id="5" name="Content Placeholder 4" descr="A graph of different colored dots&#10;&#10;AI-generated content may be incorrect.">
            <a:extLst>
              <a:ext uri="{FF2B5EF4-FFF2-40B4-BE49-F238E27FC236}">
                <a16:creationId xmlns:a16="http://schemas.microsoft.com/office/drawing/2014/main" id="{15696353-4F42-6594-44B9-6EE1ECBD9CC2}"/>
              </a:ext>
            </a:extLst>
          </p:cNvPr>
          <p:cNvPicPr>
            <a:picLocks noGrp="1" noChangeAspect="1"/>
          </p:cNvPicPr>
          <p:nvPr>
            <p:ph idx="1"/>
          </p:nvPr>
        </p:nvPicPr>
        <p:blipFill>
          <a:blip r:embed="rId2"/>
          <a:stretch>
            <a:fillRect/>
          </a:stretch>
        </p:blipFill>
        <p:spPr>
          <a:xfrm>
            <a:off x="1438275" y="2253640"/>
            <a:ext cx="9315450" cy="3542495"/>
          </a:xfrm>
        </p:spPr>
      </p:pic>
      <p:sp>
        <p:nvSpPr>
          <p:cNvPr id="7" name="TextBox 6">
            <a:extLst>
              <a:ext uri="{FF2B5EF4-FFF2-40B4-BE49-F238E27FC236}">
                <a16:creationId xmlns:a16="http://schemas.microsoft.com/office/drawing/2014/main" id="{09702D47-40AA-AEBC-92B1-0B8CFE5DFA46}"/>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latin typeface="Helvetica" pitchFamily="2" charset="0"/>
                <a:ea typeface="Times New Roman" panose="02020603050405020304" pitchFamily="18" charset="0"/>
                <a:cs typeface="Arial" panose="020B0604020202020204" pitchFamily="34" charset="0"/>
              </a:rPr>
              <a:t>Bouckaert</a:t>
            </a: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 et al. 2025, </a:t>
            </a:r>
            <a:r>
              <a:rPr lang="en-US" sz="1400" dirty="0" err="1">
                <a:solidFill>
                  <a:srgbClr val="000000"/>
                </a:solidFill>
                <a:effectLst/>
                <a:latin typeface="Helvetica" pitchFamily="2" charset="0"/>
                <a:ea typeface="Times New Roman" panose="02020603050405020304" pitchFamily="18" charset="0"/>
                <a:cs typeface="Arial" panose="020B0604020202020204" pitchFamily="34" charset="0"/>
              </a:rPr>
              <a:t>BioRxiv</a:t>
            </a:r>
            <a:endParaRPr lang="en-US" sz="1400" dirty="0">
              <a:solidFill>
                <a:srgbClr val="000000"/>
              </a:solidFill>
              <a:effectLst/>
              <a:latin typeface="Helvetica" pitchFamily="2"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09388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29BB9-D390-41FB-4FBF-301BD534B90B}"/>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237D6920-3F52-1865-76BD-714198347EF2}"/>
              </a:ext>
            </a:extLst>
          </p:cNvPr>
          <p:cNvSpPr>
            <a:spLocks noGrp="1"/>
          </p:cNvSpPr>
          <p:nvPr>
            <p:ph type="title"/>
          </p:nvPr>
        </p:nvSpPr>
        <p:spPr/>
        <p:txBody>
          <a:bodyPr>
            <a:normAutofit/>
          </a:bodyPr>
          <a:lstStyle/>
          <a:p>
            <a:endParaRPr lang="en-US" dirty="0"/>
          </a:p>
        </p:txBody>
      </p:sp>
      <p:pic>
        <p:nvPicPr>
          <p:cNvPr id="6" name="Content Placeholder 5">
            <a:extLst>
              <a:ext uri="{FF2B5EF4-FFF2-40B4-BE49-F238E27FC236}">
                <a16:creationId xmlns:a16="http://schemas.microsoft.com/office/drawing/2014/main" id="{6BA35FED-5565-099B-A628-EF22BC7D40AB}"/>
              </a:ext>
            </a:extLst>
          </p:cNvPr>
          <p:cNvPicPr>
            <a:picLocks noGrp="1" noChangeAspect="1"/>
          </p:cNvPicPr>
          <p:nvPr>
            <p:ph idx="1"/>
          </p:nvPr>
        </p:nvPicPr>
        <p:blipFill>
          <a:blip r:embed="rId2"/>
          <a:stretch>
            <a:fillRect/>
          </a:stretch>
        </p:blipFill>
        <p:spPr>
          <a:xfrm>
            <a:off x="2260613" y="365125"/>
            <a:ext cx="8558670" cy="6031189"/>
          </a:xfrm>
        </p:spPr>
      </p:pic>
      <p:sp>
        <p:nvSpPr>
          <p:cNvPr id="2" name="TextBox 1">
            <a:extLst>
              <a:ext uri="{FF2B5EF4-FFF2-40B4-BE49-F238E27FC236}">
                <a16:creationId xmlns:a16="http://schemas.microsoft.com/office/drawing/2014/main" id="{823191E6-6223-37E5-7870-20AC4C27DD1A}"/>
              </a:ext>
            </a:extLst>
          </p:cNvPr>
          <p:cNvSpPr txBox="1"/>
          <p:nvPr/>
        </p:nvSpPr>
        <p:spPr>
          <a:xfrm>
            <a:off x="6539948" y="6550223"/>
            <a:ext cx="5652052" cy="307777"/>
          </a:xfrm>
          <a:prstGeom prst="rect">
            <a:avLst/>
          </a:prstGeom>
          <a:noFill/>
        </p:spPr>
        <p:txBody>
          <a:bodyPr wrap="square" rtlCol="0" anchor="b" anchorCtr="0">
            <a:spAutoFit/>
          </a:bodyPr>
          <a:lstStyle/>
          <a:p>
            <a:pPr algn="r"/>
            <a:r>
              <a:rPr lang="en-US" sz="1400" dirty="0">
                <a:solidFill>
                  <a:srgbClr val="000000"/>
                </a:solidFill>
                <a:latin typeface="Helvetica" pitchFamily="2" charset="0"/>
                <a:ea typeface="Times New Roman" panose="02020603050405020304" pitchFamily="18" charset="0"/>
                <a:cs typeface="Arial" panose="020B0604020202020204" pitchFamily="34" charset="0"/>
              </a:rPr>
              <a:t>Bouckaert</a:t>
            </a:r>
            <a:r>
              <a:rPr lang="en-US" sz="1400" dirty="0">
                <a:solidFill>
                  <a:srgbClr val="000000"/>
                </a:solidFill>
                <a:effectLst/>
                <a:latin typeface="Helvetica" pitchFamily="2" charset="0"/>
                <a:ea typeface="Times New Roman" panose="02020603050405020304" pitchFamily="18" charset="0"/>
                <a:cs typeface="Arial" panose="020B0604020202020204" pitchFamily="34" charset="0"/>
              </a:rPr>
              <a:t> et al. 2025, </a:t>
            </a:r>
            <a:r>
              <a:rPr lang="en-US" sz="1400" dirty="0" err="1">
                <a:solidFill>
                  <a:srgbClr val="000000"/>
                </a:solidFill>
                <a:effectLst/>
                <a:latin typeface="Helvetica" pitchFamily="2" charset="0"/>
                <a:ea typeface="Times New Roman" panose="02020603050405020304" pitchFamily="18" charset="0"/>
                <a:cs typeface="Arial" panose="020B0604020202020204" pitchFamily="34" charset="0"/>
              </a:rPr>
              <a:t>BioRxiv</a:t>
            </a:r>
            <a:endParaRPr lang="en-US" sz="1400" dirty="0">
              <a:solidFill>
                <a:srgbClr val="000000"/>
              </a:solidFill>
              <a:effectLst/>
              <a:latin typeface="Helvetica" pitchFamily="2"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17336620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353</TotalTime>
  <Words>165</Words>
  <Application>Microsoft Macintosh PowerPoint</Application>
  <PresentationFormat>Widescreen</PresentationFormat>
  <Paragraphs>31</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Aptos Display</vt:lpstr>
      <vt:lpstr>Arial</vt:lpstr>
      <vt:lpstr>Helvetica</vt:lpstr>
      <vt:lpstr>Office Theme</vt:lpstr>
      <vt:lpstr>Unsampled dynamics: HCV</vt:lpstr>
      <vt:lpstr>Unsampled dynamics: HBV</vt:lpstr>
      <vt:lpstr>Unsampled dynamics: Languages</vt:lpstr>
      <vt:lpstr>Fitness </vt:lpstr>
      <vt:lpstr>Cryptic transmission….</vt:lpstr>
      <vt:lpstr>Cross-species transmission</vt:lpstr>
      <vt:lpstr>Persistence </vt:lpstr>
      <vt:lpstr>Introductions </vt:lpstr>
      <vt:lpstr>Alternative Approaches</vt:lpstr>
      <vt:lpstr>Parsimony</vt:lpstr>
      <vt:lpstr>https://taxonium.org/</vt:lpstr>
      <vt:lpstr>Maximum Likelihood</vt:lpstr>
      <vt:lpstr>Maximum Likelihood</vt:lpstr>
      <vt:lpstr>PowerPoint Presentation</vt:lpstr>
      <vt:lpstr>Bayesian phylodynamics with mutation annotated trees -&gt; https://delphy.fathom.info/</vt:lpstr>
      <vt:lpstr>PowerPoint Presentation</vt:lpstr>
      <vt:lpstr>Faster BEAST using the TargetedBEAST package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Mueller, Nicola</dc:creator>
  <cp:lastModifiedBy>Mueller, Nicola</cp:lastModifiedBy>
  <cp:revision>3</cp:revision>
  <dcterms:created xsi:type="dcterms:W3CDTF">2025-07-16T11:25:00Z</dcterms:created>
  <dcterms:modified xsi:type="dcterms:W3CDTF">2025-07-16T17:18:13Z</dcterms:modified>
</cp:coreProperties>
</file>