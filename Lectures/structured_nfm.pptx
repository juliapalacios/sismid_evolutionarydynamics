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348" r:id="rId2"/>
    <p:sldId id="258" r:id="rId3"/>
    <p:sldId id="259" r:id="rId4"/>
    <p:sldId id="260" r:id="rId5"/>
    <p:sldId id="347" r:id="rId6"/>
    <p:sldId id="261" r:id="rId7"/>
    <p:sldId id="262" r:id="rId8"/>
    <p:sldId id="265" r:id="rId9"/>
    <p:sldId id="263" r:id="rId10"/>
    <p:sldId id="264" r:id="rId11"/>
    <p:sldId id="331" r:id="rId12"/>
    <p:sldId id="269" r:id="rId13"/>
    <p:sldId id="271" r:id="rId14"/>
    <p:sldId id="538" r:id="rId15"/>
    <p:sldId id="479" r:id="rId16"/>
    <p:sldId id="480" r:id="rId17"/>
    <p:sldId id="411" r:id="rId18"/>
    <p:sldId id="474" r:id="rId19"/>
    <p:sldId id="475" r:id="rId20"/>
    <p:sldId id="476" r:id="rId21"/>
    <p:sldId id="477" r:id="rId22"/>
    <p:sldId id="527" r:id="rId23"/>
    <p:sldId id="528" r:id="rId24"/>
    <p:sldId id="332" r:id="rId25"/>
    <p:sldId id="333" r:id="rId26"/>
    <p:sldId id="268" r:id="rId27"/>
    <p:sldId id="330" r:id="rId28"/>
    <p:sldId id="316" r:id="rId29"/>
    <p:sldId id="317" r:id="rId30"/>
    <p:sldId id="325" r:id="rId31"/>
    <p:sldId id="335" r:id="rId32"/>
    <p:sldId id="532" r:id="rId33"/>
    <p:sldId id="537" r:id="rId34"/>
    <p:sldId id="533" r:id="rId35"/>
    <p:sldId id="539" r:id="rId36"/>
    <p:sldId id="535" r:id="rId37"/>
    <p:sldId id="536" r:id="rId38"/>
    <p:sldId id="541" r:id="rId39"/>
    <p:sldId id="276" r:id="rId40"/>
    <p:sldId id="278" r:id="rId41"/>
    <p:sldId id="540" r:id="rId42"/>
    <p:sldId id="277" r:id="rId43"/>
    <p:sldId id="315" r:id="rId44"/>
    <p:sldId id="314" r:id="rId45"/>
    <p:sldId id="306" r:id="rId46"/>
    <p:sldId id="336" r:id="rId47"/>
    <p:sldId id="304" r:id="rId48"/>
    <p:sldId id="305" r:id="rId49"/>
    <p:sldId id="279" r:id="rId50"/>
    <p:sldId id="28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22E2BD-7E94-5049-8A41-55B6A804D0EF}" v="7" dt="2023-07-14T15:24:15.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45"/>
    <p:restoredTop sz="94627"/>
  </p:normalViewPr>
  <p:slideViewPr>
    <p:cSldViewPr snapToGrid="0" snapToObjects="1">
      <p:cViewPr varScale="1">
        <p:scale>
          <a:sx n="110" d="100"/>
          <a:sy n="110" d="100"/>
        </p:scale>
        <p:origin x="2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eller, Nicola F" userId="09927a30-f52b-4007-a02a-c051782fbddc" providerId="ADAL" clId="{7A22E2BD-7E94-5049-8A41-55B6A804D0EF}"/>
    <pc:docChg chg="undo custSel addSld delSld modSld">
      <pc:chgData name="Mueller, Nicola F" userId="09927a30-f52b-4007-a02a-c051782fbddc" providerId="ADAL" clId="{7A22E2BD-7E94-5049-8A41-55B6A804D0EF}" dt="2023-07-14T15:24:15.888" v="41"/>
      <pc:docMkLst>
        <pc:docMk/>
      </pc:docMkLst>
      <pc:sldChg chg="del">
        <pc:chgData name="Mueller, Nicola F" userId="09927a30-f52b-4007-a02a-c051782fbddc" providerId="ADAL" clId="{7A22E2BD-7E94-5049-8A41-55B6A804D0EF}" dt="2023-07-13T18:15:24.815" v="8" actId="2696"/>
        <pc:sldMkLst>
          <pc:docMk/>
          <pc:sldMk cId="1059075129" sldId="270"/>
        </pc:sldMkLst>
      </pc:sldChg>
      <pc:sldChg chg="add del">
        <pc:chgData name="Mueller, Nicola F" userId="09927a30-f52b-4007-a02a-c051782fbddc" providerId="ADAL" clId="{7A22E2BD-7E94-5049-8A41-55B6A804D0EF}" dt="2023-07-14T15:23:11.731" v="23" actId="2696"/>
        <pc:sldMkLst>
          <pc:docMk/>
          <pc:sldMk cId="2806359066" sldId="270"/>
        </pc:sldMkLst>
      </pc:sldChg>
      <pc:sldChg chg="addSp delSp modSp mod">
        <pc:chgData name="Mueller, Nicola F" userId="09927a30-f52b-4007-a02a-c051782fbddc" providerId="ADAL" clId="{7A22E2BD-7E94-5049-8A41-55B6A804D0EF}" dt="2023-07-14T15:24:13.013" v="39"/>
        <pc:sldMkLst>
          <pc:docMk/>
          <pc:sldMk cId="4136217665" sldId="326"/>
        </pc:sldMkLst>
        <pc:spChg chg="add del mod">
          <ac:chgData name="Mueller, Nicola F" userId="09927a30-f52b-4007-a02a-c051782fbddc" providerId="ADAL" clId="{7A22E2BD-7E94-5049-8A41-55B6A804D0EF}" dt="2023-07-14T15:24:12.700" v="38" actId="478"/>
          <ac:spMkLst>
            <pc:docMk/>
            <pc:sldMk cId="4136217665" sldId="326"/>
            <ac:spMk id="3" creationId="{97AE88B5-51BE-1AE7-13F5-DF4BF15A89A2}"/>
          </ac:spMkLst>
        </pc:spChg>
        <pc:spChg chg="add mod">
          <ac:chgData name="Mueller, Nicola F" userId="09927a30-f52b-4007-a02a-c051782fbddc" providerId="ADAL" clId="{7A22E2BD-7E94-5049-8A41-55B6A804D0EF}" dt="2023-07-14T15:24:13.013" v="39"/>
          <ac:spMkLst>
            <pc:docMk/>
            <pc:sldMk cId="4136217665" sldId="326"/>
            <ac:spMk id="4" creationId="{D9E1EDA3-6CF9-EF6A-C3F8-11A1958C6988}"/>
          </ac:spMkLst>
        </pc:spChg>
        <pc:spChg chg="del">
          <ac:chgData name="Mueller, Nicola F" userId="09927a30-f52b-4007-a02a-c051782fbddc" providerId="ADAL" clId="{7A22E2BD-7E94-5049-8A41-55B6A804D0EF}" dt="2023-07-14T15:23:46.702" v="24" actId="478"/>
          <ac:spMkLst>
            <pc:docMk/>
            <pc:sldMk cId="4136217665" sldId="326"/>
            <ac:spMk id="5" creationId="{D774B511-C1FE-BA40-998A-F7B118E93DEE}"/>
          </ac:spMkLst>
        </pc:spChg>
      </pc:sldChg>
      <pc:sldChg chg="addSp delSp modSp mod">
        <pc:chgData name="Mueller, Nicola F" userId="09927a30-f52b-4007-a02a-c051782fbddc" providerId="ADAL" clId="{7A22E2BD-7E94-5049-8A41-55B6A804D0EF}" dt="2023-07-14T15:24:09.886" v="37" actId="14100"/>
        <pc:sldMkLst>
          <pc:docMk/>
          <pc:sldMk cId="3407219302" sldId="328"/>
        </pc:sldMkLst>
        <pc:spChg chg="add mod">
          <ac:chgData name="Mueller, Nicola F" userId="09927a30-f52b-4007-a02a-c051782fbddc" providerId="ADAL" clId="{7A22E2BD-7E94-5049-8A41-55B6A804D0EF}" dt="2023-07-14T15:24:09.886" v="37" actId="14100"/>
          <ac:spMkLst>
            <pc:docMk/>
            <pc:sldMk cId="3407219302" sldId="328"/>
            <ac:spMk id="3" creationId="{75FAB86B-601C-E9B9-8EB7-CA5CD7994BA9}"/>
          </ac:spMkLst>
        </pc:spChg>
        <pc:spChg chg="del">
          <ac:chgData name="Mueller, Nicola F" userId="09927a30-f52b-4007-a02a-c051782fbddc" providerId="ADAL" clId="{7A22E2BD-7E94-5049-8A41-55B6A804D0EF}" dt="2023-07-14T15:23:50.681" v="26" actId="478"/>
          <ac:spMkLst>
            <pc:docMk/>
            <pc:sldMk cId="3407219302" sldId="328"/>
            <ac:spMk id="5" creationId="{D774B511-C1FE-BA40-998A-F7B118E93DEE}"/>
          </ac:spMkLst>
        </pc:spChg>
      </pc:sldChg>
      <pc:sldChg chg="add del">
        <pc:chgData name="Mueller, Nicola F" userId="09927a30-f52b-4007-a02a-c051782fbddc" providerId="ADAL" clId="{7A22E2BD-7E94-5049-8A41-55B6A804D0EF}" dt="2023-07-13T18:14:48.900" v="7" actId="2696"/>
        <pc:sldMkLst>
          <pc:docMk/>
          <pc:sldMk cId="607037890" sldId="332"/>
        </pc:sldMkLst>
      </pc:sldChg>
      <pc:sldChg chg="delSp mod">
        <pc:chgData name="Mueller, Nicola F" userId="09927a30-f52b-4007-a02a-c051782fbddc" providerId="ADAL" clId="{7A22E2BD-7E94-5049-8A41-55B6A804D0EF}" dt="2023-07-14T04:37:38.157" v="14" actId="478"/>
        <pc:sldMkLst>
          <pc:docMk/>
          <pc:sldMk cId="2741033191" sldId="411"/>
        </pc:sldMkLst>
        <pc:spChg chg="del">
          <ac:chgData name="Mueller, Nicola F" userId="09927a30-f52b-4007-a02a-c051782fbddc" providerId="ADAL" clId="{7A22E2BD-7E94-5049-8A41-55B6A804D0EF}" dt="2023-07-14T04:37:38.157" v="14" actId="478"/>
          <ac:spMkLst>
            <pc:docMk/>
            <pc:sldMk cId="2741033191" sldId="411"/>
            <ac:spMk id="6" creationId="{3620E487-D5B9-9D11-58EA-9A6DAC28A0E2}"/>
          </ac:spMkLst>
        </pc:spChg>
      </pc:sldChg>
      <pc:sldChg chg="addSp delSp modSp mod">
        <pc:chgData name="Mueller, Nicola F" userId="09927a30-f52b-4007-a02a-c051782fbddc" providerId="ADAL" clId="{7A22E2BD-7E94-5049-8A41-55B6A804D0EF}" dt="2023-07-14T15:24:15.888" v="41"/>
        <pc:sldMkLst>
          <pc:docMk/>
          <pc:sldMk cId="3563190549" sldId="418"/>
        </pc:sldMkLst>
        <pc:spChg chg="add mod">
          <ac:chgData name="Mueller, Nicola F" userId="09927a30-f52b-4007-a02a-c051782fbddc" providerId="ADAL" clId="{7A22E2BD-7E94-5049-8A41-55B6A804D0EF}" dt="2023-07-14T15:24:15.888" v="41"/>
          <ac:spMkLst>
            <pc:docMk/>
            <pc:sldMk cId="3563190549" sldId="418"/>
            <ac:spMk id="3" creationId="{D11456D1-FFE1-893B-CD0A-C52C37D9A41D}"/>
          </ac:spMkLst>
        </pc:spChg>
        <pc:spChg chg="del">
          <ac:chgData name="Mueller, Nicola F" userId="09927a30-f52b-4007-a02a-c051782fbddc" providerId="ADAL" clId="{7A22E2BD-7E94-5049-8A41-55B6A804D0EF}" dt="2023-07-14T15:24:15.565" v="40" actId="478"/>
          <ac:spMkLst>
            <pc:docMk/>
            <pc:sldMk cId="3563190549" sldId="418"/>
            <ac:spMk id="4" creationId="{AD7B1E16-A784-B0ED-A6AE-22D3AC5DC406}"/>
          </ac:spMkLst>
        </pc:spChg>
      </pc:sldChg>
      <pc:sldChg chg="add del">
        <pc:chgData name="Mueller, Nicola F" userId="09927a30-f52b-4007-a02a-c051782fbddc" providerId="ADAL" clId="{7A22E2BD-7E94-5049-8A41-55B6A804D0EF}" dt="2023-07-14T03:32:54.580" v="10" actId="2696"/>
        <pc:sldMkLst>
          <pc:docMk/>
          <pc:sldMk cId="750065884" sldId="468"/>
        </pc:sldMkLst>
      </pc:sldChg>
      <pc:sldChg chg="add">
        <pc:chgData name="Mueller, Nicola F" userId="09927a30-f52b-4007-a02a-c051782fbddc" providerId="ADAL" clId="{7A22E2BD-7E94-5049-8A41-55B6A804D0EF}" dt="2023-07-14T03:33:04.130" v="11"/>
        <pc:sldMkLst>
          <pc:docMk/>
          <pc:sldMk cId="2150083517" sldId="468"/>
        </pc:sldMkLst>
      </pc:sldChg>
      <pc:sldChg chg="add del">
        <pc:chgData name="Mueller, Nicola F" userId="09927a30-f52b-4007-a02a-c051782fbddc" providerId="ADAL" clId="{7A22E2BD-7E94-5049-8A41-55B6A804D0EF}" dt="2023-07-13T18:10:25.726" v="4" actId="2696"/>
        <pc:sldMkLst>
          <pc:docMk/>
          <pc:sldMk cId="3615349125" sldId="468"/>
        </pc:sldMkLst>
      </pc:sldChg>
      <pc:sldChg chg="delSp mod">
        <pc:chgData name="Mueller, Nicola F" userId="09927a30-f52b-4007-a02a-c051782fbddc" providerId="ADAL" clId="{7A22E2BD-7E94-5049-8A41-55B6A804D0EF}" dt="2023-07-14T04:37:41.532" v="15" actId="478"/>
        <pc:sldMkLst>
          <pc:docMk/>
          <pc:sldMk cId="593273527" sldId="474"/>
        </pc:sldMkLst>
        <pc:spChg chg="del">
          <ac:chgData name="Mueller, Nicola F" userId="09927a30-f52b-4007-a02a-c051782fbddc" providerId="ADAL" clId="{7A22E2BD-7E94-5049-8A41-55B6A804D0EF}" dt="2023-07-14T04:37:41.532" v="15" actId="478"/>
          <ac:spMkLst>
            <pc:docMk/>
            <pc:sldMk cId="593273527" sldId="474"/>
            <ac:spMk id="6" creationId="{3620E487-D5B9-9D11-58EA-9A6DAC28A0E2}"/>
          </ac:spMkLst>
        </pc:spChg>
      </pc:sldChg>
      <pc:sldChg chg="delSp mod">
        <pc:chgData name="Mueller, Nicola F" userId="09927a30-f52b-4007-a02a-c051782fbddc" providerId="ADAL" clId="{7A22E2BD-7E94-5049-8A41-55B6A804D0EF}" dt="2023-07-14T04:37:44.769" v="16" actId="478"/>
        <pc:sldMkLst>
          <pc:docMk/>
          <pc:sldMk cId="1494314112" sldId="475"/>
        </pc:sldMkLst>
        <pc:spChg chg="del">
          <ac:chgData name="Mueller, Nicola F" userId="09927a30-f52b-4007-a02a-c051782fbddc" providerId="ADAL" clId="{7A22E2BD-7E94-5049-8A41-55B6A804D0EF}" dt="2023-07-14T04:37:44.769" v="16" actId="478"/>
          <ac:spMkLst>
            <pc:docMk/>
            <pc:sldMk cId="1494314112" sldId="475"/>
            <ac:spMk id="6" creationId="{3620E487-D5B9-9D11-58EA-9A6DAC28A0E2}"/>
          </ac:spMkLst>
        </pc:spChg>
      </pc:sldChg>
      <pc:sldChg chg="addSp delSp mod">
        <pc:chgData name="Mueller, Nicola F" userId="09927a30-f52b-4007-a02a-c051782fbddc" providerId="ADAL" clId="{7A22E2BD-7E94-5049-8A41-55B6A804D0EF}" dt="2023-07-14T04:37:50.469" v="19" actId="478"/>
        <pc:sldMkLst>
          <pc:docMk/>
          <pc:sldMk cId="2842946094" sldId="476"/>
        </pc:sldMkLst>
        <pc:spChg chg="del">
          <ac:chgData name="Mueller, Nicola F" userId="09927a30-f52b-4007-a02a-c051782fbddc" providerId="ADAL" clId="{7A22E2BD-7E94-5049-8A41-55B6A804D0EF}" dt="2023-07-14T04:37:50.469" v="19" actId="478"/>
          <ac:spMkLst>
            <pc:docMk/>
            <pc:sldMk cId="2842946094" sldId="476"/>
            <ac:spMk id="6" creationId="{3620E487-D5B9-9D11-58EA-9A6DAC28A0E2}"/>
          </ac:spMkLst>
        </pc:spChg>
        <pc:picChg chg="add del">
          <ac:chgData name="Mueller, Nicola F" userId="09927a30-f52b-4007-a02a-c051782fbddc" providerId="ADAL" clId="{7A22E2BD-7E94-5049-8A41-55B6A804D0EF}" dt="2023-07-14T04:37:49.023" v="18" actId="478"/>
          <ac:picMkLst>
            <pc:docMk/>
            <pc:sldMk cId="2842946094" sldId="476"/>
            <ac:picMk id="41" creationId="{6AD25C8D-43DD-2BAD-F384-3B8FBF66D992}"/>
          </ac:picMkLst>
        </pc:picChg>
      </pc:sldChg>
      <pc:sldChg chg="delSp mod">
        <pc:chgData name="Mueller, Nicola F" userId="09927a30-f52b-4007-a02a-c051782fbddc" providerId="ADAL" clId="{7A22E2BD-7E94-5049-8A41-55B6A804D0EF}" dt="2023-07-14T04:37:53.955" v="20" actId="478"/>
        <pc:sldMkLst>
          <pc:docMk/>
          <pc:sldMk cId="3280059349" sldId="477"/>
        </pc:sldMkLst>
        <pc:spChg chg="del">
          <ac:chgData name="Mueller, Nicola F" userId="09927a30-f52b-4007-a02a-c051782fbddc" providerId="ADAL" clId="{7A22E2BD-7E94-5049-8A41-55B6A804D0EF}" dt="2023-07-14T04:37:53.955" v="20" actId="478"/>
          <ac:spMkLst>
            <pc:docMk/>
            <pc:sldMk cId="3280059349" sldId="477"/>
            <ac:spMk id="6" creationId="{3620E487-D5B9-9D11-58EA-9A6DAC28A0E2}"/>
          </ac:spMkLst>
        </pc:spChg>
      </pc:sldChg>
      <pc:sldChg chg="delSp mod">
        <pc:chgData name="Mueller, Nicola F" userId="09927a30-f52b-4007-a02a-c051782fbddc" providerId="ADAL" clId="{7A22E2BD-7E94-5049-8A41-55B6A804D0EF}" dt="2023-07-14T04:37:31.112" v="12" actId="478"/>
        <pc:sldMkLst>
          <pc:docMk/>
          <pc:sldMk cId="3879421745" sldId="479"/>
        </pc:sldMkLst>
        <pc:spChg chg="del">
          <ac:chgData name="Mueller, Nicola F" userId="09927a30-f52b-4007-a02a-c051782fbddc" providerId="ADAL" clId="{7A22E2BD-7E94-5049-8A41-55B6A804D0EF}" dt="2023-07-14T04:37:31.112" v="12" actId="478"/>
          <ac:spMkLst>
            <pc:docMk/>
            <pc:sldMk cId="3879421745" sldId="479"/>
            <ac:spMk id="6" creationId="{3620E487-D5B9-9D11-58EA-9A6DAC28A0E2}"/>
          </ac:spMkLst>
        </pc:spChg>
      </pc:sldChg>
      <pc:sldChg chg="delSp mod">
        <pc:chgData name="Mueller, Nicola F" userId="09927a30-f52b-4007-a02a-c051782fbddc" providerId="ADAL" clId="{7A22E2BD-7E94-5049-8A41-55B6A804D0EF}" dt="2023-07-14T04:37:34.656" v="13" actId="478"/>
        <pc:sldMkLst>
          <pc:docMk/>
          <pc:sldMk cId="1254381272" sldId="480"/>
        </pc:sldMkLst>
        <pc:spChg chg="del">
          <ac:chgData name="Mueller, Nicola F" userId="09927a30-f52b-4007-a02a-c051782fbddc" providerId="ADAL" clId="{7A22E2BD-7E94-5049-8A41-55B6A804D0EF}" dt="2023-07-14T04:37:34.656" v="13" actId="478"/>
          <ac:spMkLst>
            <pc:docMk/>
            <pc:sldMk cId="1254381272" sldId="480"/>
            <ac:spMk id="6" creationId="{3620E487-D5B9-9D11-58EA-9A6DAC28A0E2}"/>
          </ac:spMkLst>
        </pc:spChg>
      </pc:sldChg>
      <pc:sldChg chg="delSp mod">
        <pc:chgData name="Mueller, Nicola F" userId="09927a30-f52b-4007-a02a-c051782fbddc" providerId="ADAL" clId="{7A22E2BD-7E94-5049-8A41-55B6A804D0EF}" dt="2023-07-14T04:37:57.841" v="21" actId="478"/>
        <pc:sldMkLst>
          <pc:docMk/>
          <pc:sldMk cId="1521280923" sldId="527"/>
        </pc:sldMkLst>
        <pc:spChg chg="del">
          <ac:chgData name="Mueller, Nicola F" userId="09927a30-f52b-4007-a02a-c051782fbddc" providerId="ADAL" clId="{7A22E2BD-7E94-5049-8A41-55B6A804D0EF}" dt="2023-07-14T04:37:57.841" v="21" actId="478"/>
          <ac:spMkLst>
            <pc:docMk/>
            <pc:sldMk cId="1521280923" sldId="527"/>
            <ac:spMk id="6" creationId="{3620E487-D5B9-9D11-58EA-9A6DAC28A0E2}"/>
          </ac:spMkLst>
        </pc:spChg>
      </pc:sldChg>
      <pc:sldChg chg="delSp mod">
        <pc:chgData name="Mueller, Nicola F" userId="09927a30-f52b-4007-a02a-c051782fbddc" providerId="ADAL" clId="{7A22E2BD-7E94-5049-8A41-55B6A804D0EF}" dt="2023-07-14T04:38:01.825" v="22" actId="478"/>
        <pc:sldMkLst>
          <pc:docMk/>
          <pc:sldMk cId="833566070" sldId="528"/>
        </pc:sldMkLst>
        <pc:spChg chg="del">
          <ac:chgData name="Mueller, Nicola F" userId="09927a30-f52b-4007-a02a-c051782fbddc" providerId="ADAL" clId="{7A22E2BD-7E94-5049-8A41-55B6A804D0EF}" dt="2023-07-14T04:38:01.825" v="22" actId="478"/>
          <ac:spMkLst>
            <pc:docMk/>
            <pc:sldMk cId="833566070" sldId="528"/>
            <ac:spMk id="6" creationId="{3620E487-D5B9-9D11-58EA-9A6DAC28A0E2}"/>
          </ac:spMkLst>
        </pc:spChg>
      </pc:sldChg>
      <pc:sldChg chg="add">
        <pc:chgData name="Mueller, Nicola F" userId="09927a30-f52b-4007-a02a-c051782fbddc" providerId="ADAL" clId="{7A22E2BD-7E94-5049-8A41-55B6A804D0EF}" dt="2023-07-14T03:33:04.130" v="11"/>
        <pc:sldMkLst>
          <pc:docMk/>
          <pc:sldMk cId="700490087" sldId="529"/>
        </pc:sldMkLst>
      </pc:sldChg>
      <pc:sldChg chg="add del">
        <pc:chgData name="Mueller, Nicola F" userId="09927a30-f52b-4007-a02a-c051782fbddc" providerId="ADAL" clId="{7A22E2BD-7E94-5049-8A41-55B6A804D0EF}" dt="2023-07-13T18:10:25.726" v="4" actId="2696"/>
        <pc:sldMkLst>
          <pc:docMk/>
          <pc:sldMk cId="1091883390" sldId="529"/>
        </pc:sldMkLst>
      </pc:sldChg>
      <pc:sldChg chg="add del">
        <pc:chgData name="Mueller, Nicola F" userId="09927a30-f52b-4007-a02a-c051782fbddc" providerId="ADAL" clId="{7A22E2BD-7E94-5049-8A41-55B6A804D0EF}" dt="2023-07-14T03:32:54.580" v="10" actId="2696"/>
        <pc:sldMkLst>
          <pc:docMk/>
          <pc:sldMk cId="3745101830" sldId="5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9B813C-1505-AF42-8F33-B63B902FA698}" type="datetimeFigureOut">
              <a:rPr lang="en-US" smtClean="0"/>
              <a:t>7/15/25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151E07-10EA-3C4F-96D5-854F65AB33A2}" type="slidenum">
              <a:rPr lang="en-US" smtClean="0"/>
              <a:t>‹#›</a:t>
            </a:fld>
            <a:endParaRPr lang="en-US"/>
          </a:p>
        </p:txBody>
      </p:sp>
    </p:spTree>
    <p:extLst>
      <p:ext uri="{BB962C8B-B14F-4D97-AF65-F5344CB8AC3E}">
        <p14:creationId xmlns:p14="http://schemas.microsoft.com/office/powerpoint/2010/main" val="3745582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642AFE-03F1-5547-83CE-7FD15ADA0013}" type="slidenum">
              <a:rPr lang="en-US" smtClean="0"/>
              <a:t>5</a:t>
            </a:fld>
            <a:endParaRPr lang="en-US"/>
          </a:p>
        </p:txBody>
      </p:sp>
    </p:spTree>
    <p:extLst>
      <p:ext uri="{BB962C8B-B14F-4D97-AF65-F5344CB8AC3E}">
        <p14:creationId xmlns:p14="http://schemas.microsoft.com/office/powerpoint/2010/main" val="3973305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151E07-10EA-3C4F-96D5-854F65AB33A2}" type="slidenum">
              <a:rPr lang="en-US" smtClean="0"/>
              <a:t>7</a:t>
            </a:fld>
            <a:endParaRPr lang="en-US"/>
          </a:p>
        </p:txBody>
      </p:sp>
    </p:spTree>
    <p:extLst>
      <p:ext uri="{BB962C8B-B14F-4D97-AF65-F5344CB8AC3E}">
        <p14:creationId xmlns:p14="http://schemas.microsoft.com/office/powerpoint/2010/main" val="2454180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151E07-10EA-3C4F-96D5-854F65AB33A2}" type="slidenum">
              <a:rPr lang="en-US" smtClean="0"/>
              <a:t>8</a:t>
            </a:fld>
            <a:endParaRPr lang="en-US"/>
          </a:p>
        </p:txBody>
      </p:sp>
    </p:spTree>
    <p:extLst>
      <p:ext uri="{BB962C8B-B14F-4D97-AF65-F5344CB8AC3E}">
        <p14:creationId xmlns:p14="http://schemas.microsoft.com/office/powerpoint/2010/main" val="3515527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151E07-10EA-3C4F-96D5-854F65AB33A2}" type="slidenum">
              <a:rPr lang="en-US" smtClean="0"/>
              <a:t>9</a:t>
            </a:fld>
            <a:endParaRPr lang="en-US"/>
          </a:p>
        </p:txBody>
      </p:sp>
    </p:spTree>
    <p:extLst>
      <p:ext uri="{BB962C8B-B14F-4D97-AF65-F5344CB8AC3E}">
        <p14:creationId xmlns:p14="http://schemas.microsoft.com/office/powerpoint/2010/main" val="417802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151E07-10EA-3C4F-96D5-854F65AB33A2}" type="slidenum">
              <a:rPr lang="en-US" smtClean="0"/>
              <a:t>10</a:t>
            </a:fld>
            <a:endParaRPr lang="en-US"/>
          </a:p>
        </p:txBody>
      </p:sp>
    </p:spTree>
    <p:extLst>
      <p:ext uri="{BB962C8B-B14F-4D97-AF65-F5344CB8AC3E}">
        <p14:creationId xmlns:p14="http://schemas.microsoft.com/office/powerpoint/2010/main" val="3375497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151E07-10EA-3C4F-96D5-854F65AB33A2}" type="slidenum">
              <a:rPr lang="en-US" smtClean="0"/>
              <a:t>21</a:t>
            </a:fld>
            <a:endParaRPr lang="en-US"/>
          </a:p>
        </p:txBody>
      </p:sp>
    </p:spTree>
    <p:extLst>
      <p:ext uri="{BB962C8B-B14F-4D97-AF65-F5344CB8AC3E}">
        <p14:creationId xmlns:p14="http://schemas.microsoft.com/office/powerpoint/2010/main" val="2275345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151E07-10EA-3C4F-96D5-854F65AB33A2}" type="slidenum">
              <a:rPr lang="en-US" smtClean="0"/>
              <a:t>22</a:t>
            </a:fld>
            <a:endParaRPr lang="en-US"/>
          </a:p>
        </p:txBody>
      </p:sp>
    </p:spTree>
    <p:extLst>
      <p:ext uri="{BB962C8B-B14F-4D97-AF65-F5344CB8AC3E}">
        <p14:creationId xmlns:p14="http://schemas.microsoft.com/office/powerpoint/2010/main" val="3281680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151E07-10EA-3C4F-96D5-854F65AB33A2}" type="slidenum">
              <a:rPr lang="en-US" smtClean="0"/>
              <a:t>23</a:t>
            </a:fld>
            <a:endParaRPr lang="en-US"/>
          </a:p>
        </p:txBody>
      </p:sp>
    </p:spTree>
    <p:extLst>
      <p:ext uri="{BB962C8B-B14F-4D97-AF65-F5344CB8AC3E}">
        <p14:creationId xmlns:p14="http://schemas.microsoft.com/office/powerpoint/2010/main" val="601372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2016 and 2017, there was an outbreak of influenza A/H5N8 in France.</a:t>
            </a:r>
          </a:p>
          <a:p>
            <a:pPr marL="171450" indent="-171450">
              <a:buFont typeface="Arial" panose="020B0604020202020204" pitchFamily="34" charset="0"/>
              <a:buChar char="•"/>
            </a:pPr>
            <a:r>
              <a:rPr lang="en-US" dirty="0"/>
              <a:t>This outbreak mainly took place in the </a:t>
            </a:r>
            <a:r>
              <a:rPr lang="en-US" dirty="0" err="1"/>
              <a:t>fois</a:t>
            </a:r>
            <a:r>
              <a:rPr lang="en-US" dirty="0"/>
              <a:t> gras growing region.</a:t>
            </a:r>
          </a:p>
          <a:p>
            <a:pPr marL="171450" indent="-171450">
              <a:buFont typeface="Arial" panose="020B0604020202020204" pitchFamily="34" charset="0"/>
              <a:buChar char="•"/>
            </a:pPr>
            <a:r>
              <a:rPr lang="en-US" dirty="0"/>
              <a:t>To study the spread of H5N8, influenza A/H5N8 sequences isolated from different farms in different department were sequenced.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642AFE-03F1-5547-83CE-7FD15ADA0013}" type="slidenum">
              <a:rPr lang="en-US" smtClean="0"/>
              <a:t>28</a:t>
            </a:fld>
            <a:endParaRPr lang="en-US"/>
          </a:p>
        </p:txBody>
      </p:sp>
    </p:spTree>
    <p:extLst>
      <p:ext uri="{BB962C8B-B14F-4D97-AF65-F5344CB8AC3E}">
        <p14:creationId xmlns:p14="http://schemas.microsoft.com/office/powerpoint/2010/main" val="2221666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These sequences originated from different departments in the South of France.</a:t>
            </a:r>
          </a:p>
          <a:p>
            <a:pPr marL="171450" indent="-171450">
              <a:buFont typeface="Arial" panose="020B0604020202020204" pitchFamily="34" charset="0"/>
              <a:buChar char="•"/>
            </a:pPr>
            <a:r>
              <a:rPr lang="en-US" dirty="0"/>
              <a:t>They were first isolated in the department of tarn and then spread through the region.</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642AFE-03F1-5547-83CE-7FD15ADA0013}" type="slidenum">
              <a:rPr lang="en-US" smtClean="0"/>
              <a:t>29</a:t>
            </a:fld>
            <a:endParaRPr lang="en-US"/>
          </a:p>
        </p:txBody>
      </p:sp>
    </p:spTree>
    <p:extLst>
      <p:ext uri="{BB962C8B-B14F-4D97-AF65-F5344CB8AC3E}">
        <p14:creationId xmlns:p14="http://schemas.microsoft.com/office/powerpoint/2010/main" val="3358212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then used the structured coalescent to infer how and between which departments H5N8 was spread. </a:t>
            </a:r>
          </a:p>
          <a:p>
            <a:pPr marL="171450" indent="-171450">
              <a:buFont typeface="Arial" panose="020B0604020202020204" pitchFamily="34" charset="0"/>
              <a:buChar char="•"/>
            </a:pPr>
            <a:r>
              <a:rPr lang="en-US" dirty="0"/>
              <a:t>Additionally, we inferred what predictors potentially correlated with these transmission dynamics.</a:t>
            </a:r>
          </a:p>
          <a:p>
            <a:pPr marL="171450" indent="-171450">
              <a:buFont typeface="Arial" panose="020B0604020202020204" pitchFamily="34" charset="0"/>
              <a:buChar char="•"/>
            </a:pPr>
            <a:r>
              <a:rPr lang="en-US" dirty="0"/>
              <a:t>In particular, there were different culling events that took place in order to reduced the spread of avian influenza A/H5N8.</a:t>
            </a:r>
          </a:p>
          <a:p>
            <a:pPr marL="171450" indent="-171450">
              <a:buFont typeface="Arial" panose="020B0604020202020204" pitchFamily="34" charset="0"/>
              <a:buChar char="•"/>
            </a:pPr>
            <a:r>
              <a:rPr lang="en-US" dirty="0"/>
              <a:t>We can use the timings of these events as potential predicts of how transmission dynamics changed between </a:t>
            </a:r>
            <a:r>
              <a:rPr lang="en-US" dirty="0" err="1"/>
              <a:t>departements</a:t>
            </a:r>
            <a:r>
              <a:rPr lang="en-US" dirty="0"/>
              <a: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642AFE-03F1-5547-83CE-7FD15ADA0013}" type="slidenum">
              <a:rPr lang="en-US" smtClean="0"/>
              <a:t>30</a:t>
            </a:fld>
            <a:endParaRPr lang="en-US"/>
          </a:p>
        </p:txBody>
      </p:sp>
    </p:spTree>
    <p:extLst>
      <p:ext uri="{BB962C8B-B14F-4D97-AF65-F5344CB8AC3E}">
        <p14:creationId xmlns:p14="http://schemas.microsoft.com/office/powerpoint/2010/main" val="402927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642AFE-03F1-5547-83CE-7FD15ADA0013}" type="slidenum">
              <a:rPr lang="en-US" smtClean="0"/>
              <a:t>31</a:t>
            </a:fld>
            <a:endParaRPr lang="en-US"/>
          </a:p>
        </p:txBody>
      </p:sp>
    </p:spTree>
    <p:extLst>
      <p:ext uri="{BB962C8B-B14F-4D97-AF65-F5344CB8AC3E}">
        <p14:creationId xmlns:p14="http://schemas.microsoft.com/office/powerpoint/2010/main" val="3724004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latin typeface="Helvetica" pitchFamily="2" charset="0"/>
              </a:rPr>
              <a:t>Here, I show phylogenetic tree reconstructed from SARS-CoV-2 sequences isolated in Washington State and around to world, where samples from Washington State are colored based on the county they were isolated in.</a:t>
            </a:r>
          </a:p>
          <a:p>
            <a:pPr marL="171450" indent="-171450">
              <a:buFont typeface="Arial" panose="020B0604020202020204" pitchFamily="34" charset="0"/>
              <a:buChar char="•"/>
            </a:pPr>
            <a:r>
              <a:rPr lang="en-US" sz="1200" dirty="0">
                <a:latin typeface="Helvetica" pitchFamily="2" charset="0"/>
              </a:rPr>
              <a:t>After an initial introduction, SARS-CoV-2 spread mostly around Seattle, but more widespread around the state soon thereafter.</a:t>
            </a:r>
          </a:p>
          <a:p>
            <a:pPr marL="171450" indent="-171450">
              <a:buFont typeface="Arial" panose="020B0604020202020204" pitchFamily="34" charset="0"/>
              <a:buChar char="•"/>
            </a:pPr>
            <a:r>
              <a:rPr lang="en-US" sz="1200" dirty="0">
                <a:latin typeface="Helvetica" pitchFamily="2" charset="0"/>
              </a:rPr>
              <a:t>Viruses introduced early differed from those later, most notably by a amino acid substitution in the spike protein.</a:t>
            </a:r>
          </a:p>
          <a:p>
            <a:pPr marL="171450" indent="-171450">
              <a:buFont typeface="Arial" panose="020B0604020202020204" pitchFamily="34" charset="0"/>
              <a:buChar char="•"/>
            </a:pPr>
            <a:r>
              <a:rPr lang="en-US" sz="1200" dirty="0">
                <a:latin typeface="Helvetica" pitchFamily="2" charset="0"/>
              </a:rPr>
              <a:t>These two variants are referred to as 614D and  614G.</a:t>
            </a:r>
            <a:endParaRPr lang="en-US" dirty="0"/>
          </a:p>
        </p:txBody>
      </p:sp>
      <p:sp>
        <p:nvSpPr>
          <p:cNvPr id="4" name="Slide Number Placeholder 3"/>
          <p:cNvSpPr>
            <a:spLocks noGrp="1"/>
          </p:cNvSpPr>
          <p:nvPr>
            <p:ph type="sldNum" sz="quarter" idx="5"/>
          </p:nvPr>
        </p:nvSpPr>
        <p:spPr/>
        <p:txBody>
          <a:bodyPr/>
          <a:lstStyle/>
          <a:p>
            <a:fld id="{09642AFE-03F1-5547-83CE-7FD15ADA0013}" type="slidenum">
              <a:rPr lang="en-US" smtClean="0"/>
              <a:t>43</a:t>
            </a:fld>
            <a:endParaRPr lang="en-US"/>
          </a:p>
        </p:txBody>
      </p:sp>
    </p:spTree>
    <p:extLst>
      <p:ext uri="{BB962C8B-B14F-4D97-AF65-F5344CB8AC3E}">
        <p14:creationId xmlns:p14="http://schemas.microsoft.com/office/powerpoint/2010/main" val="1671178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latin typeface="Helvetica" pitchFamily="2" charset="0"/>
              </a:rPr>
              <a:t>The two spike variants 614D and 614G were shown to differ in viral load and presumably transmission rate.</a:t>
            </a:r>
          </a:p>
          <a:p>
            <a:pPr marL="171450" indent="-171450">
              <a:buFont typeface="Arial" panose="020B0604020202020204" pitchFamily="34" charset="0"/>
              <a:buChar char="•"/>
            </a:pPr>
            <a:r>
              <a:rPr lang="en-US" sz="1200" dirty="0">
                <a:latin typeface="Helvetica" pitchFamily="2" charset="0"/>
              </a:rPr>
              <a:t>614G emerged in Europe and soon became the dominant spike variant around the world.</a:t>
            </a:r>
          </a:p>
          <a:p>
            <a:pPr marL="171450" indent="-171450">
              <a:buFont typeface="Arial" panose="020B0604020202020204" pitchFamily="34" charset="0"/>
              <a:buChar char="•"/>
            </a:pPr>
            <a:r>
              <a:rPr lang="en-US" sz="1200" dirty="0">
                <a:latin typeface="Helvetica" pitchFamily="2" charset="0"/>
              </a:rPr>
              <a:t>The same pattern could be observed in Washington State, leading us to investigate why it took over here.</a:t>
            </a:r>
          </a:p>
        </p:txBody>
      </p:sp>
      <p:sp>
        <p:nvSpPr>
          <p:cNvPr id="4" name="Slide Number Placeholder 3"/>
          <p:cNvSpPr>
            <a:spLocks noGrp="1"/>
          </p:cNvSpPr>
          <p:nvPr>
            <p:ph type="sldNum" sz="quarter" idx="5"/>
          </p:nvPr>
        </p:nvSpPr>
        <p:spPr/>
        <p:txBody>
          <a:bodyPr/>
          <a:lstStyle/>
          <a:p>
            <a:fld id="{09642AFE-03F1-5547-83CE-7FD15ADA0013}" type="slidenum">
              <a:rPr lang="en-US" smtClean="0"/>
              <a:t>44</a:t>
            </a:fld>
            <a:endParaRPr lang="en-US"/>
          </a:p>
        </p:txBody>
      </p:sp>
    </p:spTree>
    <p:extLst>
      <p:ext uri="{BB962C8B-B14F-4D97-AF65-F5344CB8AC3E}">
        <p14:creationId xmlns:p14="http://schemas.microsoft.com/office/powerpoint/2010/main" val="4193563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642AFE-03F1-5547-83CE-7FD15ADA0013}" type="slidenum">
              <a:rPr lang="en-US" smtClean="0"/>
              <a:t>45</a:t>
            </a:fld>
            <a:endParaRPr lang="en-US"/>
          </a:p>
        </p:txBody>
      </p:sp>
    </p:spTree>
    <p:extLst>
      <p:ext uri="{BB962C8B-B14F-4D97-AF65-F5344CB8AC3E}">
        <p14:creationId xmlns:p14="http://schemas.microsoft.com/office/powerpoint/2010/main" val="1513816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used phylodynamic approaches to study how the case load of the two different variants changed over time.</a:t>
            </a:r>
          </a:p>
          <a:p>
            <a:pPr marL="171450" indent="-171450">
              <a:buFont typeface="Arial" panose="020B0604020202020204" pitchFamily="34" charset="0"/>
              <a:buChar char="•"/>
            </a:pPr>
            <a:r>
              <a:rPr lang="en-US" dirty="0"/>
              <a:t>Reconstructing the effective population size, as measure proportional to the number of infected over time, of the spike variants reveals different temporal patterns.</a:t>
            </a:r>
          </a:p>
          <a:p>
            <a:pPr marL="171450" indent="-171450">
              <a:buFont typeface="Arial" panose="020B0604020202020204" pitchFamily="34" charset="0"/>
              <a:buChar char="•"/>
            </a:pPr>
            <a:r>
              <a:rPr lang="en-US" dirty="0"/>
              <a:t>614D dominated early, but soon declined, while 614G cases peaked much later.</a:t>
            </a:r>
          </a:p>
        </p:txBody>
      </p:sp>
      <p:sp>
        <p:nvSpPr>
          <p:cNvPr id="4" name="Slide Number Placeholder 3"/>
          <p:cNvSpPr>
            <a:spLocks noGrp="1"/>
          </p:cNvSpPr>
          <p:nvPr>
            <p:ph type="sldNum" sz="quarter" idx="5"/>
          </p:nvPr>
        </p:nvSpPr>
        <p:spPr/>
        <p:txBody>
          <a:bodyPr/>
          <a:lstStyle/>
          <a:p>
            <a:fld id="{09642AFE-03F1-5547-83CE-7FD15ADA0013}" type="slidenum">
              <a:rPr lang="en-US" smtClean="0"/>
              <a:t>46</a:t>
            </a:fld>
            <a:endParaRPr lang="en-US"/>
          </a:p>
        </p:txBody>
      </p:sp>
    </p:spTree>
    <p:extLst>
      <p:ext uri="{BB962C8B-B14F-4D97-AF65-F5344CB8AC3E}">
        <p14:creationId xmlns:p14="http://schemas.microsoft.com/office/powerpoint/2010/main" val="2711721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can also reconstruct how the reproduction number, that is the number of secondary infections per infected individual changed over time using </a:t>
            </a:r>
            <a:r>
              <a:rPr lang="en-US" dirty="0" err="1"/>
              <a:t>phylodynamics</a:t>
            </a:r>
            <a:r>
              <a:rPr lang="en-US" dirty="0"/>
              <a:t>.</a:t>
            </a:r>
          </a:p>
          <a:p>
            <a:pPr marL="171450" indent="-171450">
              <a:buFont typeface="Arial" panose="020B0604020202020204" pitchFamily="34" charset="0"/>
              <a:buChar char="•"/>
            </a:pPr>
            <a:r>
              <a:rPr lang="en-US" dirty="0"/>
              <a:t>This revealed that the transmission dynamics of 614D cases change with mobility patterns in King County while 614G cases are more consistent with mobility patterns outside of King County.</a:t>
            </a:r>
          </a:p>
        </p:txBody>
      </p:sp>
      <p:sp>
        <p:nvSpPr>
          <p:cNvPr id="4" name="Slide Number Placeholder 3"/>
          <p:cNvSpPr>
            <a:spLocks noGrp="1"/>
          </p:cNvSpPr>
          <p:nvPr>
            <p:ph type="sldNum" sz="quarter" idx="5"/>
          </p:nvPr>
        </p:nvSpPr>
        <p:spPr/>
        <p:txBody>
          <a:bodyPr/>
          <a:lstStyle/>
          <a:p>
            <a:fld id="{09642AFE-03F1-5547-83CE-7FD15ADA0013}" type="slidenum">
              <a:rPr lang="en-US" smtClean="0"/>
              <a:t>47</a:t>
            </a:fld>
            <a:endParaRPr lang="en-US"/>
          </a:p>
        </p:txBody>
      </p:sp>
    </p:spTree>
    <p:extLst>
      <p:ext uri="{BB962C8B-B14F-4D97-AF65-F5344CB8AC3E}">
        <p14:creationId xmlns:p14="http://schemas.microsoft.com/office/powerpoint/2010/main" val="1976919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can also use these phylodynamic methods to get an idea of how important introductions are in driving cases.</a:t>
            </a:r>
          </a:p>
          <a:p>
            <a:pPr marL="171450" indent="-171450">
              <a:buFont typeface="Arial" panose="020B0604020202020204" pitchFamily="34" charset="0"/>
              <a:buChar char="•"/>
            </a:pPr>
            <a:r>
              <a:rPr lang="en-US" dirty="0"/>
              <a:t>What we find is that introductions from outside the state played only a minor role (after the initial introduction) in driving cases of 614D, but played a major role in driving 614G cases, the dominant variant at that time in Europe and the North East of the US.</a:t>
            </a:r>
          </a:p>
          <a:p>
            <a:pPr marL="171450" indent="-171450">
              <a:buFont typeface="Arial" panose="020B0604020202020204" pitchFamily="34" charset="0"/>
              <a:buChar char="•"/>
            </a:pPr>
            <a:r>
              <a:rPr lang="en-US" dirty="0"/>
              <a:t>This suggest that the changes in local frequencies of the two different spike variants very driven by different timings of when local measure were introduced and by a large number of introductions of 614G viruses from outside the state. </a:t>
            </a:r>
          </a:p>
        </p:txBody>
      </p:sp>
      <p:sp>
        <p:nvSpPr>
          <p:cNvPr id="4" name="Slide Number Placeholder 3"/>
          <p:cNvSpPr>
            <a:spLocks noGrp="1"/>
          </p:cNvSpPr>
          <p:nvPr>
            <p:ph type="sldNum" sz="quarter" idx="5"/>
          </p:nvPr>
        </p:nvSpPr>
        <p:spPr/>
        <p:txBody>
          <a:bodyPr/>
          <a:lstStyle/>
          <a:p>
            <a:fld id="{09642AFE-03F1-5547-83CE-7FD15ADA0013}" type="slidenum">
              <a:rPr lang="en-US" smtClean="0"/>
              <a:t>48</a:t>
            </a:fld>
            <a:endParaRPr lang="en-US"/>
          </a:p>
        </p:txBody>
      </p:sp>
    </p:spTree>
    <p:extLst>
      <p:ext uri="{BB962C8B-B14F-4D97-AF65-F5344CB8AC3E}">
        <p14:creationId xmlns:p14="http://schemas.microsoft.com/office/powerpoint/2010/main" val="650878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BD2F4-ADB2-7940-8C48-81A6ADD54D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E05F6C-FF39-C349-8AE6-2F7B5A5C4C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A4EC15-BB47-5C42-9CD7-9DFD10AC4327}"/>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5" name="Footer Placeholder 4">
            <a:extLst>
              <a:ext uri="{FF2B5EF4-FFF2-40B4-BE49-F238E27FC236}">
                <a16:creationId xmlns:a16="http://schemas.microsoft.com/office/drawing/2014/main" id="{905E65C8-4BDA-E742-81D9-83E5DBB1B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EDEE6-6536-EA40-B5A5-C8DFA5968694}"/>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2294915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6ED5-09E4-E544-812D-1C903ED9D9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9370AE-24DB-3E4D-BA36-5AA7EA1A0B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445543-6A14-4044-92C1-18C111A18667}"/>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5" name="Footer Placeholder 4">
            <a:extLst>
              <a:ext uri="{FF2B5EF4-FFF2-40B4-BE49-F238E27FC236}">
                <a16:creationId xmlns:a16="http://schemas.microsoft.com/office/drawing/2014/main" id="{D05D764C-6994-C349-8D4E-B25F1B049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CBFE8-6EE4-5645-AB98-63B0F6B781EE}"/>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73371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B7E64-B912-0948-AE11-CFD2FD134D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2EF730-37DE-C249-A8FB-AC6885CFD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FCA701-F228-E846-8E42-633529C24AEE}"/>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5" name="Footer Placeholder 4">
            <a:extLst>
              <a:ext uri="{FF2B5EF4-FFF2-40B4-BE49-F238E27FC236}">
                <a16:creationId xmlns:a16="http://schemas.microsoft.com/office/drawing/2014/main" id="{34AB55C3-22AD-B046-B106-98FD57DC1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E3B019-6F5B-2B4B-862C-D256372CD527}"/>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3287308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06433-94F5-9B48-88B3-C6C3A42B7C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225F4-CA7E-B347-A1D8-264D75AA99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C8E893-4C30-5149-ABB3-B192CD0E83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C6A5DB-9367-F646-882D-87AB01320C0D}"/>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6" name="Footer Placeholder 5">
            <a:extLst>
              <a:ext uri="{FF2B5EF4-FFF2-40B4-BE49-F238E27FC236}">
                <a16:creationId xmlns:a16="http://schemas.microsoft.com/office/drawing/2014/main" id="{AD50D731-6B73-D544-A3EB-1E8F9698F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065A68-6F3A-F445-905B-E4F5423D8D32}"/>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1135260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C1120-CD2C-E246-A884-F7F05A661B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F34421-6F07-F74E-9114-4DCEC80E05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917290-A86C-4048-87CF-70535C6DAA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4B3251-0177-DC48-823B-42177F076B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4EB699-8EAF-8B4F-A792-75B6402F19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C54AAC-2E80-D04B-B8C9-FF8E67434959}"/>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8" name="Footer Placeholder 7">
            <a:extLst>
              <a:ext uri="{FF2B5EF4-FFF2-40B4-BE49-F238E27FC236}">
                <a16:creationId xmlns:a16="http://schemas.microsoft.com/office/drawing/2014/main" id="{1AE17620-922D-6D46-86B0-E4FAC77270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17BB9D-37C8-0642-A6DC-DCA6704F636F}"/>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1640636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8D8E9-074C-8248-B84B-D362D55407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8570A3-9929-7740-9026-900BC9BD44EE}"/>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4" name="Footer Placeholder 3">
            <a:extLst>
              <a:ext uri="{FF2B5EF4-FFF2-40B4-BE49-F238E27FC236}">
                <a16:creationId xmlns:a16="http://schemas.microsoft.com/office/drawing/2014/main" id="{3CC9A7DD-FA65-5946-89EB-54E2872211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845527-E14F-C941-835D-60E352DA6E19}"/>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2988785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F4A265-EB16-434A-99DD-4D8F355FE4E4}"/>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3" name="Footer Placeholder 2">
            <a:extLst>
              <a:ext uri="{FF2B5EF4-FFF2-40B4-BE49-F238E27FC236}">
                <a16:creationId xmlns:a16="http://schemas.microsoft.com/office/drawing/2014/main" id="{86652724-4B77-FD41-8D49-48045EBF91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7057259-670B-E849-A698-E41ACD005B33}"/>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2013252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632EA-7B22-2C4B-B464-4BCF3800E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174914-900E-CB4B-8BD5-13C7D445E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F3BCAA-34AD-624F-8098-DD0BB005E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08D6C-118E-9044-AD57-E6585ACF9BEB}"/>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6" name="Footer Placeholder 5">
            <a:extLst>
              <a:ext uri="{FF2B5EF4-FFF2-40B4-BE49-F238E27FC236}">
                <a16:creationId xmlns:a16="http://schemas.microsoft.com/office/drawing/2014/main" id="{5C385E30-031A-944B-A8B2-6BDCFBA837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C11816-2419-CC4B-B107-9061A0E9F30E}"/>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380647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1288-04A8-D142-9E71-295C8CCD41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3310B1-DAE9-B549-B2E9-C8A51FDD96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B13D2D-0B3D-6548-9E1E-4FB5C0FF6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6B371-E971-CE46-8BBF-C159693A5B84}"/>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6" name="Footer Placeholder 5">
            <a:extLst>
              <a:ext uri="{FF2B5EF4-FFF2-40B4-BE49-F238E27FC236}">
                <a16:creationId xmlns:a16="http://schemas.microsoft.com/office/drawing/2014/main" id="{810C0F3D-1305-5E40-8C2D-B3E98BA8F8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4CB493-8028-1941-B59F-368853D5441A}"/>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27354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3E0B1-AD4B-F84C-A2F4-4C2DC34D2D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11A34B-1697-3840-A0A3-5998BA926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536252-5372-4D47-B6DB-2E18BF4C457D}"/>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5" name="Footer Placeholder 4">
            <a:extLst>
              <a:ext uri="{FF2B5EF4-FFF2-40B4-BE49-F238E27FC236}">
                <a16:creationId xmlns:a16="http://schemas.microsoft.com/office/drawing/2014/main" id="{897A0345-FD4D-E341-A246-A317B1775E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8B5B1-6192-C840-84D5-C358DBA7230C}"/>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162510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1DFF0-CBB0-374A-BFDA-D91CC40171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6A8E6F-2CA3-A34A-8A3B-DADE8DE05D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1A11FE-7C49-3748-BE2F-3A92FDB3E291}"/>
              </a:ext>
            </a:extLst>
          </p:cNvPr>
          <p:cNvSpPr>
            <a:spLocks noGrp="1"/>
          </p:cNvSpPr>
          <p:nvPr>
            <p:ph type="dt" sz="half" idx="10"/>
          </p:nvPr>
        </p:nvSpPr>
        <p:spPr/>
        <p:txBody>
          <a:bodyPr/>
          <a:lstStyle/>
          <a:p>
            <a:fld id="{65C2829D-0F3A-D541-ADF3-F6FC21265909}" type="datetimeFigureOut">
              <a:rPr lang="en-US" smtClean="0"/>
              <a:t>7/15/25</a:t>
            </a:fld>
            <a:endParaRPr lang="en-US"/>
          </a:p>
        </p:txBody>
      </p:sp>
      <p:sp>
        <p:nvSpPr>
          <p:cNvPr id="5" name="Footer Placeholder 4">
            <a:extLst>
              <a:ext uri="{FF2B5EF4-FFF2-40B4-BE49-F238E27FC236}">
                <a16:creationId xmlns:a16="http://schemas.microsoft.com/office/drawing/2014/main" id="{9A350694-E2CB-5342-A618-A1B4CAC57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AC80A-6B5A-8244-9440-90DE705D3DDF}"/>
              </a:ext>
            </a:extLst>
          </p:cNvPr>
          <p:cNvSpPr>
            <a:spLocks noGrp="1"/>
          </p:cNvSpPr>
          <p:nvPr>
            <p:ph type="sldNum" sz="quarter" idx="12"/>
          </p:nvPr>
        </p:nvSpPr>
        <p:spPr/>
        <p:txBody>
          <a:bodyPr/>
          <a:lstStyle/>
          <a:p>
            <a:fld id="{F4488A73-82FD-3248-98C3-2D3963F6AF79}" type="slidenum">
              <a:rPr lang="en-US" smtClean="0"/>
              <a:t>‹#›</a:t>
            </a:fld>
            <a:endParaRPr lang="en-US"/>
          </a:p>
        </p:txBody>
      </p:sp>
    </p:spTree>
    <p:extLst>
      <p:ext uri="{BB962C8B-B14F-4D97-AF65-F5344CB8AC3E}">
        <p14:creationId xmlns:p14="http://schemas.microsoft.com/office/powerpoint/2010/main" val="3135735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99CDE5-21F9-D241-B32C-AA4467593E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03A8D6-1075-E841-AC38-48A8CA62C0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2584DE8-BBC8-974D-8DEB-21414866E4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C2829D-0F3A-D541-ADF3-F6FC21265909}" type="datetimeFigureOut">
              <a:rPr lang="en-US" smtClean="0"/>
              <a:t>7/15/25</a:t>
            </a:fld>
            <a:endParaRPr lang="en-US"/>
          </a:p>
        </p:txBody>
      </p:sp>
      <p:sp>
        <p:nvSpPr>
          <p:cNvPr id="5" name="Footer Placeholder 4">
            <a:extLst>
              <a:ext uri="{FF2B5EF4-FFF2-40B4-BE49-F238E27FC236}">
                <a16:creationId xmlns:a16="http://schemas.microsoft.com/office/drawing/2014/main" id="{440F2A78-D2EA-D548-8010-5B628A7A71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7B4509-F067-354E-9184-893C849210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488A73-82FD-3248-98C3-2D3963F6AF79}" type="slidenum">
              <a:rPr lang="en-US" smtClean="0"/>
              <a:t>‹#›</a:t>
            </a:fld>
            <a:endParaRPr lang="en-US"/>
          </a:p>
        </p:txBody>
      </p:sp>
    </p:spTree>
    <p:extLst>
      <p:ext uri="{BB962C8B-B14F-4D97-AF65-F5344CB8AC3E}">
        <p14:creationId xmlns:p14="http://schemas.microsoft.com/office/powerpoint/2010/main" val="22659243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image" Target="../media/image35.tif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8.png"/><Relationship Id="rId4" Type="http://schemas.openxmlformats.org/officeDocument/2006/relationships/notesSlide" Target="../notesSlides/notesSlide13.xml"/></Relationships>
</file>

<file path=ppt/slides/_rels/slide4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4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4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hyperlink" Target="https://academic.oup.com/mbe/article-abstract/34/11/2970/3896419" TargetMode="External"/><Relationship Id="rId2" Type="http://schemas.openxmlformats.org/officeDocument/2006/relationships/hyperlink" Target="https://doi.org/10.1371/journal.pcbi.1000520" TargetMode="External"/><Relationship Id="rId1" Type="http://schemas.openxmlformats.org/officeDocument/2006/relationships/slideLayout" Target="../slideLayouts/slideLayout2.xml"/><Relationship Id="rId6" Type="http://schemas.openxmlformats.org/officeDocument/2006/relationships/hyperlink" Target="https://doi.org/10.1093/ve/vez030" TargetMode="External"/><Relationship Id="rId5" Type="http://schemas.openxmlformats.org/officeDocument/2006/relationships/hyperlink" Target="https://doi.org/10.1371/journal.ppat.1003932" TargetMode="External"/><Relationship Id="rId4" Type="http://schemas.openxmlformats.org/officeDocument/2006/relationships/hyperlink" Target="https://doi.org/10.1093/molbev/msw06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345D6-2ABF-5F4A-86BA-016E11D4A46F}"/>
              </a:ext>
            </a:extLst>
          </p:cNvPr>
          <p:cNvSpPr>
            <a:spLocks noGrp="1"/>
          </p:cNvSpPr>
          <p:nvPr>
            <p:ph type="ctrTitle"/>
          </p:nvPr>
        </p:nvSpPr>
        <p:spPr>
          <a:xfrm>
            <a:off x="1524000" y="627278"/>
            <a:ext cx="9144000" cy="2387600"/>
          </a:xfrm>
        </p:spPr>
        <p:txBody>
          <a:bodyPr>
            <a:normAutofit/>
          </a:bodyPr>
          <a:lstStyle/>
          <a:p>
            <a:r>
              <a:rPr lang="en-US" dirty="0"/>
              <a:t>Accounting for population structure</a:t>
            </a:r>
          </a:p>
        </p:txBody>
      </p:sp>
      <p:sp>
        <p:nvSpPr>
          <p:cNvPr id="3" name="Subtitle 2">
            <a:extLst>
              <a:ext uri="{FF2B5EF4-FFF2-40B4-BE49-F238E27FC236}">
                <a16:creationId xmlns:a16="http://schemas.microsoft.com/office/drawing/2014/main" id="{E36B451F-7E1A-604E-8569-A65F7995F7BD}"/>
              </a:ext>
            </a:extLst>
          </p:cNvPr>
          <p:cNvSpPr>
            <a:spLocks noGrp="1"/>
          </p:cNvSpPr>
          <p:nvPr>
            <p:ph type="subTitle" idx="1"/>
          </p:nvPr>
        </p:nvSpPr>
        <p:spPr>
          <a:xfrm>
            <a:off x="1524000" y="3106953"/>
            <a:ext cx="9144000" cy="1655762"/>
          </a:xfrm>
        </p:spPr>
        <p:txBody>
          <a:bodyPr/>
          <a:lstStyle/>
          <a:p>
            <a:endParaRPr lang="en-US" dirty="0"/>
          </a:p>
        </p:txBody>
      </p:sp>
      <p:sp>
        <p:nvSpPr>
          <p:cNvPr id="4" name="Subtitle 2">
            <a:extLst>
              <a:ext uri="{FF2B5EF4-FFF2-40B4-BE49-F238E27FC236}">
                <a16:creationId xmlns:a16="http://schemas.microsoft.com/office/drawing/2014/main" id="{23BE2320-AB46-C246-9CC8-82FEF29759F7}"/>
              </a:ext>
            </a:extLst>
          </p:cNvPr>
          <p:cNvSpPr txBox="1">
            <a:spLocks/>
          </p:cNvSpPr>
          <p:nvPr/>
        </p:nvSpPr>
        <p:spPr>
          <a:xfrm>
            <a:off x="1524000" y="3704726"/>
            <a:ext cx="9144000" cy="4439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Helvetica"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Helvetica"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Helvetica"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Helvetica"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Helvetica"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Nicola F. Müller</a:t>
            </a:r>
          </a:p>
        </p:txBody>
      </p:sp>
      <p:sp>
        <p:nvSpPr>
          <p:cNvPr id="8" name="Subtitle 2">
            <a:extLst>
              <a:ext uri="{FF2B5EF4-FFF2-40B4-BE49-F238E27FC236}">
                <a16:creationId xmlns:a16="http://schemas.microsoft.com/office/drawing/2014/main" id="{A1B2C15F-9715-5941-BE69-9E5711EBC517}"/>
              </a:ext>
            </a:extLst>
          </p:cNvPr>
          <p:cNvSpPr txBox="1">
            <a:spLocks/>
          </p:cNvSpPr>
          <p:nvPr/>
        </p:nvSpPr>
        <p:spPr>
          <a:xfrm>
            <a:off x="1524000" y="4270177"/>
            <a:ext cx="9144000" cy="7616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e-mail: </a:t>
            </a:r>
            <a:r>
              <a:rPr lang="en-US" sz="1600" dirty="0" err="1"/>
              <a:t>nicola.mueller@ucsf.edu</a:t>
            </a:r>
            <a:endParaRPr lang="en-US" sz="1600" dirty="0"/>
          </a:p>
          <a:p>
            <a:endParaRPr lang="en-US" sz="1600" dirty="0"/>
          </a:p>
        </p:txBody>
      </p:sp>
    </p:spTree>
    <p:extLst>
      <p:ext uri="{BB962C8B-B14F-4D97-AF65-F5344CB8AC3E}">
        <p14:creationId xmlns:p14="http://schemas.microsoft.com/office/powerpoint/2010/main" val="1231286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C809-215F-DA4D-953C-11D58D0AA6EC}"/>
              </a:ext>
            </a:extLst>
          </p:cNvPr>
          <p:cNvSpPr>
            <a:spLocks noGrp="1"/>
          </p:cNvSpPr>
          <p:nvPr>
            <p:ph type="title"/>
          </p:nvPr>
        </p:nvSpPr>
        <p:spPr/>
        <p:txBody>
          <a:bodyPr>
            <a:normAutofit/>
          </a:bodyPr>
          <a:lstStyle/>
          <a:p>
            <a:r>
              <a:rPr lang="en-US" dirty="0"/>
              <a:t>Phylogenetic trees are formed by population processes and contain information about them</a:t>
            </a:r>
          </a:p>
        </p:txBody>
      </p:sp>
      <p:pic>
        <p:nvPicPr>
          <p:cNvPr id="8" name="Content Placeholder 7">
            <a:extLst>
              <a:ext uri="{FF2B5EF4-FFF2-40B4-BE49-F238E27FC236}">
                <a16:creationId xmlns:a16="http://schemas.microsoft.com/office/drawing/2014/main" id="{A2F2B03A-2ACB-EF48-B8E5-651DAF5E7FCD}"/>
              </a:ext>
            </a:extLst>
          </p:cNvPr>
          <p:cNvPicPr>
            <a:picLocks noGrp="1" noChangeAspect="1"/>
          </p:cNvPicPr>
          <p:nvPr>
            <p:ph idx="1"/>
          </p:nvPr>
        </p:nvPicPr>
        <p:blipFill>
          <a:blip r:embed="rId2"/>
          <a:stretch>
            <a:fillRect/>
          </a:stretch>
        </p:blipFill>
        <p:spPr>
          <a:xfrm>
            <a:off x="1439953" y="2189019"/>
            <a:ext cx="9312094" cy="3527930"/>
          </a:xfrm>
        </p:spPr>
      </p:pic>
    </p:spTree>
    <p:extLst>
      <p:ext uri="{BB962C8B-B14F-4D97-AF65-F5344CB8AC3E}">
        <p14:creationId xmlns:p14="http://schemas.microsoft.com/office/powerpoint/2010/main" val="2663509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156C-D0FE-0A41-8AA1-3C78352115AE}"/>
              </a:ext>
            </a:extLst>
          </p:cNvPr>
          <p:cNvSpPr>
            <a:spLocks noGrp="1"/>
          </p:cNvSpPr>
          <p:nvPr>
            <p:ph type="title"/>
          </p:nvPr>
        </p:nvSpPr>
        <p:spPr/>
        <p:txBody>
          <a:bodyPr/>
          <a:lstStyle/>
          <a:p>
            <a:r>
              <a:rPr lang="en-US" dirty="0"/>
              <a:t>H3N2 sequences show spatial clustering</a:t>
            </a:r>
          </a:p>
        </p:txBody>
      </p:sp>
      <p:pic>
        <p:nvPicPr>
          <p:cNvPr id="5" name="Content Placeholder 4" descr="A close up of a map&#10;&#10;Description automatically generated">
            <a:extLst>
              <a:ext uri="{FF2B5EF4-FFF2-40B4-BE49-F238E27FC236}">
                <a16:creationId xmlns:a16="http://schemas.microsoft.com/office/drawing/2014/main" id="{E0751AA9-DA9C-BA4F-8C87-9FBB425A0FCB}"/>
              </a:ext>
            </a:extLst>
          </p:cNvPr>
          <p:cNvPicPr>
            <a:picLocks noGrp="1" noChangeAspect="1"/>
          </p:cNvPicPr>
          <p:nvPr>
            <p:ph idx="1"/>
          </p:nvPr>
        </p:nvPicPr>
        <p:blipFill>
          <a:blip r:embed="rId2"/>
          <a:stretch>
            <a:fillRect/>
          </a:stretch>
        </p:blipFill>
        <p:spPr>
          <a:xfrm>
            <a:off x="2631780" y="1825625"/>
            <a:ext cx="6928440" cy="4351338"/>
          </a:xfrm>
        </p:spPr>
      </p:pic>
      <p:sp>
        <p:nvSpPr>
          <p:cNvPr id="6" name="TextBox 5">
            <a:extLst>
              <a:ext uri="{FF2B5EF4-FFF2-40B4-BE49-F238E27FC236}">
                <a16:creationId xmlns:a16="http://schemas.microsoft.com/office/drawing/2014/main" id="{107E97FC-AF98-154C-9D50-B35597771BD3}"/>
              </a:ext>
            </a:extLst>
          </p:cNvPr>
          <p:cNvSpPr txBox="1"/>
          <p:nvPr/>
        </p:nvSpPr>
        <p:spPr>
          <a:xfrm>
            <a:off x="9036424" y="6488668"/>
            <a:ext cx="3155576" cy="369332"/>
          </a:xfrm>
          <a:prstGeom prst="rect">
            <a:avLst/>
          </a:prstGeom>
          <a:noFill/>
        </p:spPr>
        <p:txBody>
          <a:bodyPr wrap="square" rtlCol="0">
            <a:spAutoFit/>
          </a:bodyPr>
          <a:lstStyle/>
          <a:p>
            <a:r>
              <a:rPr lang="en-US" dirty="0"/>
              <a:t>Bedford et al., 2010, </a:t>
            </a:r>
            <a:r>
              <a:rPr lang="en-US" i="1" dirty="0" err="1"/>
              <a:t>PLoS</a:t>
            </a:r>
            <a:r>
              <a:rPr lang="en-US" i="1" dirty="0"/>
              <a:t> Path.</a:t>
            </a:r>
          </a:p>
        </p:txBody>
      </p:sp>
    </p:spTree>
    <p:extLst>
      <p:ext uri="{BB962C8B-B14F-4D97-AF65-F5344CB8AC3E}">
        <p14:creationId xmlns:p14="http://schemas.microsoft.com/office/powerpoint/2010/main" val="3442556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156C-D0FE-0A41-8AA1-3C78352115AE}"/>
              </a:ext>
            </a:extLst>
          </p:cNvPr>
          <p:cNvSpPr>
            <a:spLocks noGrp="1"/>
          </p:cNvSpPr>
          <p:nvPr>
            <p:ph type="title"/>
          </p:nvPr>
        </p:nvSpPr>
        <p:spPr/>
        <p:txBody>
          <a:bodyPr/>
          <a:lstStyle/>
          <a:p>
            <a:r>
              <a:rPr lang="en-US" dirty="0"/>
              <a:t>MERS sequences cluster by host of isolation</a:t>
            </a:r>
          </a:p>
        </p:txBody>
      </p:sp>
      <p:sp>
        <p:nvSpPr>
          <p:cNvPr id="6" name="TextBox 5">
            <a:extLst>
              <a:ext uri="{FF2B5EF4-FFF2-40B4-BE49-F238E27FC236}">
                <a16:creationId xmlns:a16="http://schemas.microsoft.com/office/drawing/2014/main" id="{107E97FC-AF98-154C-9D50-B35597771BD3}"/>
              </a:ext>
            </a:extLst>
          </p:cNvPr>
          <p:cNvSpPr txBox="1"/>
          <p:nvPr/>
        </p:nvSpPr>
        <p:spPr>
          <a:xfrm>
            <a:off x="9036424" y="6488668"/>
            <a:ext cx="3155576" cy="369332"/>
          </a:xfrm>
          <a:prstGeom prst="rect">
            <a:avLst/>
          </a:prstGeom>
          <a:noFill/>
        </p:spPr>
        <p:txBody>
          <a:bodyPr wrap="square" rtlCol="0">
            <a:spAutoFit/>
          </a:bodyPr>
          <a:lstStyle/>
          <a:p>
            <a:r>
              <a:rPr lang="en-US" dirty="0" err="1"/>
              <a:t>Dudas</a:t>
            </a:r>
            <a:r>
              <a:rPr lang="en-US" dirty="0"/>
              <a:t> et al., 2018, </a:t>
            </a:r>
            <a:r>
              <a:rPr lang="en-US" i="1" dirty="0" err="1"/>
              <a:t>eLife</a:t>
            </a:r>
            <a:endParaRPr lang="en-US" i="1" dirty="0"/>
          </a:p>
        </p:txBody>
      </p:sp>
      <p:pic>
        <p:nvPicPr>
          <p:cNvPr id="8" name="Content Placeholder 7" descr="A close up of a map&#10;&#10;Description automatically generated">
            <a:extLst>
              <a:ext uri="{FF2B5EF4-FFF2-40B4-BE49-F238E27FC236}">
                <a16:creationId xmlns:a16="http://schemas.microsoft.com/office/drawing/2014/main" id="{2CE7C41B-8045-7044-B457-7E91CC8220B4}"/>
              </a:ext>
            </a:extLst>
          </p:cNvPr>
          <p:cNvPicPr>
            <a:picLocks noGrp="1" noChangeAspect="1"/>
          </p:cNvPicPr>
          <p:nvPr>
            <p:ph idx="1"/>
          </p:nvPr>
        </p:nvPicPr>
        <p:blipFill>
          <a:blip r:embed="rId2"/>
          <a:stretch>
            <a:fillRect/>
          </a:stretch>
        </p:blipFill>
        <p:spPr>
          <a:xfrm>
            <a:off x="3544944" y="1353556"/>
            <a:ext cx="5102111" cy="5135112"/>
          </a:xfrm>
        </p:spPr>
      </p:pic>
    </p:spTree>
    <p:extLst>
      <p:ext uri="{BB962C8B-B14F-4D97-AF65-F5344CB8AC3E}">
        <p14:creationId xmlns:p14="http://schemas.microsoft.com/office/powerpoint/2010/main" val="4206505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590D-6FA8-9144-A279-B95D7182EC4F}"/>
              </a:ext>
            </a:extLst>
          </p:cNvPr>
          <p:cNvSpPr>
            <a:spLocks noGrp="1"/>
          </p:cNvSpPr>
          <p:nvPr>
            <p:ph type="title"/>
          </p:nvPr>
        </p:nvSpPr>
        <p:spPr/>
        <p:txBody>
          <a:bodyPr>
            <a:normAutofit/>
          </a:bodyPr>
          <a:lstStyle/>
          <a:p>
            <a:pPr algn="ctr"/>
            <a:r>
              <a:rPr lang="en-US" sz="2600" dirty="0">
                <a:latin typeface="Helvetica" pitchFamily="2" charset="0"/>
              </a:rPr>
              <a:t>In the posterior probability, modelling the population dynamics happens in the tree prior.</a:t>
            </a:r>
          </a:p>
        </p:txBody>
      </p:sp>
      <p:sp>
        <p:nvSpPr>
          <p:cNvPr id="3" name="Slide Number Placeholder 2">
            <a:extLst>
              <a:ext uri="{FF2B5EF4-FFF2-40B4-BE49-F238E27FC236}">
                <a16:creationId xmlns:a16="http://schemas.microsoft.com/office/drawing/2014/main" id="{9E9441AE-E283-B041-9161-33EDB9F07768}"/>
              </a:ext>
            </a:extLst>
          </p:cNvPr>
          <p:cNvSpPr>
            <a:spLocks noGrp="1"/>
          </p:cNvSpPr>
          <p:nvPr>
            <p:ph type="sldNum" sz="quarter" idx="12"/>
          </p:nvPr>
        </p:nvSpPr>
        <p:spPr/>
        <p:txBody>
          <a:bodyPr/>
          <a:lstStyle/>
          <a:p>
            <a:fld id="{15B526FD-742D-DA43-B9D4-8A35AE5387EE}" type="slidenum">
              <a:rPr lang="en-US" smtClean="0"/>
              <a:t>5</a:t>
            </a:fld>
            <a:endParaRPr lang="en-US" dirty="0"/>
          </a:p>
        </p:txBody>
      </p:sp>
      <p:sp>
        <p:nvSpPr>
          <p:cNvPr id="6" name="Rectangle 5">
            <a:extLst>
              <a:ext uri="{FF2B5EF4-FFF2-40B4-BE49-F238E27FC236}">
                <a16:creationId xmlns:a16="http://schemas.microsoft.com/office/drawing/2014/main" id="{1E3A1AEF-442A-B616-F5FE-3A78CF85280E}"/>
              </a:ext>
            </a:extLst>
          </p:cNvPr>
          <p:cNvSpPr/>
          <p:nvPr/>
        </p:nvSpPr>
        <p:spPr>
          <a:xfrm>
            <a:off x="7909222" y="6211669"/>
            <a:ext cx="6096000" cy="646331"/>
          </a:xfrm>
          <a:prstGeom prst="rect">
            <a:avLst/>
          </a:prstGeom>
        </p:spPr>
        <p:txBody>
          <a:bodyPr>
            <a:spAutoFit/>
          </a:bodyPr>
          <a:lstStyle/>
          <a:p>
            <a:r>
              <a:rPr lang="en-US" dirty="0" err="1">
                <a:solidFill>
                  <a:srgbClr val="464646"/>
                </a:solidFill>
                <a:latin typeface="Helvetica" pitchFamily="2" charset="0"/>
              </a:rPr>
              <a:t>DuPlessis</a:t>
            </a:r>
            <a:r>
              <a:rPr lang="en-US" dirty="0">
                <a:solidFill>
                  <a:srgbClr val="464646"/>
                </a:solidFill>
                <a:latin typeface="Helvetica" pitchFamily="2" charset="0"/>
              </a:rPr>
              <a:t>, L. et al. (2015), </a:t>
            </a:r>
          </a:p>
          <a:p>
            <a:r>
              <a:rPr lang="en-US" dirty="0">
                <a:solidFill>
                  <a:srgbClr val="464646"/>
                </a:solidFill>
                <a:latin typeface="Helvetica" pitchFamily="2" charset="0"/>
              </a:rPr>
              <a:t>Trends in Microbiology</a:t>
            </a:r>
            <a:endParaRPr lang="en-US" dirty="0">
              <a:latin typeface="Helvetica" pitchFamily="2" charset="0"/>
            </a:endParaRPr>
          </a:p>
        </p:txBody>
      </p:sp>
      <p:pic>
        <p:nvPicPr>
          <p:cNvPr id="7" name="Content Placeholder 9">
            <a:extLst>
              <a:ext uri="{FF2B5EF4-FFF2-40B4-BE49-F238E27FC236}">
                <a16:creationId xmlns:a16="http://schemas.microsoft.com/office/drawing/2014/main" id="{5D413B98-1830-911D-65D9-A4EF94C04198}"/>
              </a:ext>
            </a:extLst>
          </p:cNvPr>
          <p:cNvPicPr>
            <a:picLocks noChangeAspect="1"/>
          </p:cNvPicPr>
          <p:nvPr/>
        </p:nvPicPr>
        <p:blipFill>
          <a:blip r:embed="rId3"/>
          <a:stretch>
            <a:fillRect/>
          </a:stretch>
        </p:blipFill>
        <p:spPr>
          <a:xfrm>
            <a:off x="838200" y="3224154"/>
            <a:ext cx="10490071" cy="876782"/>
          </a:xfrm>
          <a:prstGeom prst="rect">
            <a:avLst/>
          </a:prstGeom>
        </p:spPr>
      </p:pic>
    </p:spTree>
    <p:extLst>
      <p:ext uri="{BB962C8B-B14F-4D97-AF65-F5344CB8AC3E}">
        <p14:creationId xmlns:p14="http://schemas.microsoft.com/office/powerpoint/2010/main" val="666591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C809-215F-DA4D-953C-11D58D0AA6EC}"/>
              </a:ext>
            </a:extLst>
          </p:cNvPr>
          <p:cNvSpPr>
            <a:spLocks noGrp="1"/>
          </p:cNvSpPr>
          <p:nvPr>
            <p:ph type="title"/>
          </p:nvPr>
        </p:nvSpPr>
        <p:spPr/>
        <p:txBody>
          <a:bodyPr>
            <a:normAutofit/>
          </a:bodyPr>
          <a:lstStyle/>
          <a:p>
            <a:r>
              <a:rPr lang="en-US" dirty="0"/>
              <a:t>Models to account for population structure:</a:t>
            </a:r>
          </a:p>
        </p:txBody>
      </p:sp>
      <p:sp>
        <p:nvSpPr>
          <p:cNvPr id="4" name="Content Placeholder 3">
            <a:extLst>
              <a:ext uri="{FF2B5EF4-FFF2-40B4-BE49-F238E27FC236}">
                <a16:creationId xmlns:a16="http://schemas.microsoft.com/office/drawing/2014/main" id="{AC39F930-64DB-584D-9C5E-A832107C7F60}"/>
              </a:ext>
            </a:extLst>
          </p:cNvPr>
          <p:cNvSpPr>
            <a:spLocks noGrp="1"/>
          </p:cNvSpPr>
          <p:nvPr>
            <p:ph idx="1"/>
          </p:nvPr>
        </p:nvSpPr>
        <p:spPr/>
        <p:txBody>
          <a:bodyPr/>
          <a:lstStyle/>
          <a:p>
            <a:r>
              <a:rPr lang="en-US" b="1" dirty="0"/>
              <a:t>DTA: </a:t>
            </a:r>
            <a:r>
              <a:rPr lang="en-US" dirty="0"/>
              <a:t>Assumes structure to be a neutral trait evolving “on top” of a phylogenetic tree (</a:t>
            </a:r>
            <a:r>
              <a:rPr lang="en-US" dirty="0" err="1"/>
              <a:t>Lemey</a:t>
            </a:r>
            <a:r>
              <a:rPr lang="en-US" dirty="0"/>
              <a:t> 2009).</a:t>
            </a:r>
          </a:p>
          <a:p>
            <a:endParaRPr lang="en-US" dirty="0"/>
          </a:p>
          <a:p>
            <a:r>
              <a:rPr lang="en-US" b="1" dirty="0"/>
              <a:t>Structured Coalescent: </a:t>
            </a:r>
            <a:r>
              <a:rPr lang="en-US" dirty="0"/>
              <a:t>Models how lineages coalesce within and migrate between discrete locations.</a:t>
            </a:r>
          </a:p>
          <a:p>
            <a:endParaRPr lang="en-US" dirty="0"/>
          </a:p>
          <a:p>
            <a:r>
              <a:rPr lang="en-US" b="1" dirty="0"/>
              <a:t>Multi-type Birth-death models: </a:t>
            </a:r>
            <a:r>
              <a:rPr lang="en-US" dirty="0"/>
              <a:t>Models how lineages give birth to other lineage in the same and migrate between them.</a:t>
            </a:r>
          </a:p>
        </p:txBody>
      </p:sp>
    </p:spTree>
    <p:extLst>
      <p:ext uri="{BB962C8B-B14F-4D97-AF65-F5344CB8AC3E}">
        <p14:creationId xmlns:p14="http://schemas.microsoft.com/office/powerpoint/2010/main" val="132630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C809-215F-DA4D-953C-11D58D0AA6EC}"/>
              </a:ext>
            </a:extLst>
          </p:cNvPr>
          <p:cNvSpPr>
            <a:spLocks noGrp="1"/>
          </p:cNvSpPr>
          <p:nvPr>
            <p:ph type="title"/>
          </p:nvPr>
        </p:nvSpPr>
        <p:spPr/>
        <p:txBody>
          <a:bodyPr>
            <a:normAutofit fontScale="90000"/>
          </a:bodyPr>
          <a:lstStyle/>
          <a:p>
            <a:r>
              <a:rPr lang="en-US" dirty="0"/>
              <a:t>Tree was generated by a different process (e.g. a coalescent process).</a:t>
            </a:r>
            <a:br>
              <a:rPr lang="en-US" dirty="0"/>
            </a:br>
            <a:endParaRPr lang="en-US" dirty="0"/>
          </a:p>
        </p:txBody>
      </p:sp>
      <p:pic>
        <p:nvPicPr>
          <p:cNvPr id="7" name="Content Placeholder 6">
            <a:extLst>
              <a:ext uri="{FF2B5EF4-FFF2-40B4-BE49-F238E27FC236}">
                <a16:creationId xmlns:a16="http://schemas.microsoft.com/office/drawing/2014/main" id="{4F3BED16-4AE2-E043-9C82-B3D334AF0B64}"/>
              </a:ext>
            </a:extLst>
          </p:cNvPr>
          <p:cNvPicPr>
            <a:picLocks noGrp="1" noChangeAspect="1"/>
          </p:cNvPicPr>
          <p:nvPr>
            <p:ph idx="1"/>
          </p:nvPr>
        </p:nvPicPr>
        <p:blipFill>
          <a:blip r:embed="rId3"/>
          <a:stretch>
            <a:fillRect/>
          </a:stretch>
        </p:blipFill>
        <p:spPr>
          <a:xfrm>
            <a:off x="3045198" y="1690688"/>
            <a:ext cx="6101603" cy="4572000"/>
          </a:xfrm>
        </p:spPr>
      </p:pic>
      <p:sp>
        <p:nvSpPr>
          <p:cNvPr id="8" name="TextBox 7">
            <a:extLst>
              <a:ext uri="{FF2B5EF4-FFF2-40B4-BE49-F238E27FC236}">
                <a16:creationId xmlns:a16="http://schemas.microsoft.com/office/drawing/2014/main" id="{1D0595BD-283F-DD46-B55A-89AF5FC598D6}"/>
              </a:ext>
            </a:extLst>
          </p:cNvPr>
          <p:cNvSpPr txBox="1"/>
          <p:nvPr/>
        </p:nvSpPr>
        <p:spPr>
          <a:xfrm>
            <a:off x="9036424" y="6488668"/>
            <a:ext cx="3155576" cy="369332"/>
          </a:xfrm>
          <a:prstGeom prst="rect">
            <a:avLst/>
          </a:prstGeom>
          <a:noFill/>
        </p:spPr>
        <p:txBody>
          <a:bodyPr wrap="square" rtlCol="0">
            <a:spAutoFit/>
          </a:bodyPr>
          <a:lstStyle/>
          <a:p>
            <a:r>
              <a:rPr lang="en-US" dirty="0"/>
              <a:t>Slide from Timothy Vaughan</a:t>
            </a:r>
            <a:endParaRPr lang="en-US" i="1" dirty="0"/>
          </a:p>
        </p:txBody>
      </p:sp>
    </p:spTree>
    <p:extLst>
      <p:ext uri="{BB962C8B-B14F-4D97-AF65-F5344CB8AC3E}">
        <p14:creationId xmlns:p14="http://schemas.microsoft.com/office/powerpoint/2010/main" val="1058663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C809-215F-DA4D-953C-11D58D0AA6EC}"/>
              </a:ext>
            </a:extLst>
          </p:cNvPr>
          <p:cNvSpPr>
            <a:spLocks noGrp="1"/>
          </p:cNvSpPr>
          <p:nvPr>
            <p:ph type="title"/>
          </p:nvPr>
        </p:nvSpPr>
        <p:spPr/>
        <p:txBody>
          <a:bodyPr>
            <a:normAutofit/>
          </a:bodyPr>
          <a:lstStyle/>
          <a:p>
            <a:r>
              <a:rPr lang="en-US" dirty="0"/>
              <a:t>Root of the tree is in some location (here red)</a:t>
            </a:r>
          </a:p>
        </p:txBody>
      </p:sp>
      <p:sp>
        <p:nvSpPr>
          <p:cNvPr id="8" name="TextBox 7">
            <a:extLst>
              <a:ext uri="{FF2B5EF4-FFF2-40B4-BE49-F238E27FC236}">
                <a16:creationId xmlns:a16="http://schemas.microsoft.com/office/drawing/2014/main" id="{1D0595BD-283F-DD46-B55A-89AF5FC598D6}"/>
              </a:ext>
            </a:extLst>
          </p:cNvPr>
          <p:cNvSpPr txBox="1"/>
          <p:nvPr/>
        </p:nvSpPr>
        <p:spPr>
          <a:xfrm>
            <a:off x="9036424" y="6488668"/>
            <a:ext cx="3155576" cy="369332"/>
          </a:xfrm>
          <a:prstGeom prst="rect">
            <a:avLst/>
          </a:prstGeom>
          <a:noFill/>
        </p:spPr>
        <p:txBody>
          <a:bodyPr wrap="square" rtlCol="0">
            <a:spAutoFit/>
          </a:bodyPr>
          <a:lstStyle/>
          <a:p>
            <a:r>
              <a:rPr lang="en-US" dirty="0"/>
              <a:t>Slide from Timothy Vaughan</a:t>
            </a:r>
            <a:endParaRPr lang="en-US" i="1" dirty="0"/>
          </a:p>
        </p:txBody>
      </p:sp>
      <p:pic>
        <p:nvPicPr>
          <p:cNvPr id="6" name="Content Placeholder 5">
            <a:extLst>
              <a:ext uri="{FF2B5EF4-FFF2-40B4-BE49-F238E27FC236}">
                <a16:creationId xmlns:a16="http://schemas.microsoft.com/office/drawing/2014/main" id="{9A1FA5FA-24C3-7C45-9BE3-86ECF162DC52}"/>
              </a:ext>
            </a:extLst>
          </p:cNvPr>
          <p:cNvPicPr>
            <a:picLocks noGrp="1" noChangeAspect="1"/>
          </p:cNvPicPr>
          <p:nvPr>
            <p:ph idx="1"/>
          </p:nvPr>
        </p:nvPicPr>
        <p:blipFill>
          <a:blip r:embed="rId3"/>
          <a:stretch>
            <a:fillRect/>
          </a:stretch>
        </p:blipFill>
        <p:spPr>
          <a:xfrm>
            <a:off x="3045198" y="1690688"/>
            <a:ext cx="6101603" cy="4572000"/>
          </a:xfrm>
        </p:spPr>
      </p:pic>
    </p:spTree>
    <p:extLst>
      <p:ext uri="{BB962C8B-B14F-4D97-AF65-F5344CB8AC3E}">
        <p14:creationId xmlns:p14="http://schemas.microsoft.com/office/powerpoint/2010/main" val="2328927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C809-215F-DA4D-953C-11D58D0AA6EC}"/>
              </a:ext>
            </a:extLst>
          </p:cNvPr>
          <p:cNvSpPr>
            <a:spLocks noGrp="1"/>
          </p:cNvSpPr>
          <p:nvPr>
            <p:ph type="title"/>
          </p:nvPr>
        </p:nvSpPr>
        <p:spPr/>
        <p:txBody>
          <a:bodyPr>
            <a:normAutofit/>
          </a:bodyPr>
          <a:lstStyle/>
          <a:p>
            <a:r>
              <a:rPr lang="en-US" dirty="0"/>
              <a:t>Then models the migration process on top of this tree from the root to the tips</a:t>
            </a:r>
          </a:p>
        </p:txBody>
      </p:sp>
      <p:pic>
        <p:nvPicPr>
          <p:cNvPr id="9" name="Content Placeholder 8">
            <a:extLst>
              <a:ext uri="{FF2B5EF4-FFF2-40B4-BE49-F238E27FC236}">
                <a16:creationId xmlns:a16="http://schemas.microsoft.com/office/drawing/2014/main" id="{876B7A15-1F95-EE42-BA91-68441FF8EE97}"/>
              </a:ext>
            </a:extLst>
          </p:cNvPr>
          <p:cNvPicPr>
            <a:picLocks noGrp="1" noChangeAspect="1"/>
          </p:cNvPicPr>
          <p:nvPr>
            <p:ph idx="1"/>
          </p:nvPr>
        </p:nvPicPr>
        <p:blipFill>
          <a:blip r:embed="rId3"/>
          <a:stretch>
            <a:fillRect/>
          </a:stretch>
        </p:blipFill>
        <p:spPr>
          <a:xfrm>
            <a:off x="3045198" y="1690688"/>
            <a:ext cx="6101603" cy="4572000"/>
          </a:xfrm>
        </p:spPr>
      </p:pic>
      <p:sp>
        <p:nvSpPr>
          <p:cNvPr id="10" name="TextBox 9">
            <a:extLst>
              <a:ext uri="{FF2B5EF4-FFF2-40B4-BE49-F238E27FC236}">
                <a16:creationId xmlns:a16="http://schemas.microsoft.com/office/drawing/2014/main" id="{0DE05DE7-65F1-7F40-AFE7-8CBC4D7A403B}"/>
              </a:ext>
            </a:extLst>
          </p:cNvPr>
          <p:cNvSpPr txBox="1"/>
          <p:nvPr/>
        </p:nvSpPr>
        <p:spPr>
          <a:xfrm>
            <a:off x="9036424" y="6488668"/>
            <a:ext cx="3155576" cy="369332"/>
          </a:xfrm>
          <a:prstGeom prst="rect">
            <a:avLst/>
          </a:prstGeom>
          <a:noFill/>
        </p:spPr>
        <p:txBody>
          <a:bodyPr wrap="square" rtlCol="0">
            <a:spAutoFit/>
          </a:bodyPr>
          <a:lstStyle/>
          <a:p>
            <a:r>
              <a:rPr lang="en-US" dirty="0"/>
              <a:t>Slide from Timothy Vaughan</a:t>
            </a:r>
            <a:endParaRPr lang="en-US" i="1" dirty="0"/>
          </a:p>
        </p:txBody>
      </p:sp>
    </p:spTree>
    <p:extLst>
      <p:ext uri="{BB962C8B-B14F-4D97-AF65-F5344CB8AC3E}">
        <p14:creationId xmlns:p14="http://schemas.microsoft.com/office/powerpoint/2010/main" val="3818408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C809-215F-DA4D-953C-11D58D0AA6EC}"/>
              </a:ext>
            </a:extLst>
          </p:cNvPr>
          <p:cNvSpPr>
            <a:spLocks noGrp="1"/>
          </p:cNvSpPr>
          <p:nvPr>
            <p:ph type="title"/>
          </p:nvPr>
        </p:nvSpPr>
        <p:spPr/>
        <p:txBody>
          <a:bodyPr>
            <a:normAutofit/>
          </a:bodyPr>
          <a:lstStyle/>
          <a:p>
            <a:r>
              <a:rPr lang="en-US" dirty="0"/>
              <a:t>Sampling locations are considered Data.</a:t>
            </a:r>
          </a:p>
        </p:txBody>
      </p:sp>
      <p:pic>
        <p:nvPicPr>
          <p:cNvPr id="5" name="Content Placeholder 4">
            <a:extLst>
              <a:ext uri="{FF2B5EF4-FFF2-40B4-BE49-F238E27FC236}">
                <a16:creationId xmlns:a16="http://schemas.microsoft.com/office/drawing/2014/main" id="{C904D3B5-82AD-5646-BFBC-796E5979A21D}"/>
              </a:ext>
            </a:extLst>
          </p:cNvPr>
          <p:cNvPicPr>
            <a:picLocks noGrp="1" noChangeAspect="1"/>
          </p:cNvPicPr>
          <p:nvPr>
            <p:ph idx="1"/>
          </p:nvPr>
        </p:nvPicPr>
        <p:blipFill>
          <a:blip r:embed="rId3"/>
          <a:stretch>
            <a:fillRect/>
          </a:stretch>
        </p:blipFill>
        <p:spPr>
          <a:xfrm>
            <a:off x="3045198" y="1690688"/>
            <a:ext cx="6101603" cy="4572000"/>
          </a:xfrm>
        </p:spPr>
      </p:pic>
      <p:sp>
        <p:nvSpPr>
          <p:cNvPr id="6" name="TextBox 5">
            <a:extLst>
              <a:ext uri="{FF2B5EF4-FFF2-40B4-BE49-F238E27FC236}">
                <a16:creationId xmlns:a16="http://schemas.microsoft.com/office/drawing/2014/main" id="{70676016-B560-BB47-BF53-0CD2474E942F}"/>
              </a:ext>
            </a:extLst>
          </p:cNvPr>
          <p:cNvSpPr txBox="1"/>
          <p:nvPr/>
        </p:nvSpPr>
        <p:spPr>
          <a:xfrm>
            <a:off x="9036424" y="6488668"/>
            <a:ext cx="3155576" cy="369332"/>
          </a:xfrm>
          <a:prstGeom prst="rect">
            <a:avLst/>
          </a:prstGeom>
          <a:noFill/>
        </p:spPr>
        <p:txBody>
          <a:bodyPr wrap="square" rtlCol="0">
            <a:spAutoFit/>
          </a:bodyPr>
          <a:lstStyle/>
          <a:p>
            <a:r>
              <a:rPr lang="en-US" dirty="0"/>
              <a:t>Slide from Timothy Vaughan</a:t>
            </a:r>
            <a:endParaRPr lang="en-US" i="1" dirty="0"/>
          </a:p>
        </p:txBody>
      </p:sp>
    </p:spTree>
    <p:extLst>
      <p:ext uri="{BB962C8B-B14F-4D97-AF65-F5344CB8AC3E}">
        <p14:creationId xmlns:p14="http://schemas.microsoft.com/office/powerpoint/2010/main" val="1122633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FC809-215F-DA4D-953C-11D58D0AA6EC}"/>
              </a:ext>
            </a:extLst>
          </p:cNvPr>
          <p:cNvSpPr>
            <a:spLocks noGrp="1"/>
          </p:cNvSpPr>
          <p:nvPr>
            <p:ph type="title"/>
          </p:nvPr>
        </p:nvSpPr>
        <p:spPr/>
        <p:txBody>
          <a:bodyPr>
            <a:normAutofit/>
          </a:bodyPr>
          <a:lstStyle/>
          <a:p>
            <a:r>
              <a:rPr lang="en-US" dirty="0"/>
              <a:t>Discrete trait analyses treat geography the same way as substitutions are treated</a:t>
            </a:r>
          </a:p>
        </p:txBody>
      </p:sp>
      <p:sp>
        <p:nvSpPr>
          <p:cNvPr id="4" name="Content Placeholder 3">
            <a:extLst>
              <a:ext uri="{FF2B5EF4-FFF2-40B4-BE49-F238E27FC236}">
                <a16:creationId xmlns:a16="http://schemas.microsoft.com/office/drawing/2014/main" id="{AC39F930-64DB-584D-9C5E-A832107C7F60}"/>
              </a:ext>
            </a:extLst>
          </p:cNvPr>
          <p:cNvSpPr>
            <a:spLocks noGrp="1"/>
          </p:cNvSpPr>
          <p:nvPr>
            <p:ph idx="1"/>
          </p:nvPr>
        </p:nvSpPr>
        <p:spPr/>
        <p:txBody>
          <a:bodyPr/>
          <a:lstStyle/>
          <a:p>
            <a:r>
              <a:rPr lang="en-US" dirty="0"/>
              <a:t>Some number of states instead of the 4 nucleotides are considered, but only one position. The number of states corresponds to discrete locations. </a:t>
            </a:r>
          </a:p>
          <a:p>
            <a:endParaRPr lang="en-US" b="1" dirty="0"/>
          </a:p>
          <a:p>
            <a:r>
              <a:rPr lang="en-US" dirty="0"/>
              <a:t>Some transition model between states (can be asymmetric) which are the migration rates.</a:t>
            </a:r>
          </a:p>
          <a:p>
            <a:endParaRPr lang="en-US" dirty="0"/>
          </a:p>
          <a:p>
            <a:r>
              <a:rPr lang="en-US" dirty="0"/>
              <a:t>Is not a tree prior, as such, a separate tree prior is needed.</a:t>
            </a:r>
          </a:p>
          <a:p>
            <a:endParaRPr lang="en-US" dirty="0"/>
          </a:p>
          <a:p>
            <a:endParaRPr lang="en-US" b="1" dirty="0"/>
          </a:p>
          <a:p>
            <a:endParaRPr lang="en-US" dirty="0"/>
          </a:p>
          <a:p>
            <a:endParaRPr lang="en-US" dirty="0"/>
          </a:p>
        </p:txBody>
      </p:sp>
    </p:spTree>
    <p:extLst>
      <p:ext uri="{BB962C8B-B14F-4D97-AF65-F5344CB8AC3E}">
        <p14:creationId xmlns:p14="http://schemas.microsoft.com/office/powerpoint/2010/main" val="1212976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18D9-6780-E047-8770-9CD2A7039E40}"/>
              </a:ext>
            </a:extLst>
          </p:cNvPr>
          <p:cNvSpPr>
            <a:spLocks noGrp="1"/>
          </p:cNvSpPr>
          <p:nvPr>
            <p:ph type="title"/>
          </p:nvPr>
        </p:nvSpPr>
        <p:spPr>
          <a:xfrm>
            <a:off x="838199" y="583369"/>
            <a:ext cx="10515600" cy="1325563"/>
          </a:xfrm>
        </p:spPr>
        <p:txBody>
          <a:bodyPr>
            <a:normAutofit/>
          </a:bodyPr>
          <a:lstStyle/>
          <a:p>
            <a:r>
              <a:rPr lang="en-US" dirty="0"/>
              <a:t>Migration rates can be informed using outside data in a GLM approach</a:t>
            </a:r>
          </a:p>
        </p:txBody>
      </p:sp>
      <p:pic>
        <p:nvPicPr>
          <p:cNvPr id="5" name="Content Placeholder 4">
            <a:extLst>
              <a:ext uri="{FF2B5EF4-FFF2-40B4-BE49-F238E27FC236}">
                <a16:creationId xmlns:a16="http://schemas.microsoft.com/office/drawing/2014/main" id="{33848B9F-1BE9-F945-8C96-36EE43B87D8A}"/>
              </a:ext>
            </a:extLst>
          </p:cNvPr>
          <p:cNvPicPr>
            <a:picLocks noGrp="1" noChangeAspect="1"/>
          </p:cNvPicPr>
          <p:nvPr>
            <p:ph idx="1"/>
          </p:nvPr>
        </p:nvPicPr>
        <p:blipFill>
          <a:blip r:embed="rId2"/>
          <a:stretch>
            <a:fillRect/>
          </a:stretch>
        </p:blipFill>
        <p:spPr>
          <a:xfrm>
            <a:off x="2077620" y="1908932"/>
            <a:ext cx="8036759" cy="4422595"/>
          </a:xfrm>
        </p:spPr>
      </p:pic>
    </p:spTree>
    <p:extLst>
      <p:ext uri="{BB962C8B-B14F-4D97-AF65-F5344CB8AC3E}">
        <p14:creationId xmlns:p14="http://schemas.microsoft.com/office/powerpoint/2010/main" val="3076998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0D232-9803-384B-A638-531D933B0F53}"/>
              </a:ext>
            </a:extLst>
          </p:cNvPr>
          <p:cNvSpPr>
            <a:spLocks noGrp="1"/>
          </p:cNvSpPr>
          <p:nvPr>
            <p:ph type="title"/>
          </p:nvPr>
        </p:nvSpPr>
        <p:spPr/>
        <p:txBody>
          <a:bodyPr/>
          <a:lstStyle/>
          <a:p>
            <a:r>
              <a:rPr lang="en-US" dirty="0"/>
              <a:t>Migration rates in the DTA model can be informed by transportation Data</a:t>
            </a:r>
          </a:p>
        </p:txBody>
      </p:sp>
      <p:sp>
        <p:nvSpPr>
          <p:cNvPr id="3" name="Content Placeholder 2">
            <a:extLst>
              <a:ext uri="{FF2B5EF4-FFF2-40B4-BE49-F238E27FC236}">
                <a16:creationId xmlns:a16="http://schemas.microsoft.com/office/drawing/2014/main" id="{FE3AF773-5B84-D045-B7A4-25B878A803D3}"/>
              </a:ext>
            </a:extLst>
          </p:cNvPr>
          <p:cNvSpPr>
            <a:spLocks noGrp="1"/>
          </p:cNvSpPr>
          <p:nvPr>
            <p:ph idx="1"/>
          </p:nvPr>
        </p:nvSpPr>
        <p:spPr/>
        <p:txBody>
          <a:bodyPr/>
          <a:lstStyle/>
          <a:p>
            <a:endParaRPr lang="en-US"/>
          </a:p>
        </p:txBody>
      </p:sp>
      <p:pic>
        <p:nvPicPr>
          <p:cNvPr id="4" name="Picture 2">
            <a:extLst>
              <a:ext uri="{FF2B5EF4-FFF2-40B4-BE49-F238E27FC236}">
                <a16:creationId xmlns:a16="http://schemas.microsoft.com/office/drawing/2014/main" id="{F58E3A1B-D2F7-7448-A95D-7AEDDE4DF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966" y="1690688"/>
            <a:ext cx="5047698" cy="516731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BD0EC7-4DA9-2848-A2AE-B1426168ACDE}"/>
              </a:ext>
            </a:extLst>
          </p:cNvPr>
          <p:cNvSpPr txBox="1"/>
          <p:nvPr/>
        </p:nvSpPr>
        <p:spPr>
          <a:xfrm>
            <a:off x="9036424" y="6488668"/>
            <a:ext cx="3155576" cy="369332"/>
          </a:xfrm>
          <a:prstGeom prst="rect">
            <a:avLst/>
          </a:prstGeom>
          <a:noFill/>
        </p:spPr>
        <p:txBody>
          <a:bodyPr wrap="square" rtlCol="0">
            <a:spAutoFit/>
          </a:bodyPr>
          <a:lstStyle/>
          <a:p>
            <a:r>
              <a:rPr lang="en-US" dirty="0" err="1"/>
              <a:t>Lemey</a:t>
            </a:r>
            <a:r>
              <a:rPr lang="en-US" dirty="0"/>
              <a:t> et al., 2014, </a:t>
            </a:r>
            <a:r>
              <a:rPr lang="en-US" i="1" dirty="0" err="1"/>
              <a:t>PLoS</a:t>
            </a:r>
            <a:r>
              <a:rPr lang="en-US" i="1" dirty="0"/>
              <a:t> Path.</a:t>
            </a:r>
          </a:p>
        </p:txBody>
      </p:sp>
      <p:pic>
        <p:nvPicPr>
          <p:cNvPr id="6" name="Picture 2">
            <a:extLst>
              <a:ext uri="{FF2B5EF4-FFF2-40B4-BE49-F238E27FC236}">
                <a16:creationId xmlns:a16="http://schemas.microsoft.com/office/drawing/2014/main" id="{44D0FD03-5DBE-1640-852E-27FF3F0A15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7841"/>
          <a:stretch/>
        </p:blipFill>
        <p:spPr bwMode="auto">
          <a:xfrm>
            <a:off x="5708785" y="1531144"/>
            <a:ext cx="3327639" cy="5029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7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60F56-56C7-BE96-ACE4-1E146BDB1353}"/>
            </a:ext>
          </a:extLst>
        </p:cNvPr>
        <p:cNvGrpSpPr/>
        <p:nvPr/>
      </p:nvGrpSpPr>
      <p:grpSpPr>
        <a:xfrm>
          <a:off x="0" y="0"/>
          <a:ext cx="0" cy="0"/>
          <a:chOff x="0" y="0"/>
          <a:chExt cx="0" cy="0"/>
        </a:xfrm>
      </p:grpSpPr>
      <p:pic>
        <p:nvPicPr>
          <p:cNvPr id="10" name="Content Placeholder 9" descr="A screenshot of a computer&#10;&#10;AI-generated content may be incorrect.">
            <a:extLst>
              <a:ext uri="{FF2B5EF4-FFF2-40B4-BE49-F238E27FC236}">
                <a16:creationId xmlns:a16="http://schemas.microsoft.com/office/drawing/2014/main" id="{E330D254-4EC0-4B17-FC8D-6CB024ECC89D}"/>
              </a:ext>
            </a:extLst>
          </p:cNvPr>
          <p:cNvPicPr>
            <a:picLocks noGrp="1" noChangeAspect="1"/>
          </p:cNvPicPr>
          <p:nvPr>
            <p:ph idx="1"/>
          </p:nvPr>
        </p:nvPicPr>
        <p:blipFill>
          <a:blip r:embed="rId2"/>
          <a:stretch>
            <a:fillRect/>
          </a:stretch>
        </p:blipFill>
        <p:spPr>
          <a:xfrm>
            <a:off x="838200" y="365125"/>
            <a:ext cx="5466080" cy="4351338"/>
          </a:xfrm>
        </p:spPr>
      </p:pic>
      <p:sp>
        <p:nvSpPr>
          <p:cNvPr id="5" name="TextBox 4">
            <a:extLst>
              <a:ext uri="{FF2B5EF4-FFF2-40B4-BE49-F238E27FC236}">
                <a16:creationId xmlns:a16="http://schemas.microsoft.com/office/drawing/2014/main" id="{F40C368E-C0EF-FC95-0CD2-E36216DA7A2E}"/>
              </a:ext>
            </a:extLst>
          </p:cNvPr>
          <p:cNvSpPr txBox="1"/>
          <p:nvPr/>
        </p:nvSpPr>
        <p:spPr>
          <a:xfrm>
            <a:off x="9036424" y="6488668"/>
            <a:ext cx="3155576" cy="369332"/>
          </a:xfrm>
          <a:prstGeom prst="rect">
            <a:avLst/>
          </a:prstGeom>
          <a:noFill/>
        </p:spPr>
        <p:txBody>
          <a:bodyPr wrap="square" rtlCol="0">
            <a:spAutoFit/>
          </a:bodyPr>
          <a:lstStyle/>
          <a:p>
            <a:r>
              <a:rPr lang="en-US" dirty="0" err="1"/>
              <a:t>Lemey</a:t>
            </a:r>
            <a:r>
              <a:rPr lang="en-US" dirty="0"/>
              <a:t> et al., 2020, </a:t>
            </a:r>
            <a:r>
              <a:rPr lang="en-US" i="1" dirty="0"/>
              <a:t>Nat. Comm.</a:t>
            </a:r>
          </a:p>
        </p:txBody>
      </p:sp>
      <p:pic>
        <p:nvPicPr>
          <p:cNvPr id="12" name="Picture 11" descr="A diagram of a graph&#10;&#10;AI-generated content may be incorrect.">
            <a:extLst>
              <a:ext uri="{FF2B5EF4-FFF2-40B4-BE49-F238E27FC236}">
                <a16:creationId xmlns:a16="http://schemas.microsoft.com/office/drawing/2014/main" id="{488AADB0-6430-CF06-C879-7BDAAE160FEF}"/>
              </a:ext>
            </a:extLst>
          </p:cNvPr>
          <p:cNvPicPr>
            <a:picLocks noChangeAspect="1"/>
          </p:cNvPicPr>
          <p:nvPr/>
        </p:nvPicPr>
        <p:blipFill>
          <a:blip r:embed="rId3"/>
          <a:stretch>
            <a:fillRect/>
          </a:stretch>
        </p:blipFill>
        <p:spPr>
          <a:xfrm>
            <a:off x="6034118" y="1722671"/>
            <a:ext cx="5589845" cy="4765997"/>
          </a:xfrm>
          <a:prstGeom prst="rect">
            <a:avLst/>
          </a:prstGeom>
        </p:spPr>
      </p:pic>
    </p:spTree>
    <p:extLst>
      <p:ext uri="{BB962C8B-B14F-4D97-AF65-F5344CB8AC3E}">
        <p14:creationId xmlns:p14="http://schemas.microsoft.com/office/powerpoint/2010/main" val="1556116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9F8CF2-B5BC-5613-1D5F-FF691DE679BD}"/>
              </a:ext>
            </a:extLst>
          </p:cNvPr>
          <p:cNvPicPr>
            <a:picLocks noChangeAspect="1"/>
          </p:cNvPicPr>
          <p:nvPr/>
        </p:nvPicPr>
        <p:blipFill>
          <a:blip r:embed="rId2"/>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We track the ancestry of 4 viruses isolated from 4 people in 3 locations from present to past</a:t>
            </a:r>
          </a:p>
        </p:txBody>
      </p:sp>
    </p:spTree>
    <p:extLst>
      <p:ext uri="{BB962C8B-B14F-4D97-AF65-F5344CB8AC3E}">
        <p14:creationId xmlns:p14="http://schemas.microsoft.com/office/powerpoint/2010/main" val="3879421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Lineages can have originated from a different location at a rate given by the migration rate.</a:t>
            </a:r>
          </a:p>
        </p:txBody>
      </p:sp>
      <p:pic>
        <p:nvPicPr>
          <p:cNvPr id="33" name="Picture 32">
            <a:extLst>
              <a:ext uri="{FF2B5EF4-FFF2-40B4-BE49-F238E27FC236}">
                <a16:creationId xmlns:a16="http://schemas.microsoft.com/office/drawing/2014/main" id="{F2FB0F12-56FB-C096-4CF6-95B717DA66E6}"/>
              </a:ext>
            </a:extLst>
          </p:cNvPr>
          <p:cNvPicPr>
            <a:picLocks noChangeAspect="1"/>
          </p:cNvPicPr>
          <p:nvPr/>
        </p:nvPicPr>
        <p:blipFill>
          <a:blip r:embed="rId2"/>
          <a:stretch>
            <a:fillRect/>
          </a:stretch>
        </p:blipFill>
        <p:spPr>
          <a:xfrm>
            <a:off x="2438400" y="2029936"/>
            <a:ext cx="7315200" cy="4089400"/>
          </a:xfrm>
          <a:prstGeom prst="rect">
            <a:avLst/>
          </a:prstGeom>
        </p:spPr>
      </p:pic>
    </p:spTree>
    <p:extLst>
      <p:ext uri="{BB962C8B-B14F-4D97-AF65-F5344CB8AC3E}">
        <p14:creationId xmlns:p14="http://schemas.microsoft.com/office/powerpoint/2010/main" val="12543812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0FFEC2E7-7BEB-D0D8-D108-292A15A864B2}"/>
              </a:ext>
            </a:extLst>
          </p:cNvPr>
          <p:cNvPicPr>
            <a:picLocks noChangeAspect="1"/>
          </p:cNvPicPr>
          <p:nvPr/>
        </p:nvPicPr>
        <p:blipFill>
          <a:blip r:embed="rId2"/>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Two lineages can share a common ancestor at a rate inverse proportional to the Ne of location blue</a:t>
            </a:r>
          </a:p>
        </p:txBody>
      </p:sp>
    </p:spTree>
    <p:extLst>
      <p:ext uri="{BB962C8B-B14F-4D97-AF65-F5344CB8AC3E}">
        <p14:creationId xmlns:p14="http://schemas.microsoft.com/office/powerpoint/2010/main" val="27410331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EB7E1268-D547-44BA-FCBD-D914ECC1119A}"/>
              </a:ext>
            </a:extLst>
          </p:cNvPr>
          <p:cNvPicPr>
            <a:picLocks noChangeAspect="1"/>
          </p:cNvPicPr>
          <p:nvPr/>
        </p:nvPicPr>
        <p:blipFill>
          <a:blip r:embed="rId2"/>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dirty="0"/>
              <a:t>Two lineages can share a common ancestor at a </a:t>
            </a:r>
            <a:r>
              <a:rPr lang="en-US" sz="3600" dirty="0"/>
              <a:t>rate inverse proportional to the Ne of location yellow</a:t>
            </a:r>
            <a:endParaRPr lang="en-US" dirty="0"/>
          </a:p>
        </p:txBody>
      </p:sp>
    </p:spTree>
    <p:extLst>
      <p:ext uri="{BB962C8B-B14F-4D97-AF65-F5344CB8AC3E}">
        <p14:creationId xmlns:p14="http://schemas.microsoft.com/office/powerpoint/2010/main" val="5932735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4093E8F6-AA63-D8E5-7FA1-86E4B01EB612}"/>
              </a:ext>
            </a:extLst>
          </p:cNvPr>
          <p:cNvPicPr>
            <a:picLocks noChangeAspect="1"/>
          </p:cNvPicPr>
          <p:nvPr/>
        </p:nvPicPr>
        <p:blipFill>
          <a:blip r:embed="rId2"/>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Lineages can have originated from a different location at a rate given by the migration rate.</a:t>
            </a:r>
          </a:p>
        </p:txBody>
      </p:sp>
    </p:spTree>
    <p:extLst>
      <p:ext uri="{BB962C8B-B14F-4D97-AF65-F5344CB8AC3E}">
        <p14:creationId xmlns:p14="http://schemas.microsoft.com/office/powerpoint/2010/main" val="1494314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6AD25C8D-43DD-2BAD-F384-3B8FBF66D992}"/>
              </a:ext>
            </a:extLst>
          </p:cNvPr>
          <p:cNvPicPr>
            <a:picLocks noChangeAspect="1"/>
          </p:cNvPicPr>
          <p:nvPr/>
        </p:nvPicPr>
        <p:blipFill>
          <a:blip r:embed="rId2"/>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And then coalesce again in location blue, reaching the root of the tree</a:t>
            </a:r>
          </a:p>
        </p:txBody>
      </p:sp>
    </p:spTree>
    <p:extLst>
      <p:ext uri="{BB962C8B-B14F-4D97-AF65-F5344CB8AC3E}">
        <p14:creationId xmlns:p14="http://schemas.microsoft.com/office/powerpoint/2010/main" val="28429460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BB354B4F-6AC2-8781-356D-985A41BCA205}"/>
              </a:ext>
            </a:extLst>
          </p:cNvPr>
          <p:cNvPicPr>
            <a:picLocks noChangeAspect="1"/>
          </p:cNvPicPr>
          <p:nvPr/>
        </p:nvPicPr>
        <p:blipFill>
          <a:blip r:embed="rId3"/>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The structured coalescent models how lineages coalesce within and migrate between locations</a:t>
            </a:r>
          </a:p>
        </p:txBody>
      </p:sp>
    </p:spTree>
    <p:extLst>
      <p:ext uri="{BB962C8B-B14F-4D97-AF65-F5344CB8AC3E}">
        <p14:creationId xmlns:p14="http://schemas.microsoft.com/office/powerpoint/2010/main" val="3280059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E59160-8F9F-124D-7F4C-0D0965734169}"/>
              </a:ext>
            </a:extLst>
          </p:cNvPr>
          <p:cNvPicPr>
            <a:picLocks noChangeAspect="1"/>
          </p:cNvPicPr>
          <p:nvPr/>
        </p:nvPicPr>
        <p:blipFill>
          <a:blip r:embed="rId3"/>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This allows us to estimate how migration rates between locations differ</a:t>
            </a:r>
          </a:p>
        </p:txBody>
      </p:sp>
    </p:spTree>
    <p:extLst>
      <p:ext uri="{BB962C8B-B14F-4D97-AF65-F5344CB8AC3E}">
        <p14:creationId xmlns:p14="http://schemas.microsoft.com/office/powerpoint/2010/main" val="1521280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4F4273-24A3-EC20-8D2A-562F80B1964F}"/>
              </a:ext>
            </a:extLst>
          </p:cNvPr>
          <p:cNvPicPr>
            <a:picLocks noChangeAspect="1"/>
          </p:cNvPicPr>
          <p:nvPr/>
        </p:nvPicPr>
        <p:blipFill>
          <a:blip r:embed="rId3"/>
          <a:stretch>
            <a:fillRect/>
          </a:stretch>
        </p:blipFill>
        <p:spPr>
          <a:xfrm>
            <a:off x="2438400" y="2029936"/>
            <a:ext cx="7315200" cy="4089400"/>
          </a:xfrm>
          <a:prstGeom prst="rect">
            <a:avLst/>
          </a:prstGeom>
        </p:spPr>
      </p:pic>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pPr algn="ctr"/>
            <a:r>
              <a:rPr lang="en-US" sz="3200" dirty="0"/>
              <a:t>Or how the number of infected individuals differs between location</a:t>
            </a:r>
          </a:p>
        </p:txBody>
      </p:sp>
    </p:spTree>
    <p:extLst>
      <p:ext uri="{BB962C8B-B14F-4D97-AF65-F5344CB8AC3E}">
        <p14:creationId xmlns:p14="http://schemas.microsoft.com/office/powerpoint/2010/main" val="833566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156C-D0FE-0A41-8AA1-3C78352115AE}"/>
              </a:ext>
            </a:extLst>
          </p:cNvPr>
          <p:cNvSpPr>
            <a:spLocks noGrp="1"/>
          </p:cNvSpPr>
          <p:nvPr>
            <p:ph type="title"/>
          </p:nvPr>
        </p:nvSpPr>
        <p:spPr/>
        <p:txBody>
          <a:bodyPr/>
          <a:lstStyle/>
          <a:p>
            <a:r>
              <a:rPr lang="en-US" dirty="0"/>
              <a:t>MERS sequences cluster by host of isolation</a:t>
            </a:r>
          </a:p>
        </p:txBody>
      </p:sp>
      <p:sp>
        <p:nvSpPr>
          <p:cNvPr id="6" name="TextBox 5">
            <a:extLst>
              <a:ext uri="{FF2B5EF4-FFF2-40B4-BE49-F238E27FC236}">
                <a16:creationId xmlns:a16="http://schemas.microsoft.com/office/drawing/2014/main" id="{107E97FC-AF98-154C-9D50-B35597771BD3}"/>
              </a:ext>
            </a:extLst>
          </p:cNvPr>
          <p:cNvSpPr txBox="1"/>
          <p:nvPr/>
        </p:nvSpPr>
        <p:spPr>
          <a:xfrm>
            <a:off x="9036424" y="6488668"/>
            <a:ext cx="3155576" cy="369332"/>
          </a:xfrm>
          <a:prstGeom prst="rect">
            <a:avLst/>
          </a:prstGeom>
          <a:noFill/>
        </p:spPr>
        <p:txBody>
          <a:bodyPr wrap="square" rtlCol="0">
            <a:spAutoFit/>
          </a:bodyPr>
          <a:lstStyle/>
          <a:p>
            <a:r>
              <a:rPr lang="en-US" dirty="0" err="1"/>
              <a:t>Dudas</a:t>
            </a:r>
            <a:r>
              <a:rPr lang="en-US" dirty="0"/>
              <a:t> et al., 2018, </a:t>
            </a:r>
            <a:r>
              <a:rPr lang="en-US" i="1" dirty="0" err="1"/>
              <a:t>eLife</a:t>
            </a:r>
            <a:endParaRPr lang="en-US" i="1" dirty="0"/>
          </a:p>
        </p:txBody>
      </p:sp>
      <p:pic>
        <p:nvPicPr>
          <p:cNvPr id="8" name="Content Placeholder 7" descr="A close up of a map&#10;&#10;Description automatically generated">
            <a:extLst>
              <a:ext uri="{FF2B5EF4-FFF2-40B4-BE49-F238E27FC236}">
                <a16:creationId xmlns:a16="http://schemas.microsoft.com/office/drawing/2014/main" id="{2CE7C41B-8045-7044-B457-7E91CC8220B4}"/>
              </a:ext>
            </a:extLst>
          </p:cNvPr>
          <p:cNvPicPr>
            <a:picLocks noGrp="1" noChangeAspect="1"/>
          </p:cNvPicPr>
          <p:nvPr>
            <p:ph idx="1"/>
          </p:nvPr>
        </p:nvPicPr>
        <p:blipFill>
          <a:blip r:embed="rId2"/>
          <a:stretch>
            <a:fillRect/>
          </a:stretch>
        </p:blipFill>
        <p:spPr>
          <a:xfrm>
            <a:off x="3544944" y="1353556"/>
            <a:ext cx="5102111" cy="5135112"/>
          </a:xfrm>
        </p:spPr>
      </p:pic>
    </p:spTree>
    <p:extLst>
      <p:ext uri="{BB962C8B-B14F-4D97-AF65-F5344CB8AC3E}">
        <p14:creationId xmlns:p14="http://schemas.microsoft.com/office/powerpoint/2010/main" val="607037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156C-D0FE-0A41-8AA1-3C78352115AE}"/>
              </a:ext>
            </a:extLst>
          </p:cNvPr>
          <p:cNvSpPr>
            <a:spLocks noGrp="1"/>
          </p:cNvSpPr>
          <p:nvPr>
            <p:ph type="title"/>
          </p:nvPr>
        </p:nvSpPr>
        <p:spPr/>
        <p:txBody>
          <a:bodyPr/>
          <a:lstStyle/>
          <a:p>
            <a:r>
              <a:rPr lang="en-US" dirty="0"/>
              <a:t>Seasonal trends in camel to human transmissions</a:t>
            </a:r>
          </a:p>
        </p:txBody>
      </p:sp>
      <p:sp>
        <p:nvSpPr>
          <p:cNvPr id="6" name="TextBox 5">
            <a:extLst>
              <a:ext uri="{FF2B5EF4-FFF2-40B4-BE49-F238E27FC236}">
                <a16:creationId xmlns:a16="http://schemas.microsoft.com/office/drawing/2014/main" id="{107E97FC-AF98-154C-9D50-B35597771BD3}"/>
              </a:ext>
            </a:extLst>
          </p:cNvPr>
          <p:cNvSpPr txBox="1"/>
          <p:nvPr/>
        </p:nvSpPr>
        <p:spPr>
          <a:xfrm>
            <a:off x="9036424" y="6488668"/>
            <a:ext cx="3155576" cy="369332"/>
          </a:xfrm>
          <a:prstGeom prst="rect">
            <a:avLst/>
          </a:prstGeom>
          <a:noFill/>
        </p:spPr>
        <p:txBody>
          <a:bodyPr wrap="square" rtlCol="0">
            <a:spAutoFit/>
          </a:bodyPr>
          <a:lstStyle/>
          <a:p>
            <a:r>
              <a:rPr lang="en-US" dirty="0" err="1"/>
              <a:t>Dudas</a:t>
            </a:r>
            <a:r>
              <a:rPr lang="en-US" dirty="0"/>
              <a:t> et al., 2018, </a:t>
            </a:r>
            <a:r>
              <a:rPr lang="en-US" i="1" dirty="0" err="1"/>
              <a:t>eLife</a:t>
            </a:r>
            <a:endParaRPr lang="en-US" i="1" dirty="0"/>
          </a:p>
        </p:txBody>
      </p:sp>
      <p:pic>
        <p:nvPicPr>
          <p:cNvPr id="1026" name="Picture 2">
            <a:extLst>
              <a:ext uri="{FF2B5EF4-FFF2-40B4-BE49-F238E27FC236}">
                <a16:creationId xmlns:a16="http://schemas.microsoft.com/office/drawing/2014/main" id="{4CB3E37A-6510-BD06-265C-DFBFB3118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8592" y="1406822"/>
            <a:ext cx="6834816" cy="492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371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579EA-EF9F-A34B-845E-16E6CDF35E53}"/>
              </a:ext>
            </a:extLst>
          </p:cNvPr>
          <p:cNvSpPr>
            <a:spLocks noGrp="1"/>
          </p:cNvSpPr>
          <p:nvPr>
            <p:ph type="title"/>
          </p:nvPr>
        </p:nvSpPr>
        <p:spPr/>
        <p:txBody>
          <a:bodyPr>
            <a:normAutofit/>
          </a:bodyPr>
          <a:lstStyle/>
          <a:p>
            <a:r>
              <a:rPr lang="en-US" dirty="0"/>
              <a:t>MASCOT approximates the structured coalescent to dramatically improve efficiency</a:t>
            </a:r>
          </a:p>
        </p:txBody>
      </p:sp>
      <p:sp>
        <p:nvSpPr>
          <p:cNvPr id="8" name="TextBox 7">
            <a:extLst>
              <a:ext uri="{FF2B5EF4-FFF2-40B4-BE49-F238E27FC236}">
                <a16:creationId xmlns:a16="http://schemas.microsoft.com/office/drawing/2014/main" id="{132B3ECB-8A30-184F-9D94-CCF66115AFC0}"/>
              </a:ext>
            </a:extLst>
          </p:cNvPr>
          <p:cNvSpPr txBox="1"/>
          <p:nvPr/>
        </p:nvSpPr>
        <p:spPr>
          <a:xfrm>
            <a:off x="9036424" y="6488668"/>
            <a:ext cx="3155576" cy="369332"/>
          </a:xfrm>
          <a:prstGeom prst="rect">
            <a:avLst/>
          </a:prstGeom>
          <a:noFill/>
        </p:spPr>
        <p:txBody>
          <a:bodyPr wrap="square" rtlCol="0">
            <a:spAutoFit/>
          </a:bodyPr>
          <a:lstStyle/>
          <a:p>
            <a:r>
              <a:rPr lang="en-US" dirty="0"/>
              <a:t>Müller et al., 2018, </a:t>
            </a:r>
            <a:r>
              <a:rPr lang="en-US" i="1" dirty="0" err="1"/>
              <a:t>Bioinf</a:t>
            </a:r>
            <a:r>
              <a:rPr lang="en-US" i="1" dirty="0"/>
              <a:t>.</a:t>
            </a:r>
          </a:p>
        </p:txBody>
      </p:sp>
      <p:pic>
        <p:nvPicPr>
          <p:cNvPr id="9" name="New picture">
            <a:extLst>
              <a:ext uri="{FF2B5EF4-FFF2-40B4-BE49-F238E27FC236}">
                <a16:creationId xmlns:a16="http://schemas.microsoft.com/office/drawing/2014/main" id="{B4FDF722-93A8-7C4D-A6CC-4927A116F23B}"/>
              </a:ext>
            </a:extLst>
          </p:cNvPr>
          <p:cNvPicPr/>
          <p:nvPr/>
        </p:nvPicPr>
        <p:blipFill>
          <a:blip r:embed="rId2"/>
          <a:stretch>
            <a:fillRect/>
          </a:stretch>
        </p:blipFill>
        <p:spPr>
          <a:xfrm>
            <a:off x="3306854" y="1825625"/>
            <a:ext cx="5578292" cy="4457700"/>
          </a:xfrm>
          <a:prstGeom prst="rect">
            <a:avLst/>
          </a:prstGeom>
        </p:spPr>
      </p:pic>
    </p:spTree>
    <p:extLst>
      <p:ext uri="{BB962C8B-B14F-4D97-AF65-F5344CB8AC3E}">
        <p14:creationId xmlns:p14="http://schemas.microsoft.com/office/powerpoint/2010/main" val="348609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18D9-6780-E047-8770-9CD2A7039E40}"/>
              </a:ext>
            </a:extLst>
          </p:cNvPr>
          <p:cNvSpPr>
            <a:spLocks noGrp="1"/>
          </p:cNvSpPr>
          <p:nvPr>
            <p:ph type="title"/>
          </p:nvPr>
        </p:nvSpPr>
        <p:spPr>
          <a:xfrm>
            <a:off x="838199" y="583369"/>
            <a:ext cx="10515600" cy="1325563"/>
          </a:xfrm>
        </p:spPr>
        <p:txBody>
          <a:bodyPr>
            <a:normAutofit/>
          </a:bodyPr>
          <a:lstStyle/>
          <a:p>
            <a:r>
              <a:rPr lang="en-US" dirty="0"/>
              <a:t>Migration rates and effective population sizes can be informed using outside data in a GLM approach</a:t>
            </a:r>
          </a:p>
        </p:txBody>
      </p:sp>
      <p:pic>
        <p:nvPicPr>
          <p:cNvPr id="5" name="Content Placeholder 4">
            <a:extLst>
              <a:ext uri="{FF2B5EF4-FFF2-40B4-BE49-F238E27FC236}">
                <a16:creationId xmlns:a16="http://schemas.microsoft.com/office/drawing/2014/main" id="{33848B9F-1BE9-F945-8C96-36EE43B87D8A}"/>
              </a:ext>
            </a:extLst>
          </p:cNvPr>
          <p:cNvPicPr>
            <a:picLocks noGrp="1" noChangeAspect="1"/>
          </p:cNvPicPr>
          <p:nvPr>
            <p:ph idx="1"/>
          </p:nvPr>
        </p:nvPicPr>
        <p:blipFill>
          <a:blip r:embed="rId2"/>
          <a:stretch>
            <a:fillRect/>
          </a:stretch>
        </p:blipFill>
        <p:spPr>
          <a:xfrm>
            <a:off x="2077620" y="1908932"/>
            <a:ext cx="8036759" cy="4422595"/>
          </a:xfrm>
        </p:spPr>
      </p:pic>
    </p:spTree>
    <p:extLst>
      <p:ext uri="{BB962C8B-B14F-4D97-AF65-F5344CB8AC3E}">
        <p14:creationId xmlns:p14="http://schemas.microsoft.com/office/powerpoint/2010/main" val="347689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590D-6FA8-9144-A279-B95D7182EC4F}"/>
              </a:ext>
            </a:extLst>
          </p:cNvPr>
          <p:cNvSpPr>
            <a:spLocks noGrp="1"/>
          </p:cNvSpPr>
          <p:nvPr>
            <p:ph type="title"/>
          </p:nvPr>
        </p:nvSpPr>
        <p:spPr/>
        <p:txBody>
          <a:bodyPr>
            <a:normAutofit/>
          </a:bodyPr>
          <a:lstStyle/>
          <a:p>
            <a:pPr algn="ctr"/>
            <a:r>
              <a:rPr lang="en-US" sz="2600" dirty="0">
                <a:latin typeface="Helvetica" pitchFamily="2" charset="0"/>
              </a:rPr>
              <a:t>In 2016 and 2017, there was an Influenza A/H5N8 outbreak in France</a:t>
            </a:r>
          </a:p>
        </p:txBody>
      </p:sp>
      <p:sp>
        <p:nvSpPr>
          <p:cNvPr id="3" name="Slide Number Placeholder 2">
            <a:extLst>
              <a:ext uri="{FF2B5EF4-FFF2-40B4-BE49-F238E27FC236}">
                <a16:creationId xmlns:a16="http://schemas.microsoft.com/office/drawing/2014/main" id="{9E9441AE-E283-B041-9161-33EDB9F07768}"/>
              </a:ext>
            </a:extLst>
          </p:cNvPr>
          <p:cNvSpPr>
            <a:spLocks noGrp="1"/>
          </p:cNvSpPr>
          <p:nvPr>
            <p:ph type="sldNum" sz="quarter" idx="12"/>
          </p:nvPr>
        </p:nvSpPr>
        <p:spPr/>
        <p:txBody>
          <a:bodyPr/>
          <a:lstStyle/>
          <a:p>
            <a:fld id="{15B526FD-742D-DA43-B9D4-8A35AE5387EE}" type="slidenum">
              <a:rPr lang="en-US" smtClean="0"/>
              <a:t>28</a:t>
            </a:fld>
            <a:endParaRPr lang="en-US" dirty="0"/>
          </a:p>
        </p:txBody>
      </p:sp>
      <p:pic>
        <p:nvPicPr>
          <p:cNvPr id="5" name="Picture 4" descr="A group of penguins&#10;&#10;Description automatically generated with medium confidence">
            <a:extLst>
              <a:ext uri="{FF2B5EF4-FFF2-40B4-BE49-F238E27FC236}">
                <a16:creationId xmlns:a16="http://schemas.microsoft.com/office/drawing/2014/main" id="{02E5DACD-E821-7142-A36E-242E3069EA93}"/>
              </a:ext>
            </a:extLst>
          </p:cNvPr>
          <p:cNvPicPr>
            <a:picLocks noChangeAspect="1"/>
          </p:cNvPicPr>
          <p:nvPr/>
        </p:nvPicPr>
        <p:blipFill>
          <a:blip r:embed="rId3"/>
          <a:stretch>
            <a:fillRect/>
          </a:stretch>
        </p:blipFill>
        <p:spPr>
          <a:xfrm>
            <a:off x="2434002" y="1559521"/>
            <a:ext cx="6751734" cy="4182142"/>
          </a:xfrm>
          <a:prstGeom prst="rect">
            <a:avLst/>
          </a:prstGeom>
        </p:spPr>
      </p:pic>
      <p:sp>
        <p:nvSpPr>
          <p:cNvPr id="6" name="TextBox 5">
            <a:extLst>
              <a:ext uri="{FF2B5EF4-FFF2-40B4-BE49-F238E27FC236}">
                <a16:creationId xmlns:a16="http://schemas.microsoft.com/office/drawing/2014/main" id="{FE849363-506C-B348-8417-C984A72A010A}"/>
              </a:ext>
            </a:extLst>
          </p:cNvPr>
          <p:cNvSpPr txBox="1"/>
          <p:nvPr/>
        </p:nvSpPr>
        <p:spPr>
          <a:xfrm>
            <a:off x="1319039" y="5868956"/>
            <a:ext cx="8981661" cy="646331"/>
          </a:xfrm>
          <a:prstGeom prst="rect">
            <a:avLst/>
          </a:prstGeom>
          <a:noFill/>
        </p:spPr>
        <p:txBody>
          <a:bodyPr wrap="square" rtlCol="0">
            <a:spAutoFit/>
          </a:bodyPr>
          <a:lstStyle/>
          <a:p>
            <a:r>
              <a:rPr lang="en-US" dirty="0"/>
              <a:t>https://</a:t>
            </a:r>
            <a:r>
              <a:rPr lang="en-US" dirty="0" err="1"/>
              <a:t>www.nbcnews.com</a:t>
            </a:r>
            <a:r>
              <a:rPr lang="en-US" dirty="0"/>
              <a:t>/news/world/french-foie-gras-makers-fear-worst-bird-flu-toll-rises-n721276</a:t>
            </a:r>
          </a:p>
        </p:txBody>
      </p:sp>
    </p:spTree>
    <p:extLst>
      <p:ext uri="{BB962C8B-B14F-4D97-AF65-F5344CB8AC3E}">
        <p14:creationId xmlns:p14="http://schemas.microsoft.com/office/powerpoint/2010/main" val="4104633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590D-6FA8-9144-A279-B95D7182EC4F}"/>
              </a:ext>
            </a:extLst>
          </p:cNvPr>
          <p:cNvSpPr>
            <a:spLocks noGrp="1"/>
          </p:cNvSpPr>
          <p:nvPr>
            <p:ph type="title"/>
          </p:nvPr>
        </p:nvSpPr>
        <p:spPr/>
        <p:txBody>
          <a:bodyPr>
            <a:normAutofit/>
          </a:bodyPr>
          <a:lstStyle/>
          <a:p>
            <a:pPr algn="ctr"/>
            <a:r>
              <a:rPr lang="en-US" sz="2600" dirty="0">
                <a:latin typeface="Helvetica" pitchFamily="2" charset="0"/>
              </a:rPr>
              <a:t>Cases first appeared in the department (state) of tarn and H5N8 was soon detected in other regions as well</a:t>
            </a:r>
          </a:p>
        </p:txBody>
      </p:sp>
      <p:sp>
        <p:nvSpPr>
          <p:cNvPr id="3" name="Slide Number Placeholder 2">
            <a:extLst>
              <a:ext uri="{FF2B5EF4-FFF2-40B4-BE49-F238E27FC236}">
                <a16:creationId xmlns:a16="http://schemas.microsoft.com/office/drawing/2014/main" id="{9E9441AE-E283-B041-9161-33EDB9F07768}"/>
              </a:ext>
            </a:extLst>
          </p:cNvPr>
          <p:cNvSpPr>
            <a:spLocks noGrp="1"/>
          </p:cNvSpPr>
          <p:nvPr>
            <p:ph type="sldNum" sz="quarter" idx="12"/>
          </p:nvPr>
        </p:nvSpPr>
        <p:spPr/>
        <p:txBody>
          <a:bodyPr/>
          <a:lstStyle/>
          <a:p>
            <a:fld id="{15B526FD-742D-DA43-B9D4-8A35AE5387EE}" type="slidenum">
              <a:rPr lang="en-US" smtClean="0"/>
              <a:t>29</a:t>
            </a:fld>
            <a:endParaRPr lang="en-US" dirty="0"/>
          </a:p>
        </p:txBody>
      </p:sp>
      <p:sp>
        <p:nvSpPr>
          <p:cNvPr id="9" name="TextBox 8">
            <a:extLst>
              <a:ext uri="{FF2B5EF4-FFF2-40B4-BE49-F238E27FC236}">
                <a16:creationId xmlns:a16="http://schemas.microsoft.com/office/drawing/2014/main" id="{5737A316-BA56-D64C-88FE-F2EBA7F59AD4}"/>
              </a:ext>
            </a:extLst>
          </p:cNvPr>
          <p:cNvSpPr txBox="1"/>
          <p:nvPr/>
        </p:nvSpPr>
        <p:spPr>
          <a:xfrm>
            <a:off x="8285018" y="6015315"/>
            <a:ext cx="3615436" cy="923330"/>
          </a:xfrm>
          <a:prstGeom prst="rect">
            <a:avLst/>
          </a:prstGeom>
          <a:noFill/>
        </p:spPr>
        <p:txBody>
          <a:bodyPr wrap="square" rtlCol="0">
            <a:spAutoFit/>
          </a:bodyPr>
          <a:lstStyle/>
          <a:p>
            <a:r>
              <a:rPr lang="en-GB" dirty="0"/>
              <a:t>Chakraborty</a:t>
            </a:r>
            <a:r>
              <a:rPr lang="en-US" dirty="0"/>
              <a:t> et al., </a:t>
            </a:r>
            <a:r>
              <a:rPr lang="en-US" i="1" dirty="0"/>
              <a:t>2022, Transboundary and Emerging Diseases</a:t>
            </a:r>
          </a:p>
        </p:txBody>
      </p:sp>
      <p:pic>
        <p:nvPicPr>
          <p:cNvPr id="1026" name="Picture 2" descr="Details are in the caption following the image">
            <a:extLst>
              <a:ext uri="{FF2B5EF4-FFF2-40B4-BE49-F238E27FC236}">
                <a16:creationId xmlns:a16="http://schemas.microsoft.com/office/drawing/2014/main" id="{6D49A0D5-7F03-5AFB-9475-6307322BD0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23" y="1658888"/>
            <a:ext cx="8345646" cy="4356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13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590D-6FA8-9144-A279-B95D7182EC4F}"/>
              </a:ext>
            </a:extLst>
          </p:cNvPr>
          <p:cNvSpPr>
            <a:spLocks noGrp="1"/>
          </p:cNvSpPr>
          <p:nvPr>
            <p:ph type="title"/>
          </p:nvPr>
        </p:nvSpPr>
        <p:spPr/>
        <p:txBody>
          <a:bodyPr>
            <a:normAutofit/>
          </a:bodyPr>
          <a:lstStyle/>
          <a:p>
            <a:pPr algn="ctr"/>
            <a:r>
              <a:rPr lang="en-US" sz="2600" dirty="0">
                <a:latin typeface="Helvetica" pitchFamily="2" charset="0"/>
              </a:rPr>
              <a:t>MASCOT-GLM reconstructs Tarn to be the most likely source, consistent with case data</a:t>
            </a:r>
          </a:p>
        </p:txBody>
      </p:sp>
      <p:sp>
        <p:nvSpPr>
          <p:cNvPr id="3" name="Slide Number Placeholder 2">
            <a:extLst>
              <a:ext uri="{FF2B5EF4-FFF2-40B4-BE49-F238E27FC236}">
                <a16:creationId xmlns:a16="http://schemas.microsoft.com/office/drawing/2014/main" id="{9E9441AE-E283-B041-9161-33EDB9F07768}"/>
              </a:ext>
            </a:extLst>
          </p:cNvPr>
          <p:cNvSpPr>
            <a:spLocks noGrp="1"/>
          </p:cNvSpPr>
          <p:nvPr>
            <p:ph type="sldNum" sz="quarter" idx="12"/>
          </p:nvPr>
        </p:nvSpPr>
        <p:spPr/>
        <p:txBody>
          <a:bodyPr/>
          <a:lstStyle/>
          <a:p>
            <a:fld id="{15B526FD-742D-DA43-B9D4-8A35AE5387EE}" type="slidenum">
              <a:rPr lang="en-US" smtClean="0"/>
              <a:t>30</a:t>
            </a:fld>
            <a:endParaRPr lang="en-US" dirty="0"/>
          </a:p>
        </p:txBody>
      </p:sp>
      <p:pic>
        <p:nvPicPr>
          <p:cNvPr id="2050" name="Picture 2" descr="Details are in the caption following the image">
            <a:extLst>
              <a:ext uri="{FF2B5EF4-FFF2-40B4-BE49-F238E27FC236}">
                <a16:creationId xmlns:a16="http://schemas.microsoft.com/office/drawing/2014/main" id="{6920175E-A632-F721-08A9-CFD655771F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696" y="1423960"/>
            <a:ext cx="7776608" cy="45913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BB7CBB2-B9D5-26E2-F557-FA50C1A9E53C}"/>
              </a:ext>
            </a:extLst>
          </p:cNvPr>
          <p:cNvSpPr txBox="1"/>
          <p:nvPr/>
        </p:nvSpPr>
        <p:spPr>
          <a:xfrm>
            <a:off x="8285018" y="6015315"/>
            <a:ext cx="3615436" cy="923330"/>
          </a:xfrm>
          <a:prstGeom prst="rect">
            <a:avLst/>
          </a:prstGeom>
          <a:noFill/>
        </p:spPr>
        <p:txBody>
          <a:bodyPr wrap="square" rtlCol="0">
            <a:spAutoFit/>
          </a:bodyPr>
          <a:lstStyle/>
          <a:p>
            <a:r>
              <a:rPr lang="en-GB" dirty="0"/>
              <a:t>Chakraborty</a:t>
            </a:r>
            <a:r>
              <a:rPr lang="en-US" dirty="0"/>
              <a:t> et al., </a:t>
            </a:r>
            <a:r>
              <a:rPr lang="en-US" i="1" dirty="0"/>
              <a:t>2022, Transboundary and Emerging Diseases</a:t>
            </a:r>
          </a:p>
        </p:txBody>
      </p:sp>
    </p:spTree>
    <p:extLst>
      <p:ext uri="{BB962C8B-B14F-4D97-AF65-F5344CB8AC3E}">
        <p14:creationId xmlns:p14="http://schemas.microsoft.com/office/powerpoint/2010/main" val="991716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590D-6FA8-9144-A279-B95D7182EC4F}"/>
              </a:ext>
            </a:extLst>
          </p:cNvPr>
          <p:cNvSpPr>
            <a:spLocks noGrp="1"/>
          </p:cNvSpPr>
          <p:nvPr>
            <p:ph type="title"/>
          </p:nvPr>
        </p:nvSpPr>
        <p:spPr/>
        <p:txBody>
          <a:bodyPr>
            <a:normAutofit/>
          </a:bodyPr>
          <a:lstStyle/>
          <a:p>
            <a:pPr algn="ctr"/>
            <a:r>
              <a:rPr lang="en-US" sz="2600" dirty="0">
                <a:latin typeface="Helvetica" pitchFamily="2" charset="0"/>
              </a:rPr>
              <a:t>Evidence that the initial culling of birds reduced migration between location</a:t>
            </a:r>
          </a:p>
        </p:txBody>
      </p:sp>
      <p:sp>
        <p:nvSpPr>
          <p:cNvPr id="3" name="Slide Number Placeholder 2">
            <a:extLst>
              <a:ext uri="{FF2B5EF4-FFF2-40B4-BE49-F238E27FC236}">
                <a16:creationId xmlns:a16="http://schemas.microsoft.com/office/drawing/2014/main" id="{9E9441AE-E283-B041-9161-33EDB9F07768}"/>
              </a:ext>
            </a:extLst>
          </p:cNvPr>
          <p:cNvSpPr>
            <a:spLocks noGrp="1"/>
          </p:cNvSpPr>
          <p:nvPr>
            <p:ph type="sldNum" sz="quarter" idx="12"/>
          </p:nvPr>
        </p:nvSpPr>
        <p:spPr/>
        <p:txBody>
          <a:bodyPr/>
          <a:lstStyle/>
          <a:p>
            <a:fld id="{15B526FD-742D-DA43-B9D4-8A35AE5387EE}" type="slidenum">
              <a:rPr lang="en-US" smtClean="0"/>
              <a:t>31</a:t>
            </a:fld>
            <a:endParaRPr lang="en-US" dirty="0"/>
          </a:p>
        </p:txBody>
      </p:sp>
      <p:pic>
        <p:nvPicPr>
          <p:cNvPr id="3074" name="Picture 2" descr="Details are in the caption following the image">
            <a:extLst>
              <a:ext uri="{FF2B5EF4-FFF2-40B4-BE49-F238E27FC236}">
                <a16:creationId xmlns:a16="http://schemas.microsoft.com/office/drawing/2014/main" id="{D9385F38-F781-10CB-1E44-2466AE58E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20813"/>
            <a:ext cx="12192000" cy="40147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D53B64E-5690-ECCD-8539-946438868808}"/>
              </a:ext>
            </a:extLst>
          </p:cNvPr>
          <p:cNvSpPr txBox="1"/>
          <p:nvPr/>
        </p:nvSpPr>
        <p:spPr>
          <a:xfrm>
            <a:off x="8285018" y="6015315"/>
            <a:ext cx="3615436" cy="923330"/>
          </a:xfrm>
          <a:prstGeom prst="rect">
            <a:avLst/>
          </a:prstGeom>
          <a:noFill/>
        </p:spPr>
        <p:txBody>
          <a:bodyPr wrap="square" rtlCol="0">
            <a:spAutoFit/>
          </a:bodyPr>
          <a:lstStyle/>
          <a:p>
            <a:r>
              <a:rPr lang="en-GB" dirty="0"/>
              <a:t>Chakraborty</a:t>
            </a:r>
            <a:r>
              <a:rPr lang="en-US" dirty="0"/>
              <a:t> et al., </a:t>
            </a:r>
            <a:r>
              <a:rPr lang="en-US" i="1" dirty="0"/>
              <a:t>2022, Transboundary and Emerging Diseases</a:t>
            </a:r>
          </a:p>
        </p:txBody>
      </p:sp>
    </p:spTree>
    <p:extLst>
      <p:ext uri="{BB962C8B-B14F-4D97-AF65-F5344CB8AC3E}">
        <p14:creationId xmlns:p14="http://schemas.microsoft.com/office/powerpoint/2010/main" val="928911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F94E-8CAA-B04C-8950-0F8492BF3952}"/>
              </a:ext>
            </a:extLst>
          </p:cNvPr>
          <p:cNvSpPr>
            <a:spLocks noGrp="1"/>
          </p:cNvSpPr>
          <p:nvPr>
            <p:ph type="title"/>
          </p:nvPr>
        </p:nvSpPr>
        <p:spPr/>
        <p:txBody>
          <a:bodyPr/>
          <a:lstStyle/>
          <a:p>
            <a:r>
              <a:rPr lang="en-US" dirty="0"/>
              <a:t>DTA typically returns a rather parsimonious ancestral state reconstruction</a:t>
            </a:r>
          </a:p>
        </p:txBody>
      </p:sp>
      <p:sp>
        <p:nvSpPr>
          <p:cNvPr id="4" name="TextBox 3">
            <a:extLst>
              <a:ext uri="{FF2B5EF4-FFF2-40B4-BE49-F238E27FC236}">
                <a16:creationId xmlns:a16="http://schemas.microsoft.com/office/drawing/2014/main" id="{989A98EC-B13F-9127-CDA9-1BC82A73FEAF}"/>
              </a:ext>
            </a:extLst>
          </p:cNvPr>
          <p:cNvSpPr txBox="1"/>
          <p:nvPr/>
        </p:nvSpPr>
        <p:spPr>
          <a:xfrm>
            <a:off x="8588415" y="6292820"/>
            <a:ext cx="3603585" cy="400110"/>
          </a:xfrm>
          <a:prstGeom prst="rect">
            <a:avLst/>
          </a:prstGeom>
          <a:noFill/>
        </p:spPr>
        <p:txBody>
          <a:bodyPr wrap="square" rtlCol="0">
            <a:spAutoFit/>
          </a:bodyPr>
          <a:lstStyle/>
          <a:p>
            <a:r>
              <a:rPr lang="en-US" sz="2000" dirty="0"/>
              <a:t>Layan </a:t>
            </a:r>
            <a:r>
              <a:rPr lang="en-US" sz="2000" i="1" dirty="0"/>
              <a:t>et al. </a:t>
            </a:r>
            <a:r>
              <a:rPr lang="en-US" sz="2000" dirty="0"/>
              <a:t>Virus Evolution, 2023</a:t>
            </a:r>
          </a:p>
        </p:txBody>
      </p:sp>
      <p:pic>
        <p:nvPicPr>
          <p:cNvPr id="3" name="New picture">
            <a:extLst>
              <a:ext uri="{FF2B5EF4-FFF2-40B4-BE49-F238E27FC236}">
                <a16:creationId xmlns:a16="http://schemas.microsoft.com/office/drawing/2014/main" id="{8223E84C-41B0-0B31-1B2A-0D374E218A22}"/>
              </a:ext>
            </a:extLst>
          </p:cNvPr>
          <p:cNvPicPr/>
          <p:nvPr/>
        </p:nvPicPr>
        <p:blipFill rotWithShape="1">
          <a:blip r:embed="rId2"/>
          <a:srcRect b="50427"/>
          <a:stretch/>
        </p:blipFill>
        <p:spPr>
          <a:xfrm>
            <a:off x="2527460" y="1452622"/>
            <a:ext cx="7635111" cy="4705109"/>
          </a:xfrm>
          <a:prstGeom prst="rect">
            <a:avLst/>
          </a:prstGeom>
        </p:spPr>
      </p:pic>
    </p:spTree>
    <p:extLst>
      <p:ext uri="{BB962C8B-B14F-4D97-AF65-F5344CB8AC3E}">
        <p14:creationId xmlns:p14="http://schemas.microsoft.com/office/powerpoint/2010/main" val="182032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F94E-8CAA-B04C-8950-0F8492BF3952}"/>
              </a:ext>
            </a:extLst>
          </p:cNvPr>
          <p:cNvSpPr>
            <a:spLocks noGrp="1"/>
          </p:cNvSpPr>
          <p:nvPr>
            <p:ph type="title"/>
          </p:nvPr>
        </p:nvSpPr>
        <p:spPr/>
        <p:txBody>
          <a:bodyPr/>
          <a:lstStyle/>
          <a:p>
            <a:r>
              <a:rPr lang="en-US" dirty="0"/>
              <a:t>Effective population size dynamics can be modelled using MASCOT-Skyline</a:t>
            </a:r>
          </a:p>
        </p:txBody>
      </p:sp>
      <p:sp>
        <p:nvSpPr>
          <p:cNvPr id="4" name="TextBox 3">
            <a:extLst>
              <a:ext uri="{FF2B5EF4-FFF2-40B4-BE49-F238E27FC236}">
                <a16:creationId xmlns:a16="http://schemas.microsoft.com/office/drawing/2014/main" id="{989A98EC-B13F-9127-CDA9-1BC82A73FEAF}"/>
              </a:ext>
            </a:extLst>
          </p:cNvPr>
          <p:cNvSpPr txBox="1"/>
          <p:nvPr/>
        </p:nvSpPr>
        <p:spPr>
          <a:xfrm>
            <a:off x="8588415" y="6292820"/>
            <a:ext cx="3603585" cy="400110"/>
          </a:xfrm>
          <a:prstGeom prst="rect">
            <a:avLst/>
          </a:prstGeom>
          <a:noFill/>
        </p:spPr>
        <p:txBody>
          <a:bodyPr wrap="square" rtlCol="0">
            <a:spAutoFit/>
          </a:bodyPr>
          <a:lstStyle/>
          <a:p>
            <a:r>
              <a:rPr lang="en-US" sz="2000" dirty="0"/>
              <a:t>Müller </a:t>
            </a:r>
            <a:r>
              <a:rPr lang="en-US" sz="2000" i="1" dirty="0"/>
              <a:t>et al. </a:t>
            </a:r>
            <a:r>
              <a:rPr lang="en-US" sz="2000" dirty="0" err="1"/>
              <a:t>BioRxiv</a:t>
            </a:r>
            <a:r>
              <a:rPr lang="en-US" sz="2000" dirty="0"/>
              <a:t>, 2024</a:t>
            </a:r>
          </a:p>
        </p:txBody>
      </p:sp>
      <p:pic>
        <p:nvPicPr>
          <p:cNvPr id="5" name="Picture 4">
            <a:extLst>
              <a:ext uri="{FF2B5EF4-FFF2-40B4-BE49-F238E27FC236}">
                <a16:creationId xmlns:a16="http://schemas.microsoft.com/office/drawing/2014/main" id="{EC6157A0-9283-8390-3B37-A7C06E314ACA}"/>
              </a:ext>
            </a:extLst>
          </p:cNvPr>
          <p:cNvPicPr>
            <a:picLocks noChangeAspect="1"/>
          </p:cNvPicPr>
          <p:nvPr/>
        </p:nvPicPr>
        <p:blipFill>
          <a:blip r:embed="rId2"/>
          <a:stretch>
            <a:fillRect/>
          </a:stretch>
        </p:blipFill>
        <p:spPr>
          <a:xfrm>
            <a:off x="1359434" y="1829584"/>
            <a:ext cx="9473131" cy="3795712"/>
          </a:xfrm>
          <a:prstGeom prst="rect">
            <a:avLst/>
          </a:prstGeom>
        </p:spPr>
      </p:pic>
    </p:spTree>
    <p:extLst>
      <p:ext uri="{BB962C8B-B14F-4D97-AF65-F5344CB8AC3E}">
        <p14:creationId xmlns:p14="http://schemas.microsoft.com/office/powerpoint/2010/main" val="316744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F94E-8CAA-B04C-8950-0F8492BF3952}"/>
              </a:ext>
            </a:extLst>
          </p:cNvPr>
          <p:cNvSpPr>
            <a:spLocks noGrp="1"/>
          </p:cNvSpPr>
          <p:nvPr>
            <p:ph type="title"/>
          </p:nvPr>
        </p:nvSpPr>
        <p:spPr/>
        <p:txBody>
          <a:bodyPr/>
          <a:lstStyle/>
          <a:p>
            <a:r>
              <a:rPr lang="en-US" dirty="0"/>
              <a:t>Accounting for population dynamics in structured coalescent can impact ancestral state reconstruction</a:t>
            </a:r>
          </a:p>
        </p:txBody>
      </p:sp>
      <p:sp>
        <p:nvSpPr>
          <p:cNvPr id="4" name="TextBox 3">
            <a:extLst>
              <a:ext uri="{FF2B5EF4-FFF2-40B4-BE49-F238E27FC236}">
                <a16:creationId xmlns:a16="http://schemas.microsoft.com/office/drawing/2014/main" id="{989A98EC-B13F-9127-CDA9-1BC82A73FEAF}"/>
              </a:ext>
            </a:extLst>
          </p:cNvPr>
          <p:cNvSpPr txBox="1"/>
          <p:nvPr/>
        </p:nvSpPr>
        <p:spPr>
          <a:xfrm>
            <a:off x="8588415" y="6292820"/>
            <a:ext cx="3603585" cy="400110"/>
          </a:xfrm>
          <a:prstGeom prst="rect">
            <a:avLst/>
          </a:prstGeom>
          <a:noFill/>
        </p:spPr>
        <p:txBody>
          <a:bodyPr wrap="square" rtlCol="0">
            <a:spAutoFit/>
          </a:bodyPr>
          <a:lstStyle/>
          <a:p>
            <a:r>
              <a:rPr lang="en-US" sz="2000" dirty="0"/>
              <a:t>Müller </a:t>
            </a:r>
            <a:r>
              <a:rPr lang="en-US" sz="2000" i="1" dirty="0"/>
              <a:t>et al. </a:t>
            </a:r>
            <a:r>
              <a:rPr lang="en-US" sz="2000" dirty="0" err="1"/>
              <a:t>BioRxiv</a:t>
            </a:r>
            <a:r>
              <a:rPr lang="en-US" sz="2000" dirty="0"/>
              <a:t>, 2024</a:t>
            </a:r>
          </a:p>
        </p:txBody>
      </p:sp>
      <p:pic>
        <p:nvPicPr>
          <p:cNvPr id="6" name="Picture 5">
            <a:extLst>
              <a:ext uri="{FF2B5EF4-FFF2-40B4-BE49-F238E27FC236}">
                <a16:creationId xmlns:a16="http://schemas.microsoft.com/office/drawing/2014/main" id="{7F08FF93-27C0-A4AA-727B-BCE59F8ECE31}"/>
              </a:ext>
            </a:extLst>
          </p:cNvPr>
          <p:cNvPicPr>
            <a:picLocks noChangeAspect="1"/>
          </p:cNvPicPr>
          <p:nvPr/>
        </p:nvPicPr>
        <p:blipFill rotWithShape="1">
          <a:blip r:embed="rId2"/>
          <a:srcRect b="57905"/>
          <a:stretch/>
        </p:blipFill>
        <p:spPr>
          <a:xfrm>
            <a:off x="266701" y="1937976"/>
            <a:ext cx="11658598" cy="3680749"/>
          </a:xfrm>
          <a:prstGeom prst="rect">
            <a:avLst/>
          </a:prstGeom>
        </p:spPr>
      </p:pic>
    </p:spTree>
    <p:extLst>
      <p:ext uri="{BB962C8B-B14F-4D97-AF65-F5344CB8AC3E}">
        <p14:creationId xmlns:p14="http://schemas.microsoft.com/office/powerpoint/2010/main" val="1578457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B5E1C-5770-0545-7BEA-F103D1186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95897-E8ED-EFE7-2234-52D748C266D9}"/>
              </a:ext>
            </a:extLst>
          </p:cNvPr>
          <p:cNvSpPr>
            <a:spLocks noGrp="1"/>
          </p:cNvSpPr>
          <p:nvPr>
            <p:ph type="title"/>
          </p:nvPr>
        </p:nvSpPr>
        <p:spPr/>
        <p:txBody>
          <a:bodyPr/>
          <a:lstStyle/>
          <a:p>
            <a:r>
              <a:rPr lang="en-US" dirty="0"/>
              <a:t>Structured phylodynamic methods can be biased by unaccounted for populations structure</a:t>
            </a:r>
          </a:p>
        </p:txBody>
      </p:sp>
      <p:sp>
        <p:nvSpPr>
          <p:cNvPr id="4" name="TextBox 3">
            <a:extLst>
              <a:ext uri="{FF2B5EF4-FFF2-40B4-BE49-F238E27FC236}">
                <a16:creationId xmlns:a16="http://schemas.microsoft.com/office/drawing/2014/main" id="{31560B81-7EBA-0C56-35E7-7AD396173BEB}"/>
              </a:ext>
            </a:extLst>
          </p:cNvPr>
          <p:cNvSpPr txBox="1"/>
          <p:nvPr/>
        </p:nvSpPr>
        <p:spPr>
          <a:xfrm>
            <a:off x="8588415" y="6292820"/>
            <a:ext cx="3603585" cy="400110"/>
          </a:xfrm>
          <a:prstGeom prst="rect">
            <a:avLst/>
          </a:prstGeom>
          <a:noFill/>
        </p:spPr>
        <p:txBody>
          <a:bodyPr wrap="square" rtlCol="0">
            <a:spAutoFit/>
          </a:bodyPr>
          <a:lstStyle/>
          <a:p>
            <a:r>
              <a:rPr lang="en-US" sz="2000" dirty="0"/>
              <a:t>Müller </a:t>
            </a:r>
            <a:r>
              <a:rPr lang="en-US" sz="2000" i="1" dirty="0"/>
              <a:t>et al. </a:t>
            </a:r>
            <a:r>
              <a:rPr lang="en-US" sz="2000" dirty="0" err="1"/>
              <a:t>BioRxiv</a:t>
            </a:r>
            <a:r>
              <a:rPr lang="en-US" sz="2000" dirty="0"/>
              <a:t>, 2024</a:t>
            </a:r>
          </a:p>
        </p:txBody>
      </p:sp>
      <p:pic>
        <p:nvPicPr>
          <p:cNvPr id="6" name="Picture 5">
            <a:extLst>
              <a:ext uri="{FF2B5EF4-FFF2-40B4-BE49-F238E27FC236}">
                <a16:creationId xmlns:a16="http://schemas.microsoft.com/office/drawing/2014/main" id="{3EEE06A7-8F2F-F7C0-1DE4-DB5AB79BF819}"/>
              </a:ext>
            </a:extLst>
          </p:cNvPr>
          <p:cNvPicPr>
            <a:picLocks noChangeAspect="1"/>
          </p:cNvPicPr>
          <p:nvPr/>
        </p:nvPicPr>
        <p:blipFill>
          <a:blip r:embed="rId2"/>
          <a:stretch>
            <a:fillRect/>
          </a:stretch>
        </p:blipFill>
        <p:spPr>
          <a:xfrm>
            <a:off x="1279628" y="1690688"/>
            <a:ext cx="9632744" cy="3775576"/>
          </a:xfrm>
          <a:prstGeom prst="rect">
            <a:avLst/>
          </a:prstGeom>
        </p:spPr>
      </p:pic>
    </p:spTree>
    <p:extLst>
      <p:ext uri="{BB962C8B-B14F-4D97-AF65-F5344CB8AC3E}">
        <p14:creationId xmlns:p14="http://schemas.microsoft.com/office/powerpoint/2010/main" val="32745307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F94E-8CAA-B04C-8950-0F8492BF3952}"/>
              </a:ext>
            </a:extLst>
          </p:cNvPr>
          <p:cNvSpPr>
            <a:spLocks noGrp="1"/>
          </p:cNvSpPr>
          <p:nvPr>
            <p:ph type="title"/>
          </p:nvPr>
        </p:nvSpPr>
        <p:spPr/>
        <p:txBody>
          <a:bodyPr/>
          <a:lstStyle/>
          <a:p>
            <a:r>
              <a:rPr lang="en-US" dirty="0"/>
              <a:t>Different methods can interpret very similar observations differently</a:t>
            </a:r>
          </a:p>
        </p:txBody>
      </p:sp>
      <p:sp>
        <p:nvSpPr>
          <p:cNvPr id="4" name="TextBox 3">
            <a:extLst>
              <a:ext uri="{FF2B5EF4-FFF2-40B4-BE49-F238E27FC236}">
                <a16:creationId xmlns:a16="http://schemas.microsoft.com/office/drawing/2014/main" id="{989A98EC-B13F-9127-CDA9-1BC82A73FEAF}"/>
              </a:ext>
            </a:extLst>
          </p:cNvPr>
          <p:cNvSpPr txBox="1"/>
          <p:nvPr/>
        </p:nvSpPr>
        <p:spPr>
          <a:xfrm>
            <a:off x="8588415" y="6292820"/>
            <a:ext cx="3603585" cy="400110"/>
          </a:xfrm>
          <a:prstGeom prst="rect">
            <a:avLst/>
          </a:prstGeom>
          <a:noFill/>
        </p:spPr>
        <p:txBody>
          <a:bodyPr wrap="square" rtlCol="0">
            <a:spAutoFit/>
          </a:bodyPr>
          <a:lstStyle/>
          <a:p>
            <a:r>
              <a:rPr lang="en-US" sz="2000" dirty="0"/>
              <a:t>Müller </a:t>
            </a:r>
            <a:r>
              <a:rPr lang="en-US" sz="2000" i="1" dirty="0"/>
              <a:t>et al. </a:t>
            </a:r>
            <a:r>
              <a:rPr lang="en-US" sz="2000" dirty="0" err="1"/>
              <a:t>BioRxiv</a:t>
            </a:r>
            <a:r>
              <a:rPr lang="en-US" sz="2000" dirty="0"/>
              <a:t>, 2024</a:t>
            </a:r>
          </a:p>
        </p:txBody>
      </p:sp>
      <p:pic>
        <p:nvPicPr>
          <p:cNvPr id="5" name="Picture 4">
            <a:extLst>
              <a:ext uri="{FF2B5EF4-FFF2-40B4-BE49-F238E27FC236}">
                <a16:creationId xmlns:a16="http://schemas.microsoft.com/office/drawing/2014/main" id="{E2E3FB7B-B1C5-DB7E-6F6E-E1FC51EAA715}"/>
              </a:ext>
            </a:extLst>
          </p:cNvPr>
          <p:cNvPicPr>
            <a:picLocks noChangeAspect="1"/>
          </p:cNvPicPr>
          <p:nvPr/>
        </p:nvPicPr>
        <p:blipFill rotWithShape="1">
          <a:blip r:embed="rId2"/>
          <a:srcRect r="29658"/>
          <a:stretch/>
        </p:blipFill>
        <p:spPr>
          <a:xfrm>
            <a:off x="2827036" y="1359764"/>
            <a:ext cx="6118516" cy="4933056"/>
          </a:xfrm>
          <a:prstGeom prst="rect">
            <a:avLst/>
          </a:prstGeom>
        </p:spPr>
      </p:pic>
    </p:spTree>
    <p:extLst>
      <p:ext uri="{BB962C8B-B14F-4D97-AF65-F5344CB8AC3E}">
        <p14:creationId xmlns:p14="http://schemas.microsoft.com/office/powerpoint/2010/main" val="4060666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F94E-8CAA-B04C-8950-0F8492BF3952}"/>
              </a:ext>
            </a:extLst>
          </p:cNvPr>
          <p:cNvSpPr>
            <a:spLocks noGrp="1"/>
          </p:cNvSpPr>
          <p:nvPr>
            <p:ph type="title"/>
          </p:nvPr>
        </p:nvSpPr>
        <p:spPr/>
        <p:txBody>
          <a:bodyPr/>
          <a:lstStyle/>
          <a:p>
            <a:r>
              <a:rPr lang="en-US" dirty="0"/>
              <a:t>Different methods can interpret very similar observations differently</a:t>
            </a:r>
          </a:p>
        </p:txBody>
      </p:sp>
      <p:sp>
        <p:nvSpPr>
          <p:cNvPr id="4" name="TextBox 3">
            <a:extLst>
              <a:ext uri="{FF2B5EF4-FFF2-40B4-BE49-F238E27FC236}">
                <a16:creationId xmlns:a16="http://schemas.microsoft.com/office/drawing/2014/main" id="{989A98EC-B13F-9127-CDA9-1BC82A73FEAF}"/>
              </a:ext>
            </a:extLst>
          </p:cNvPr>
          <p:cNvSpPr txBox="1"/>
          <p:nvPr/>
        </p:nvSpPr>
        <p:spPr>
          <a:xfrm>
            <a:off x="8588415" y="6292820"/>
            <a:ext cx="3603585" cy="400110"/>
          </a:xfrm>
          <a:prstGeom prst="rect">
            <a:avLst/>
          </a:prstGeom>
          <a:noFill/>
        </p:spPr>
        <p:txBody>
          <a:bodyPr wrap="square" rtlCol="0">
            <a:spAutoFit/>
          </a:bodyPr>
          <a:lstStyle/>
          <a:p>
            <a:r>
              <a:rPr lang="en-US" sz="2000" dirty="0"/>
              <a:t>Müller </a:t>
            </a:r>
            <a:r>
              <a:rPr lang="en-US" sz="2000" i="1" dirty="0"/>
              <a:t>et al. </a:t>
            </a:r>
            <a:r>
              <a:rPr lang="en-US" sz="2000" dirty="0" err="1"/>
              <a:t>BioRxiv</a:t>
            </a:r>
            <a:r>
              <a:rPr lang="en-US" sz="2000" dirty="0"/>
              <a:t>, 2024</a:t>
            </a:r>
          </a:p>
        </p:txBody>
      </p:sp>
      <p:pic>
        <p:nvPicPr>
          <p:cNvPr id="5" name="Picture 4">
            <a:extLst>
              <a:ext uri="{FF2B5EF4-FFF2-40B4-BE49-F238E27FC236}">
                <a16:creationId xmlns:a16="http://schemas.microsoft.com/office/drawing/2014/main" id="{E2E3FB7B-B1C5-DB7E-6F6E-E1FC51EAA715}"/>
              </a:ext>
            </a:extLst>
          </p:cNvPr>
          <p:cNvPicPr>
            <a:picLocks noChangeAspect="1"/>
          </p:cNvPicPr>
          <p:nvPr/>
        </p:nvPicPr>
        <p:blipFill rotWithShape="1">
          <a:blip r:embed="rId2"/>
          <a:srcRect l="70826" b="71911"/>
          <a:stretch/>
        </p:blipFill>
        <p:spPr>
          <a:xfrm>
            <a:off x="1867713" y="1459195"/>
            <a:ext cx="8456573" cy="4617646"/>
          </a:xfrm>
          <a:prstGeom prst="rect">
            <a:avLst/>
          </a:prstGeom>
        </p:spPr>
      </p:pic>
    </p:spTree>
    <p:extLst>
      <p:ext uri="{BB962C8B-B14F-4D97-AF65-F5344CB8AC3E}">
        <p14:creationId xmlns:p14="http://schemas.microsoft.com/office/powerpoint/2010/main" val="2507919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5BD7D-24EE-3E82-AE61-4D05D6261E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68C3B8-94E6-4F7D-E882-F262B7CB5874}"/>
              </a:ext>
            </a:extLst>
          </p:cNvPr>
          <p:cNvSpPr>
            <a:spLocks noGrp="1"/>
          </p:cNvSpPr>
          <p:nvPr>
            <p:ph idx="1"/>
          </p:nvPr>
        </p:nvSpPr>
        <p:spPr/>
        <p:txBody>
          <a:bodyPr/>
          <a:lstStyle/>
          <a:p>
            <a:r>
              <a:rPr lang="en-US" dirty="0" err="1"/>
              <a:t>MultiTypeTree</a:t>
            </a:r>
            <a:r>
              <a:rPr lang="en-US" dirty="0"/>
              <a:t>:  exact structured coalescent</a:t>
            </a:r>
          </a:p>
          <a:p>
            <a:endParaRPr lang="en-US" dirty="0"/>
          </a:p>
          <a:p>
            <a:r>
              <a:rPr lang="en-US" dirty="0"/>
              <a:t>Mascot: somewhat approximate</a:t>
            </a:r>
          </a:p>
          <a:p>
            <a:endParaRPr lang="en-US" dirty="0"/>
          </a:p>
          <a:p>
            <a:r>
              <a:rPr lang="en-US" dirty="0"/>
              <a:t>BASTA: rather approximate</a:t>
            </a:r>
          </a:p>
          <a:p>
            <a:endParaRPr lang="en-US" dirty="0"/>
          </a:p>
        </p:txBody>
      </p:sp>
      <p:sp>
        <p:nvSpPr>
          <p:cNvPr id="5" name="Title 4">
            <a:extLst>
              <a:ext uri="{FF2B5EF4-FFF2-40B4-BE49-F238E27FC236}">
                <a16:creationId xmlns:a16="http://schemas.microsoft.com/office/drawing/2014/main" id="{4F75BBCA-FC44-E8FE-4CB8-AF0FE5FDCF1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42482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9A42-F9E8-A64B-A916-CA859AC9314D}"/>
              </a:ext>
            </a:extLst>
          </p:cNvPr>
          <p:cNvSpPr>
            <a:spLocks noGrp="1"/>
          </p:cNvSpPr>
          <p:nvPr>
            <p:ph type="title"/>
          </p:nvPr>
        </p:nvSpPr>
        <p:spPr/>
        <p:txBody>
          <a:bodyPr/>
          <a:lstStyle/>
          <a:p>
            <a:r>
              <a:rPr lang="en-US" dirty="0"/>
              <a:t>Variations</a:t>
            </a:r>
          </a:p>
        </p:txBody>
      </p:sp>
      <p:sp>
        <p:nvSpPr>
          <p:cNvPr id="3" name="Content Placeholder 2">
            <a:extLst>
              <a:ext uri="{FF2B5EF4-FFF2-40B4-BE49-F238E27FC236}">
                <a16:creationId xmlns:a16="http://schemas.microsoft.com/office/drawing/2014/main" id="{D809E150-49F6-2448-BA70-6E2F22B01D62}"/>
              </a:ext>
            </a:extLst>
          </p:cNvPr>
          <p:cNvSpPr>
            <a:spLocks noGrp="1"/>
          </p:cNvSpPr>
          <p:nvPr>
            <p:ph idx="1"/>
          </p:nvPr>
        </p:nvSpPr>
        <p:spPr/>
        <p:txBody>
          <a:bodyPr/>
          <a:lstStyle/>
          <a:p>
            <a:r>
              <a:rPr lang="en-US" dirty="0"/>
              <a:t>Typed or untyped trees, i.e. trees including the migration history or not (BDMM)</a:t>
            </a:r>
          </a:p>
          <a:p>
            <a:endParaRPr lang="en-US" dirty="0"/>
          </a:p>
          <a:p>
            <a:r>
              <a:rPr lang="en-US" dirty="0"/>
              <a:t>Fixed types at the tips (BDMM) or estimated (MSBD)</a:t>
            </a:r>
          </a:p>
          <a:p>
            <a:endParaRPr lang="en-US" dirty="0"/>
          </a:p>
          <a:p>
            <a:r>
              <a:rPr lang="en-US" dirty="0"/>
              <a:t>Extended multi-type birth-death model with birth rate between demes </a:t>
            </a:r>
            <a:r>
              <a:rPr lang="en-US" dirty="0" err="1"/>
              <a:t>λ</a:t>
            </a:r>
            <a:r>
              <a:rPr lang="en-US" baseline="-25000" dirty="0" err="1"/>
              <a:t>i,j</a:t>
            </a:r>
            <a:r>
              <a:rPr lang="en-US" dirty="0"/>
              <a:t> ∀ </a:t>
            </a:r>
            <a:r>
              <a:rPr lang="en-US" dirty="0" err="1"/>
              <a:t>i</a:t>
            </a:r>
            <a:r>
              <a:rPr lang="en-US" dirty="0"/>
              <a:t> ≠ j (BDMM, XML only)</a:t>
            </a:r>
          </a:p>
          <a:p>
            <a:endParaRPr lang="en-US" dirty="0"/>
          </a:p>
        </p:txBody>
      </p:sp>
    </p:spTree>
    <p:extLst>
      <p:ext uri="{BB962C8B-B14F-4D97-AF65-F5344CB8AC3E}">
        <p14:creationId xmlns:p14="http://schemas.microsoft.com/office/powerpoint/2010/main" val="392811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63272-E3E1-A842-957E-8D0927AAB891}"/>
              </a:ext>
            </a:extLst>
          </p:cNvPr>
          <p:cNvSpPr>
            <a:spLocks noGrp="1"/>
          </p:cNvSpPr>
          <p:nvPr>
            <p:ph type="title"/>
          </p:nvPr>
        </p:nvSpPr>
        <p:spPr/>
        <p:txBody>
          <a:bodyPr/>
          <a:lstStyle/>
          <a:p>
            <a:r>
              <a:rPr lang="en-US" dirty="0"/>
              <a:t>Example: tuberculosis</a:t>
            </a:r>
          </a:p>
        </p:txBody>
      </p:sp>
      <p:pic>
        <p:nvPicPr>
          <p:cNvPr id="4" name="Picture 3">
            <a:extLst>
              <a:ext uri="{FF2B5EF4-FFF2-40B4-BE49-F238E27FC236}">
                <a16:creationId xmlns:a16="http://schemas.microsoft.com/office/drawing/2014/main" id="{E9FB92AA-A522-BC4F-9CB1-9A2AB04A7647}"/>
              </a:ext>
            </a:extLst>
          </p:cNvPr>
          <p:cNvPicPr>
            <a:picLocks noChangeAspect="1"/>
          </p:cNvPicPr>
          <p:nvPr/>
        </p:nvPicPr>
        <p:blipFill>
          <a:blip r:embed="rId2"/>
          <a:stretch>
            <a:fillRect/>
          </a:stretch>
        </p:blipFill>
        <p:spPr>
          <a:xfrm>
            <a:off x="5195455" y="1649124"/>
            <a:ext cx="6858000" cy="4407357"/>
          </a:xfrm>
          <a:prstGeom prst="rect">
            <a:avLst/>
          </a:prstGeom>
        </p:spPr>
      </p:pic>
      <p:sp>
        <p:nvSpPr>
          <p:cNvPr id="5" name="TextBox 4">
            <a:extLst>
              <a:ext uri="{FF2B5EF4-FFF2-40B4-BE49-F238E27FC236}">
                <a16:creationId xmlns:a16="http://schemas.microsoft.com/office/drawing/2014/main" id="{D774B511-C1FE-BA40-998A-F7B118E93DEE}"/>
              </a:ext>
            </a:extLst>
          </p:cNvPr>
          <p:cNvSpPr txBox="1"/>
          <p:nvPr/>
        </p:nvSpPr>
        <p:spPr>
          <a:xfrm>
            <a:off x="8790711" y="6153409"/>
            <a:ext cx="3262744" cy="707886"/>
          </a:xfrm>
          <a:prstGeom prst="rect">
            <a:avLst/>
          </a:prstGeom>
          <a:noFill/>
        </p:spPr>
        <p:txBody>
          <a:bodyPr wrap="square" rtlCol="0">
            <a:spAutoFit/>
          </a:bodyPr>
          <a:lstStyle/>
          <a:p>
            <a:r>
              <a:rPr lang="en-US" sz="2000" dirty="0" err="1"/>
              <a:t>Pečerska</a:t>
            </a:r>
            <a:r>
              <a:rPr lang="en-US" sz="2000" dirty="0"/>
              <a:t> </a:t>
            </a:r>
            <a:r>
              <a:rPr lang="en-US" sz="2000" i="1" dirty="0"/>
              <a:t>et al.</a:t>
            </a:r>
            <a:r>
              <a:rPr lang="en-US" sz="2000" dirty="0"/>
              <a:t>, 2021, Epidemics</a:t>
            </a:r>
          </a:p>
        </p:txBody>
      </p:sp>
      <p:pic>
        <p:nvPicPr>
          <p:cNvPr id="7" name="Picture 6">
            <a:extLst>
              <a:ext uri="{FF2B5EF4-FFF2-40B4-BE49-F238E27FC236}">
                <a16:creationId xmlns:a16="http://schemas.microsoft.com/office/drawing/2014/main" id="{6036C97B-A7B9-9640-B0BB-AE612A8C163A}"/>
              </a:ext>
            </a:extLst>
          </p:cNvPr>
          <p:cNvPicPr>
            <a:picLocks noChangeAspect="1"/>
          </p:cNvPicPr>
          <p:nvPr/>
        </p:nvPicPr>
        <p:blipFill>
          <a:blip r:embed="rId3"/>
          <a:stretch>
            <a:fillRect/>
          </a:stretch>
        </p:blipFill>
        <p:spPr>
          <a:xfrm>
            <a:off x="692151" y="2024002"/>
            <a:ext cx="4040372" cy="3657600"/>
          </a:xfrm>
          <a:prstGeom prst="rect">
            <a:avLst/>
          </a:prstGeom>
        </p:spPr>
      </p:pic>
    </p:spTree>
    <p:extLst>
      <p:ext uri="{BB962C8B-B14F-4D97-AF65-F5344CB8AC3E}">
        <p14:creationId xmlns:p14="http://schemas.microsoft.com/office/powerpoint/2010/main" val="638273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92E91-0BE5-C522-DFDE-99186BBF3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B8E3B-3924-B3E7-D317-0378151EEF3A}"/>
              </a:ext>
            </a:extLst>
          </p:cNvPr>
          <p:cNvSpPr>
            <a:spLocks noGrp="1"/>
          </p:cNvSpPr>
          <p:nvPr>
            <p:ph type="title"/>
          </p:nvPr>
        </p:nvSpPr>
        <p:spPr/>
        <p:txBody>
          <a:bodyPr/>
          <a:lstStyle/>
          <a:p>
            <a:r>
              <a:rPr lang="en-US" dirty="0"/>
              <a:t>Reconstructing population trajectories using BDMM-prime</a:t>
            </a:r>
          </a:p>
        </p:txBody>
      </p:sp>
      <p:sp>
        <p:nvSpPr>
          <p:cNvPr id="5" name="TextBox 4">
            <a:extLst>
              <a:ext uri="{FF2B5EF4-FFF2-40B4-BE49-F238E27FC236}">
                <a16:creationId xmlns:a16="http://schemas.microsoft.com/office/drawing/2014/main" id="{47F784FB-F48E-E6DE-FF8A-1546E82DDA20}"/>
              </a:ext>
            </a:extLst>
          </p:cNvPr>
          <p:cNvSpPr txBox="1"/>
          <p:nvPr/>
        </p:nvSpPr>
        <p:spPr>
          <a:xfrm>
            <a:off x="8790711" y="6153409"/>
            <a:ext cx="3262744" cy="707886"/>
          </a:xfrm>
          <a:prstGeom prst="rect">
            <a:avLst/>
          </a:prstGeom>
          <a:noFill/>
        </p:spPr>
        <p:txBody>
          <a:bodyPr wrap="square" rtlCol="0">
            <a:spAutoFit/>
          </a:bodyPr>
          <a:lstStyle/>
          <a:p>
            <a:r>
              <a:rPr lang="en-US" sz="2000" dirty="0"/>
              <a:t>Vaughan and Stadler, 2025, MBE</a:t>
            </a:r>
          </a:p>
        </p:txBody>
      </p:sp>
      <p:pic>
        <p:nvPicPr>
          <p:cNvPr id="1026" name="Picture 2" descr="Joint inference of phylogenetic tree with ancestral host types and host-specific epidemic trajectories indicating the timing and frequency of MERS camel to human spillover events. a) A maximum clade credibility (MCC) summary from the dated phylogeny posterior with most highly probable host types at internal nodes marked. b) Marginal posterior of infected host population size dynamics sampled using our particle filtering approach, with the thick central lines representing the median and the bounds of the shaded areas representing the 2.5% and 97.5% quantiles of the marginal host-specific infected population size posterior at each time point. c) Equivalent visualization of infected host trajectories simulated naively from the inferred model parameters, illustrating the importance of the tree in recovering infection dynamics. d) Marginal posteriors of spillover events present on the tree (i.e. ancestral to included samples) and present in the larger population since 2011.">
            <a:extLst>
              <a:ext uri="{FF2B5EF4-FFF2-40B4-BE49-F238E27FC236}">
                <a16:creationId xmlns:a16="http://schemas.microsoft.com/office/drawing/2014/main" id="{7F1231E4-1913-C5D1-480E-5B3821896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0" y="1439870"/>
            <a:ext cx="5724358" cy="4700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899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F94E-8CAA-B04C-8950-0F8492BF3952}"/>
              </a:ext>
            </a:extLst>
          </p:cNvPr>
          <p:cNvSpPr>
            <a:spLocks noGrp="1"/>
          </p:cNvSpPr>
          <p:nvPr>
            <p:ph type="title"/>
          </p:nvPr>
        </p:nvSpPr>
        <p:spPr/>
        <p:txBody>
          <a:bodyPr/>
          <a:lstStyle/>
          <a:p>
            <a:r>
              <a:rPr lang="en-US" dirty="0"/>
              <a:t>Pros / Cons</a:t>
            </a:r>
          </a:p>
        </p:txBody>
      </p:sp>
      <p:sp>
        <p:nvSpPr>
          <p:cNvPr id="3" name="Content Placeholder 2">
            <a:extLst>
              <a:ext uri="{FF2B5EF4-FFF2-40B4-BE49-F238E27FC236}">
                <a16:creationId xmlns:a16="http://schemas.microsoft.com/office/drawing/2014/main" id="{61E6DA1A-8213-0647-983C-09F592E8CC67}"/>
              </a:ext>
            </a:extLst>
          </p:cNvPr>
          <p:cNvSpPr>
            <a:spLocks noGrp="1"/>
          </p:cNvSpPr>
          <p:nvPr>
            <p:ph idx="1"/>
          </p:nvPr>
        </p:nvSpPr>
        <p:spPr/>
        <p:txBody>
          <a:bodyPr/>
          <a:lstStyle/>
          <a:p>
            <a:r>
              <a:rPr lang="en-US" dirty="0"/>
              <a:t>Pro: parameter estimates map to biologically meaningful quantities (R</a:t>
            </a:r>
            <a:r>
              <a:rPr lang="en-US" baseline="-25000" dirty="0"/>
              <a:t>0</a:t>
            </a:r>
            <a:r>
              <a:rPr lang="en-US" dirty="0"/>
              <a:t>, length of infectious period, </a:t>
            </a:r>
            <a:r>
              <a:rPr lang="en-US" dirty="0" err="1"/>
              <a:t>etc</a:t>
            </a:r>
            <a:r>
              <a:rPr lang="en-US" dirty="0"/>
              <a:t>)</a:t>
            </a:r>
          </a:p>
          <a:p>
            <a:endParaRPr lang="en-US" dirty="0"/>
          </a:p>
          <a:p>
            <a:r>
              <a:rPr lang="en-US" dirty="0"/>
              <a:t>Con: computational cost (BDMM) or approximations (MSBD)</a:t>
            </a:r>
          </a:p>
          <a:p>
            <a:endParaRPr lang="en-US" dirty="0"/>
          </a:p>
          <a:p>
            <a:r>
              <a:rPr lang="en-US" dirty="0"/>
              <a:t>Con: sensitive to unmodelled sampling discrepancies</a:t>
            </a:r>
          </a:p>
        </p:txBody>
      </p:sp>
    </p:spTree>
    <p:extLst>
      <p:ext uri="{BB962C8B-B14F-4D97-AF65-F5344CB8AC3E}">
        <p14:creationId xmlns:p14="http://schemas.microsoft.com/office/powerpoint/2010/main" val="187782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7B360-8621-884F-B2CA-F0323C2109A9}"/>
              </a:ext>
            </a:extLst>
          </p:cNvPr>
          <p:cNvSpPr>
            <a:spLocks noGrp="1"/>
          </p:cNvSpPr>
          <p:nvPr>
            <p:ph type="title"/>
          </p:nvPr>
        </p:nvSpPr>
        <p:spPr/>
        <p:txBody>
          <a:bodyPr>
            <a:normAutofit/>
          </a:bodyPr>
          <a:lstStyle/>
          <a:p>
            <a:pPr algn="ctr"/>
            <a:r>
              <a:rPr lang="en-US" sz="2600" dirty="0">
                <a:latin typeface="Helvetica" pitchFamily="2" charset="0"/>
              </a:rPr>
              <a:t>Phylogenetic tree of SARS-CoV-2 sequences isolated in Washington State reveal multiple introductions. </a:t>
            </a:r>
          </a:p>
        </p:txBody>
      </p:sp>
      <p:sp>
        <p:nvSpPr>
          <p:cNvPr id="3" name="Slide Number Placeholder 2">
            <a:extLst>
              <a:ext uri="{FF2B5EF4-FFF2-40B4-BE49-F238E27FC236}">
                <a16:creationId xmlns:a16="http://schemas.microsoft.com/office/drawing/2014/main" id="{F12D9AE9-6F53-6C43-857E-C789B59051D1}"/>
              </a:ext>
            </a:extLst>
          </p:cNvPr>
          <p:cNvSpPr>
            <a:spLocks noGrp="1"/>
          </p:cNvSpPr>
          <p:nvPr>
            <p:ph type="sldNum" sz="quarter" idx="12"/>
          </p:nvPr>
        </p:nvSpPr>
        <p:spPr/>
        <p:txBody>
          <a:bodyPr/>
          <a:lstStyle/>
          <a:p>
            <a:fld id="{15B526FD-742D-DA43-B9D4-8A35AE5387EE}" type="slidenum">
              <a:rPr lang="en-US" smtClean="0"/>
              <a:t>43</a:t>
            </a:fld>
            <a:endParaRPr lang="en-US" dirty="0"/>
          </a:p>
        </p:txBody>
      </p:sp>
      <p:pic>
        <p:nvPicPr>
          <p:cNvPr id="26" name="ezgif.com-gif-maker" descr="ezgif.com-gif-maker">
            <a:hlinkClick r:id="" action="ppaction://media"/>
            <a:extLst>
              <a:ext uri="{FF2B5EF4-FFF2-40B4-BE49-F238E27FC236}">
                <a16:creationId xmlns:a16="http://schemas.microsoft.com/office/drawing/2014/main" id="{77FAFFB5-8626-7644-A3D8-3564C1EDBBB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55369" y="1735139"/>
            <a:ext cx="11881262" cy="4143375"/>
          </a:xfrm>
        </p:spPr>
      </p:pic>
      <p:sp>
        <p:nvSpPr>
          <p:cNvPr id="27" name="TextBox 26">
            <a:extLst>
              <a:ext uri="{FF2B5EF4-FFF2-40B4-BE49-F238E27FC236}">
                <a16:creationId xmlns:a16="http://schemas.microsoft.com/office/drawing/2014/main" id="{80834319-F45C-E745-B455-D65356CDC5B1}"/>
              </a:ext>
            </a:extLst>
          </p:cNvPr>
          <p:cNvSpPr txBox="1"/>
          <p:nvPr/>
        </p:nvSpPr>
        <p:spPr>
          <a:xfrm>
            <a:off x="2584450" y="6125647"/>
            <a:ext cx="7023100" cy="369332"/>
          </a:xfrm>
          <a:prstGeom prst="rect">
            <a:avLst/>
          </a:prstGeom>
          <a:noFill/>
        </p:spPr>
        <p:txBody>
          <a:bodyPr wrap="square" rtlCol="0">
            <a:spAutoFit/>
          </a:bodyPr>
          <a:lstStyle/>
          <a:p>
            <a:r>
              <a:rPr lang="en-US" i="1" dirty="0"/>
              <a:t>https://</a:t>
            </a:r>
            <a:r>
              <a:rPr lang="en-US" i="1" dirty="0" err="1"/>
              <a:t>nextstrain.org</a:t>
            </a:r>
            <a:r>
              <a:rPr lang="en-US" i="1" dirty="0"/>
              <a:t>/groups/blab/</a:t>
            </a:r>
            <a:r>
              <a:rPr lang="en-US" i="1" dirty="0" err="1"/>
              <a:t>ncov</a:t>
            </a:r>
            <a:r>
              <a:rPr lang="en-US" i="1" dirty="0"/>
              <a:t>/</a:t>
            </a:r>
            <a:r>
              <a:rPr lang="en-US" i="1" dirty="0" err="1"/>
              <a:t>wa-phylodynamics?c</a:t>
            </a:r>
            <a:r>
              <a:rPr lang="en-US" i="1" dirty="0"/>
              <a:t>=county</a:t>
            </a:r>
          </a:p>
        </p:txBody>
      </p:sp>
    </p:spTree>
    <p:extLst>
      <p:ext uri="{BB962C8B-B14F-4D97-AF65-F5344CB8AC3E}">
        <p14:creationId xmlns:p14="http://schemas.microsoft.com/office/powerpoint/2010/main" val="105559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85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
                </p:tgtEl>
              </p:cMediaNode>
            </p:video>
            <p:seq concurrent="1" nextAc="seek">
              <p:cTn id="8" restart="whenNotActive" fill="hold" evtFilter="cancelBubble" nodeType="interactiveSeq">
                <p:stCondLst>
                  <p:cond evt="onClick" delay="0">
                    <p:tgtEl>
                      <p:spTgt spid="2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6"/>
                                        </p:tgtEl>
                                      </p:cBhvr>
                                    </p:cmd>
                                  </p:childTnLst>
                                </p:cTn>
                              </p:par>
                            </p:childTnLst>
                          </p:cTn>
                        </p:par>
                      </p:childTnLst>
                    </p:cTn>
                  </p:par>
                </p:childTnLst>
              </p:cTn>
              <p:nextCondLst>
                <p:cond evt="onClick" delay="0">
                  <p:tgtEl>
                    <p:spTgt spid="26"/>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7B360-8621-884F-B2CA-F0323C2109A9}"/>
              </a:ext>
            </a:extLst>
          </p:cNvPr>
          <p:cNvSpPr>
            <a:spLocks noGrp="1"/>
          </p:cNvSpPr>
          <p:nvPr>
            <p:ph type="title"/>
          </p:nvPr>
        </p:nvSpPr>
        <p:spPr>
          <a:xfrm>
            <a:off x="6299200" y="365125"/>
            <a:ext cx="5054600" cy="2886075"/>
          </a:xfrm>
        </p:spPr>
        <p:txBody>
          <a:bodyPr>
            <a:normAutofit/>
          </a:bodyPr>
          <a:lstStyle/>
          <a:p>
            <a:pPr algn="ctr"/>
            <a:r>
              <a:rPr lang="en-US" sz="2600" dirty="0">
                <a:latin typeface="Helvetica" pitchFamily="2" charset="0"/>
              </a:rPr>
              <a:t>The two spike variants 614D and 614G were shown to differ in viral load and presumably transmission rate.</a:t>
            </a:r>
          </a:p>
        </p:txBody>
      </p:sp>
      <p:sp>
        <p:nvSpPr>
          <p:cNvPr id="3" name="Slide Number Placeholder 2">
            <a:extLst>
              <a:ext uri="{FF2B5EF4-FFF2-40B4-BE49-F238E27FC236}">
                <a16:creationId xmlns:a16="http://schemas.microsoft.com/office/drawing/2014/main" id="{F12D9AE9-6F53-6C43-857E-C789B59051D1}"/>
              </a:ext>
            </a:extLst>
          </p:cNvPr>
          <p:cNvSpPr>
            <a:spLocks noGrp="1"/>
          </p:cNvSpPr>
          <p:nvPr>
            <p:ph type="sldNum" sz="quarter" idx="12"/>
          </p:nvPr>
        </p:nvSpPr>
        <p:spPr/>
        <p:txBody>
          <a:bodyPr/>
          <a:lstStyle/>
          <a:p>
            <a:fld id="{15B526FD-742D-DA43-B9D4-8A35AE5387EE}" type="slidenum">
              <a:rPr lang="en-US" smtClean="0"/>
              <a:t>44</a:t>
            </a:fld>
            <a:endParaRPr lang="en-US" dirty="0"/>
          </a:p>
        </p:txBody>
      </p:sp>
      <p:sp>
        <p:nvSpPr>
          <p:cNvPr id="8" name="TextBox 7">
            <a:extLst>
              <a:ext uri="{FF2B5EF4-FFF2-40B4-BE49-F238E27FC236}">
                <a16:creationId xmlns:a16="http://schemas.microsoft.com/office/drawing/2014/main" id="{48557384-9C01-064A-96BC-64C407425210}"/>
              </a:ext>
            </a:extLst>
          </p:cNvPr>
          <p:cNvSpPr txBox="1"/>
          <p:nvPr/>
        </p:nvSpPr>
        <p:spPr>
          <a:xfrm>
            <a:off x="9448800" y="5812905"/>
            <a:ext cx="2743200" cy="369332"/>
          </a:xfrm>
          <a:prstGeom prst="rect">
            <a:avLst/>
          </a:prstGeom>
          <a:noFill/>
        </p:spPr>
        <p:txBody>
          <a:bodyPr wrap="square" rtlCol="0">
            <a:spAutoFit/>
          </a:bodyPr>
          <a:lstStyle/>
          <a:p>
            <a:r>
              <a:rPr lang="en-US" dirty="0" err="1"/>
              <a:t>Korber</a:t>
            </a:r>
            <a:r>
              <a:rPr lang="en-US" dirty="0"/>
              <a:t> et al. (2020), </a:t>
            </a:r>
            <a:r>
              <a:rPr lang="en-US" i="1" dirty="0"/>
              <a:t>Cell</a:t>
            </a:r>
          </a:p>
        </p:txBody>
      </p:sp>
      <p:pic>
        <p:nvPicPr>
          <p:cNvPr id="2050" name="Picture 2">
            <a:extLst>
              <a:ext uri="{FF2B5EF4-FFF2-40B4-BE49-F238E27FC236}">
                <a16:creationId xmlns:a16="http://schemas.microsoft.com/office/drawing/2014/main" id="{B07353E7-3ACE-B94A-9CA5-3955D29C2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487363"/>
            <a:ext cx="5689600" cy="568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3542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067C-2570-5044-9FA4-874E3777D830}"/>
              </a:ext>
            </a:extLst>
          </p:cNvPr>
          <p:cNvSpPr>
            <a:spLocks noGrp="1"/>
          </p:cNvSpPr>
          <p:nvPr>
            <p:ph type="title"/>
          </p:nvPr>
        </p:nvSpPr>
        <p:spPr/>
        <p:txBody>
          <a:bodyPr>
            <a:normAutofit/>
          </a:bodyPr>
          <a:lstStyle/>
          <a:p>
            <a:r>
              <a:rPr lang="en-US" dirty="0"/>
              <a:t>Migration histories can be conditioned on instead of estimated</a:t>
            </a:r>
          </a:p>
        </p:txBody>
      </p:sp>
      <p:sp>
        <p:nvSpPr>
          <p:cNvPr id="4" name="Slide Number Placeholder 3">
            <a:extLst>
              <a:ext uri="{FF2B5EF4-FFF2-40B4-BE49-F238E27FC236}">
                <a16:creationId xmlns:a16="http://schemas.microsoft.com/office/drawing/2014/main" id="{E55500DD-D71B-284E-BC2D-2AD9E344C075}"/>
              </a:ext>
            </a:extLst>
          </p:cNvPr>
          <p:cNvSpPr>
            <a:spLocks noGrp="1"/>
          </p:cNvSpPr>
          <p:nvPr>
            <p:ph type="sldNum" sz="quarter" idx="12"/>
          </p:nvPr>
        </p:nvSpPr>
        <p:spPr/>
        <p:txBody>
          <a:bodyPr/>
          <a:lstStyle/>
          <a:p>
            <a:fld id="{15B526FD-742D-DA43-B9D4-8A35AE5387EE}" type="slidenum">
              <a:rPr lang="en-US" smtClean="0"/>
              <a:t>45</a:t>
            </a:fld>
            <a:endParaRPr lang="en-US" dirty="0"/>
          </a:p>
        </p:txBody>
      </p:sp>
      <p:sp>
        <p:nvSpPr>
          <p:cNvPr id="25" name="TextBox 24">
            <a:extLst>
              <a:ext uri="{FF2B5EF4-FFF2-40B4-BE49-F238E27FC236}">
                <a16:creationId xmlns:a16="http://schemas.microsoft.com/office/drawing/2014/main" id="{760368B0-2CAA-0745-8AE0-CF12183B1237}"/>
              </a:ext>
            </a:extLst>
          </p:cNvPr>
          <p:cNvSpPr txBox="1"/>
          <p:nvPr/>
        </p:nvSpPr>
        <p:spPr>
          <a:xfrm>
            <a:off x="7387703" y="6183438"/>
            <a:ext cx="3572397" cy="646331"/>
          </a:xfrm>
          <a:prstGeom prst="rect">
            <a:avLst/>
          </a:prstGeom>
          <a:noFill/>
        </p:spPr>
        <p:txBody>
          <a:bodyPr wrap="square" rtlCol="0">
            <a:spAutoFit/>
          </a:bodyPr>
          <a:lstStyle/>
          <a:p>
            <a:r>
              <a:rPr lang="en-US" dirty="0"/>
              <a:t>Müller, Wagner, </a:t>
            </a:r>
            <a:r>
              <a:rPr lang="en-US" dirty="0" err="1"/>
              <a:t>Frazar</a:t>
            </a:r>
            <a:r>
              <a:rPr lang="en-US" dirty="0"/>
              <a:t> and </a:t>
            </a:r>
            <a:r>
              <a:rPr lang="en-US" dirty="0" err="1"/>
              <a:t>Roychoudhury</a:t>
            </a:r>
            <a:r>
              <a:rPr lang="en-US" dirty="0"/>
              <a:t> et al. (2021), </a:t>
            </a:r>
            <a:r>
              <a:rPr lang="en-US" i="1" dirty="0" err="1"/>
              <a:t>BioRxiv</a:t>
            </a:r>
            <a:endParaRPr lang="en-US" i="1" dirty="0"/>
          </a:p>
        </p:txBody>
      </p:sp>
      <p:pic>
        <p:nvPicPr>
          <p:cNvPr id="8" name="Picture 7" descr="Chart&#10;&#10;Description automatically generated with medium confidence">
            <a:extLst>
              <a:ext uri="{FF2B5EF4-FFF2-40B4-BE49-F238E27FC236}">
                <a16:creationId xmlns:a16="http://schemas.microsoft.com/office/drawing/2014/main" id="{8638B64C-FD36-03E7-396C-8E772B4AEFBC}"/>
              </a:ext>
            </a:extLst>
          </p:cNvPr>
          <p:cNvPicPr>
            <a:picLocks noChangeAspect="1"/>
          </p:cNvPicPr>
          <p:nvPr/>
        </p:nvPicPr>
        <p:blipFill>
          <a:blip r:embed="rId3"/>
          <a:stretch>
            <a:fillRect/>
          </a:stretch>
        </p:blipFill>
        <p:spPr>
          <a:xfrm>
            <a:off x="2686667" y="1513922"/>
            <a:ext cx="7224649" cy="4561222"/>
          </a:xfrm>
          <a:prstGeom prst="rect">
            <a:avLst/>
          </a:prstGeom>
        </p:spPr>
      </p:pic>
    </p:spTree>
    <p:extLst>
      <p:ext uri="{BB962C8B-B14F-4D97-AF65-F5344CB8AC3E}">
        <p14:creationId xmlns:p14="http://schemas.microsoft.com/office/powerpoint/2010/main" val="3119529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067C-2570-5044-9FA4-874E3777D830}"/>
              </a:ext>
            </a:extLst>
          </p:cNvPr>
          <p:cNvSpPr>
            <a:spLocks noGrp="1"/>
          </p:cNvSpPr>
          <p:nvPr>
            <p:ph type="title"/>
          </p:nvPr>
        </p:nvSpPr>
        <p:spPr/>
        <p:txBody>
          <a:bodyPr>
            <a:normAutofit/>
          </a:bodyPr>
          <a:lstStyle/>
          <a:p>
            <a:r>
              <a:rPr lang="en-US" dirty="0"/>
              <a:t>Reconstructing the effective population size of the spike variants reveals different temporal patterns</a:t>
            </a:r>
          </a:p>
        </p:txBody>
      </p:sp>
      <p:sp>
        <p:nvSpPr>
          <p:cNvPr id="4" name="Slide Number Placeholder 3">
            <a:extLst>
              <a:ext uri="{FF2B5EF4-FFF2-40B4-BE49-F238E27FC236}">
                <a16:creationId xmlns:a16="http://schemas.microsoft.com/office/drawing/2014/main" id="{E55500DD-D71B-284E-BC2D-2AD9E344C075}"/>
              </a:ext>
            </a:extLst>
          </p:cNvPr>
          <p:cNvSpPr>
            <a:spLocks noGrp="1"/>
          </p:cNvSpPr>
          <p:nvPr>
            <p:ph type="sldNum" sz="quarter" idx="12"/>
          </p:nvPr>
        </p:nvSpPr>
        <p:spPr/>
        <p:txBody>
          <a:bodyPr/>
          <a:lstStyle/>
          <a:p>
            <a:fld id="{15B526FD-742D-DA43-B9D4-8A35AE5387EE}" type="slidenum">
              <a:rPr lang="en-US" smtClean="0"/>
              <a:t>46</a:t>
            </a:fld>
            <a:endParaRPr lang="en-US" dirty="0"/>
          </a:p>
        </p:txBody>
      </p:sp>
      <p:sp>
        <p:nvSpPr>
          <p:cNvPr id="25" name="TextBox 24">
            <a:extLst>
              <a:ext uri="{FF2B5EF4-FFF2-40B4-BE49-F238E27FC236}">
                <a16:creationId xmlns:a16="http://schemas.microsoft.com/office/drawing/2014/main" id="{760368B0-2CAA-0745-8AE0-CF12183B1237}"/>
              </a:ext>
            </a:extLst>
          </p:cNvPr>
          <p:cNvSpPr txBox="1"/>
          <p:nvPr/>
        </p:nvSpPr>
        <p:spPr>
          <a:xfrm>
            <a:off x="6400801" y="6183438"/>
            <a:ext cx="4559300" cy="646331"/>
          </a:xfrm>
          <a:prstGeom prst="rect">
            <a:avLst/>
          </a:prstGeom>
          <a:noFill/>
        </p:spPr>
        <p:txBody>
          <a:bodyPr wrap="square" rtlCol="0">
            <a:spAutoFit/>
          </a:bodyPr>
          <a:lstStyle/>
          <a:p>
            <a:r>
              <a:rPr lang="en-US" dirty="0"/>
              <a:t>Müller, Wagner, </a:t>
            </a:r>
            <a:r>
              <a:rPr lang="en-US" dirty="0" err="1"/>
              <a:t>Frazar</a:t>
            </a:r>
            <a:r>
              <a:rPr lang="en-US" dirty="0"/>
              <a:t> and </a:t>
            </a:r>
            <a:r>
              <a:rPr lang="en-US" dirty="0" err="1"/>
              <a:t>Roychoudhury</a:t>
            </a:r>
            <a:r>
              <a:rPr lang="en-US" dirty="0"/>
              <a:t> et al. (2021), </a:t>
            </a:r>
            <a:r>
              <a:rPr lang="en-US" i="1" dirty="0"/>
              <a:t>Sci. Trans. Med.</a:t>
            </a:r>
          </a:p>
        </p:txBody>
      </p:sp>
      <p:pic>
        <p:nvPicPr>
          <p:cNvPr id="7" name="Content Placeholder 6">
            <a:extLst>
              <a:ext uri="{FF2B5EF4-FFF2-40B4-BE49-F238E27FC236}">
                <a16:creationId xmlns:a16="http://schemas.microsoft.com/office/drawing/2014/main" id="{D4B21735-6D31-924C-98F9-68E236A439B1}"/>
              </a:ext>
            </a:extLst>
          </p:cNvPr>
          <p:cNvPicPr>
            <a:picLocks noGrp="1" noChangeAspect="1"/>
          </p:cNvPicPr>
          <p:nvPr>
            <p:ph idx="1"/>
          </p:nvPr>
        </p:nvPicPr>
        <p:blipFill>
          <a:blip r:embed="rId3"/>
          <a:stretch>
            <a:fillRect/>
          </a:stretch>
        </p:blipFill>
        <p:spPr>
          <a:xfrm>
            <a:off x="1231900" y="2000125"/>
            <a:ext cx="10485946" cy="4369144"/>
          </a:xfrm>
        </p:spPr>
      </p:pic>
      <p:pic>
        <p:nvPicPr>
          <p:cNvPr id="10" name="Picture 9">
            <a:extLst>
              <a:ext uri="{FF2B5EF4-FFF2-40B4-BE49-F238E27FC236}">
                <a16:creationId xmlns:a16="http://schemas.microsoft.com/office/drawing/2014/main" id="{7F7900CA-FA40-B344-B108-8ECE8698F9F3}"/>
              </a:ext>
            </a:extLst>
          </p:cNvPr>
          <p:cNvPicPr>
            <a:picLocks noChangeAspect="1"/>
          </p:cNvPicPr>
          <p:nvPr/>
        </p:nvPicPr>
        <p:blipFill rotWithShape="1">
          <a:blip r:embed="rId4"/>
          <a:srcRect l="45506" t="74029" r="35243"/>
          <a:stretch/>
        </p:blipFill>
        <p:spPr>
          <a:xfrm>
            <a:off x="7925232" y="2209800"/>
            <a:ext cx="3034868" cy="767665"/>
          </a:xfrm>
          <a:prstGeom prst="rect">
            <a:avLst/>
          </a:prstGeom>
        </p:spPr>
      </p:pic>
    </p:spTree>
    <p:extLst>
      <p:ext uri="{BB962C8B-B14F-4D97-AF65-F5344CB8AC3E}">
        <p14:creationId xmlns:p14="http://schemas.microsoft.com/office/powerpoint/2010/main" val="1940218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067C-2570-5044-9FA4-874E3777D830}"/>
              </a:ext>
            </a:extLst>
          </p:cNvPr>
          <p:cNvSpPr>
            <a:spLocks noGrp="1"/>
          </p:cNvSpPr>
          <p:nvPr>
            <p:ph type="title"/>
          </p:nvPr>
        </p:nvSpPr>
        <p:spPr/>
        <p:txBody>
          <a:bodyPr>
            <a:normAutofit/>
          </a:bodyPr>
          <a:lstStyle/>
          <a:p>
            <a:r>
              <a:rPr lang="en-US" dirty="0"/>
              <a:t>Changes in the reproduction rate of different spike variants reflect different mobility trends in the state</a:t>
            </a:r>
          </a:p>
        </p:txBody>
      </p:sp>
      <p:sp>
        <p:nvSpPr>
          <p:cNvPr id="4" name="Slide Number Placeholder 3">
            <a:extLst>
              <a:ext uri="{FF2B5EF4-FFF2-40B4-BE49-F238E27FC236}">
                <a16:creationId xmlns:a16="http://schemas.microsoft.com/office/drawing/2014/main" id="{E55500DD-D71B-284E-BC2D-2AD9E344C075}"/>
              </a:ext>
            </a:extLst>
          </p:cNvPr>
          <p:cNvSpPr>
            <a:spLocks noGrp="1"/>
          </p:cNvSpPr>
          <p:nvPr>
            <p:ph type="sldNum" sz="quarter" idx="12"/>
          </p:nvPr>
        </p:nvSpPr>
        <p:spPr/>
        <p:txBody>
          <a:bodyPr/>
          <a:lstStyle/>
          <a:p>
            <a:fld id="{15B526FD-742D-DA43-B9D4-8A35AE5387EE}" type="slidenum">
              <a:rPr lang="en-US" smtClean="0"/>
              <a:t>47</a:t>
            </a:fld>
            <a:endParaRPr lang="en-US" dirty="0"/>
          </a:p>
        </p:txBody>
      </p:sp>
      <p:pic>
        <p:nvPicPr>
          <p:cNvPr id="30" name="Content Placeholder 29">
            <a:extLst>
              <a:ext uri="{FF2B5EF4-FFF2-40B4-BE49-F238E27FC236}">
                <a16:creationId xmlns:a16="http://schemas.microsoft.com/office/drawing/2014/main" id="{5D7FCAED-EF31-8D4F-A29E-C4222D2C9102}"/>
              </a:ext>
            </a:extLst>
          </p:cNvPr>
          <p:cNvPicPr>
            <a:picLocks noGrp="1" noChangeAspect="1"/>
          </p:cNvPicPr>
          <p:nvPr>
            <p:ph idx="1"/>
          </p:nvPr>
        </p:nvPicPr>
        <p:blipFill>
          <a:blip r:embed="rId3"/>
          <a:stretch>
            <a:fillRect/>
          </a:stretch>
        </p:blipFill>
        <p:spPr>
          <a:xfrm>
            <a:off x="1132658" y="1979488"/>
            <a:ext cx="9927409" cy="4136420"/>
          </a:xfrm>
        </p:spPr>
      </p:pic>
      <p:pic>
        <p:nvPicPr>
          <p:cNvPr id="32" name="Picture 31">
            <a:extLst>
              <a:ext uri="{FF2B5EF4-FFF2-40B4-BE49-F238E27FC236}">
                <a16:creationId xmlns:a16="http://schemas.microsoft.com/office/drawing/2014/main" id="{BF73FB94-7211-6247-8A45-6432961B6517}"/>
              </a:ext>
            </a:extLst>
          </p:cNvPr>
          <p:cNvPicPr>
            <a:picLocks noChangeAspect="1"/>
          </p:cNvPicPr>
          <p:nvPr/>
        </p:nvPicPr>
        <p:blipFill rotWithShape="1">
          <a:blip r:embed="rId4"/>
          <a:srcRect t="34144"/>
          <a:stretch/>
        </p:blipFill>
        <p:spPr>
          <a:xfrm>
            <a:off x="2171700" y="2159000"/>
            <a:ext cx="7315200" cy="903288"/>
          </a:xfrm>
          <a:prstGeom prst="rect">
            <a:avLst/>
          </a:prstGeom>
        </p:spPr>
      </p:pic>
      <p:sp>
        <p:nvSpPr>
          <p:cNvPr id="5" name="TextBox 4">
            <a:extLst>
              <a:ext uri="{FF2B5EF4-FFF2-40B4-BE49-F238E27FC236}">
                <a16:creationId xmlns:a16="http://schemas.microsoft.com/office/drawing/2014/main" id="{657D3C12-0284-155C-A413-97445542A217}"/>
              </a:ext>
            </a:extLst>
          </p:cNvPr>
          <p:cNvSpPr txBox="1"/>
          <p:nvPr/>
        </p:nvSpPr>
        <p:spPr>
          <a:xfrm>
            <a:off x="6400801" y="6183438"/>
            <a:ext cx="4559300" cy="646331"/>
          </a:xfrm>
          <a:prstGeom prst="rect">
            <a:avLst/>
          </a:prstGeom>
          <a:noFill/>
        </p:spPr>
        <p:txBody>
          <a:bodyPr wrap="square" rtlCol="0">
            <a:spAutoFit/>
          </a:bodyPr>
          <a:lstStyle/>
          <a:p>
            <a:r>
              <a:rPr lang="en-US" dirty="0"/>
              <a:t>Müller, Wagner, </a:t>
            </a:r>
            <a:r>
              <a:rPr lang="en-US" dirty="0" err="1"/>
              <a:t>Frazar</a:t>
            </a:r>
            <a:r>
              <a:rPr lang="en-US" dirty="0"/>
              <a:t> and </a:t>
            </a:r>
            <a:r>
              <a:rPr lang="en-US" dirty="0" err="1"/>
              <a:t>Roychoudhury</a:t>
            </a:r>
            <a:r>
              <a:rPr lang="en-US" dirty="0"/>
              <a:t> et al. (2021), </a:t>
            </a:r>
            <a:r>
              <a:rPr lang="en-US" i="1" dirty="0"/>
              <a:t>Sci. Trans. Med.</a:t>
            </a:r>
          </a:p>
        </p:txBody>
      </p:sp>
    </p:spTree>
    <p:extLst>
      <p:ext uri="{BB962C8B-B14F-4D97-AF65-F5344CB8AC3E}">
        <p14:creationId xmlns:p14="http://schemas.microsoft.com/office/powerpoint/2010/main" val="2475210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067C-2570-5044-9FA4-874E3777D830}"/>
              </a:ext>
            </a:extLst>
          </p:cNvPr>
          <p:cNvSpPr>
            <a:spLocks noGrp="1"/>
          </p:cNvSpPr>
          <p:nvPr>
            <p:ph type="title"/>
          </p:nvPr>
        </p:nvSpPr>
        <p:spPr/>
        <p:txBody>
          <a:bodyPr>
            <a:normAutofit/>
          </a:bodyPr>
          <a:lstStyle/>
          <a:p>
            <a:r>
              <a:rPr lang="en-US" dirty="0"/>
              <a:t>Introductions played different roles in the spread of different SARS-CoV-2 spike variants</a:t>
            </a:r>
          </a:p>
        </p:txBody>
      </p:sp>
      <p:sp>
        <p:nvSpPr>
          <p:cNvPr id="4" name="Slide Number Placeholder 3">
            <a:extLst>
              <a:ext uri="{FF2B5EF4-FFF2-40B4-BE49-F238E27FC236}">
                <a16:creationId xmlns:a16="http://schemas.microsoft.com/office/drawing/2014/main" id="{E55500DD-D71B-284E-BC2D-2AD9E344C075}"/>
              </a:ext>
            </a:extLst>
          </p:cNvPr>
          <p:cNvSpPr>
            <a:spLocks noGrp="1"/>
          </p:cNvSpPr>
          <p:nvPr>
            <p:ph type="sldNum" sz="quarter" idx="12"/>
          </p:nvPr>
        </p:nvSpPr>
        <p:spPr/>
        <p:txBody>
          <a:bodyPr/>
          <a:lstStyle/>
          <a:p>
            <a:fld id="{15B526FD-742D-DA43-B9D4-8A35AE5387EE}" type="slidenum">
              <a:rPr lang="en-US" smtClean="0"/>
              <a:t>48</a:t>
            </a:fld>
            <a:endParaRPr lang="en-US" dirty="0"/>
          </a:p>
        </p:txBody>
      </p:sp>
      <p:pic>
        <p:nvPicPr>
          <p:cNvPr id="17" name="Content Placeholder 16">
            <a:extLst>
              <a:ext uri="{FF2B5EF4-FFF2-40B4-BE49-F238E27FC236}">
                <a16:creationId xmlns:a16="http://schemas.microsoft.com/office/drawing/2014/main" id="{2720195A-020B-724D-8BEC-367827C7C7DF}"/>
              </a:ext>
            </a:extLst>
          </p:cNvPr>
          <p:cNvPicPr>
            <a:picLocks noGrp="1" noChangeAspect="1"/>
          </p:cNvPicPr>
          <p:nvPr>
            <p:ph idx="1"/>
          </p:nvPr>
        </p:nvPicPr>
        <p:blipFill>
          <a:blip r:embed="rId3"/>
          <a:stretch>
            <a:fillRect/>
          </a:stretch>
        </p:blipFill>
        <p:spPr>
          <a:xfrm>
            <a:off x="1625600" y="1689444"/>
            <a:ext cx="8356600" cy="4775200"/>
          </a:xfrm>
        </p:spPr>
      </p:pic>
      <p:sp>
        <p:nvSpPr>
          <p:cNvPr id="3" name="TextBox 2">
            <a:extLst>
              <a:ext uri="{FF2B5EF4-FFF2-40B4-BE49-F238E27FC236}">
                <a16:creationId xmlns:a16="http://schemas.microsoft.com/office/drawing/2014/main" id="{53010F72-5DE0-FC8B-9FE4-C8EF58AA4269}"/>
              </a:ext>
            </a:extLst>
          </p:cNvPr>
          <p:cNvSpPr txBox="1"/>
          <p:nvPr/>
        </p:nvSpPr>
        <p:spPr>
          <a:xfrm>
            <a:off x="6400801" y="6183438"/>
            <a:ext cx="4559300" cy="646331"/>
          </a:xfrm>
          <a:prstGeom prst="rect">
            <a:avLst/>
          </a:prstGeom>
          <a:noFill/>
        </p:spPr>
        <p:txBody>
          <a:bodyPr wrap="square" rtlCol="0">
            <a:spAutoFit/>
          </a:bodyPr>
          <a:lstStyle/>
          <a:p>
            <a:r>
              <a:rPr lang="en-US" dirty="0"/>
              <a:t>Müller, Wagner, </a:t>
            </a:r>
            <a:r>
              <a:rPr lang="en-US" dirty="0" err="1"/>
              <a:t>Frazar</a:t>
            </a:r>
            <a:r>
              <a:rPr lang="en-US" dirty="0"/>
              <a:t> and </a:t>
            </a:r>
            <a:r>
              <a:rPr lang="en-US" dirty="0" err="1"/>
              <a:t>Roychoudhury</a:t>
            </a:r>
            <a:r>
              <a:rPr lang="en-US" dirty="0"/>
              <a:t> et al. (2021), </a:t>
            </a:r>
            <a:r>
              <a:rPr lang="en-US" i="1" dirty="0"/>
              <a:t>Sci. Trans. Med.</a:t>
            </a:r>
          </a:p>
        </p:txBody>
      </p:sp>
    </p:spTree>
    <p:extLst>
      <p:ext uri="{BB962C8B-B14F-4D97-AF65-F5344CB8AC3E}">
        <p14:creationId xmlns:p14="http://schemas.microsoft.com/office/powerpoint/2010/main" val="13090656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54C5-BEB6-434B-BE6F-E816D163732B}"/>
              </a:ext>
            </a:extLst>
          </p:cNvPr>
          <p:cNvSpPr>
            <a:spLocks noGrp="1"/>
          </p:cNvSpPr>
          <p:nvPr>
            <p:ph type="title"/>
          </p:nvPr>
        </p:nvSpPr>
        <p:spPr>
          <a:xfrm>
            <a:off x="838200" y="2906083"/>
            <a:ext cx="10515600" cy="1045834"/>
          </a:xfrm>
        </p:spPr>
        <p:txBody>
          <a:bodyPr/>
          <a:lstStyle/>
          <a:p>
            <a:pPr algn="ctr"/>
            <a:r>
              <a:rPr lang="en-US" dirty="0"/>
              <a:t>QUESTIONS?</a:t>
            </a:r>
          </a:p>
        </p:txBody>
      </p:sp>
    </p:spTree>
    <p:extLst>
      <p:ext uri="{BB962C8B-B14F-4D97-AF65-F5344CB8AC3E}">
        <p14:creationId xmlns:p14="http://schemas.microsoft.com/office/powerpoint/2010/main" val="1938655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19B95-646B-8445-A34B-38D7D0295F30}"/>
              </a:ext>
            </a:extLst>
          </p:cNvPr>
          <p:cNvSpPr>
            <a:spLocks noGrp="1"/>
          </p:cNvSpPr>
          <p:nvPr>
            <p:ph type="title"/>
          </p:nvPr>
        </p:nvSpPr>
        <p:spPr/>
        <p:txBody>
          <a:bodyPr/>
          <a:lstStyle/>
          <a:p>
            <a:r>
              <a:rPr lang="en-US" dirty="0"/>
              <a:t>Some reading material	</a:t>
            </a:r>
          </a:p>
        </p:txBody>
      </p:sp>
      <p:sp>
        <p:nvSpPr>
          <p:cNvPr id="3" name="Content Placeholder 2">
            <a:extLst>
              <a:ext uri="{FF2B5EF4-FFF2-40B4-BE49-F238E27FC236}">
                <a16:creationId xmlns:a16="http://schemas.microsoft.com/office/drawing/2014/main" id="{1EB0D751-4772-814B-9EA2-9B9C1C8F569B}"/>
              </a:ext>
            </a:extLst>
          </p:cNvPr>
          <p:cNvSpPr>
            <a:spLocks noGrp="1"/>
          </p:cNvSpPr>
          <p:nvPr>
            <p:ph idx="1"/>
          </p:nvPr>
        </p:nvSpPr>
        <p:spPr/>
        <p:txBody>
          <a:bodyPr/>
          <a:lstStyle/>
          <a:p>
            <a:r>
              <a:rPr lang="en-US" dirty="0"/>
              <a:t>Paper on DTA: </a:t>
            </a:r>
            <a:r>
              <a:rPr lang="en-US" dirty="0">
                <a:hlinkClick r:id="rId2"/>
              </a:rPr>
              <a:t>https://doi.org/10.1371/journal.pcbi.1000520</a:t>
            </a:r>
            <a:endParaRPr lang="en-US" dirty="0"/>
          </a:p>
          <a:p>
            <a:r>
              <a:rPr lang="en-US" dirty="0"/>
              <a:t>How do different structured coalescent methods compare: </a:t>
            </a:r>
            <a:r>
              <a:rPr lang="en-US" dirty="0">
                <a:hlinkClick r:id="rId3"/>
              </a:rPr>
              <a:t>https://academic.oup.com/mbe/article-abstract/34/11/2970/3896419</a:t>
            </a:r>
            <a:endParaRPr lang="en-US" dirty="0"/>
          </a:p>
          <a:p>
            <a:r>
              <a:rPr lang="en-US" dirty="0"/>
              <a:t>Birth-death models with migration: </a:t>
            </a:r>
            <a:r>
              <a:rPr lang="en-US" u="sng" dirty="0">
                <a:hlinkClick r:id="rId4"/>
              </a:rPr>
              <a:t>https://doi.org/10.1093/molbev/msw064</a:t>
            </a:r>
            <a:endParaRPr lang="en-US" dirty="0"/>
          </a:p>
          <a:p>
            <a:r>
              <a:rPr lang="en-US" dirty="0"/>
              <a:t>GLM for DTA: </a:t>
            </a:r>
            <a:r>
              <a:rPr lang="en-US" dirty="0">
                <a:hlinkClick r:id="rId5"/>
              </a:rPr>
              <a:t>https://doi.org/10.1371/journal.ppat.1003932</a:t>
            </a:r>
            <a:endParaRPr lang="en-US" dirty="0"/>
          </a:p>
          <a:p>
            <a:r>
              <a:rPr lang="en-US" dirty="0"/>
              <a:t>GLM for MASCOT: </a:t>
            </a:r>
            <a:r>
              <a:rPr lang="en-US" u="sng" dirty="0">
                <a:hlinkClick r:id="rId6"/>
              </a:rPr>
              <a:t>https://doi.org/10.1093/ve/vez030</a:t>
            </a:r>
            <a:endParaRPr lang="en-US" dirty="0"/>
          </a:p>
        </p:txBody>
      </p:sp>
    </p:spTree>
    <p:extLst>
      <p:ext uri="{BB962C8B-B14F-4D97-AF65-F5344CB8AC3E}">
        <p14:creationId xmlns:p14="http://schemas.microsoft.com/office/powerpoint/2010/main" val="801403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12091</TotalTime>
  <Words>1678</Words>
  <Application>Microsoft Macintosh PowerPoint</Application>
  <PresentationFormat>Widescreen</PresentationFormat>
  <Paragraphs>166</Paragraphs>
  <Slides>50</Slides>
  <Notes>18</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Helvetica</vt:lpstr>
      <vt:lpstr>Office Theme</vt:lpstr>
      <vt:lpstr>Accounting for population structure</vt:lpstr>
      <vt:lpstr>Phylogenetic trees are formed by population processes and contain information about them</vt:lpstr>
      <vt:lpstr>H3N2 sequences show spatial clustering</vt:lpstr>
      <vt:lpstr>MERS sequences cluster by host of isolation</vt:lpstr>
      <vt:lpstr>In the posterior probability, modelling the population dynamics happens in the tree prior.</vt:lpstr>
      <vt:lpstr>Models to account for population structure:</vt:lpstr>
      <vt:lpstr>Tree was generated by a different process (e.g. a coalescent process). </vt:lpstr>
      <vt:lpstr>Root of the tree is in some location (here red)</vt:lpstr>
      <vt:lpstr>Then models the migration process on top of this tree from the root to the tips</vt:lpstr>
      <vt:lpstr>Sampling locations are considered Data.</vt:lpstr>
      <vt:lpstr>Discrete trait analyses treat geography the same way as substitutions are treated</vt:lpstr>
      <vt:lpstr>Migration rates can be informed using outside data in a GLM approach</vt:lpstr>
      <vt:lpstr>Migration rates in the DTA model can be informed by transportation Data</vt:lpstr>
      <vt:lpstr>PowerPoint Presentation</vt:lpstr>
      <vt:lpstr>We track the ancestry of 4 viruses isolated from 4 people in 3 locations from present to past</vt:lpstr>
      <vt:lpstr>Lineages can have originated from a different location at a rate given by the migration rate.</vt:lpstr>
      <vt:lpstr>Two lineages can share a common ancestor at a rate inverse proportional to the Ne of location blue</vt:lpstr>
      <vt:lpstr>Two lineages can share a common ancestor at a rate inverse proportional to the Ne of location yellow</vt:lpstr>
      <vt:lpstr>Lineages can have originated from a different location at a rate given by the migration rate.</vt:lpstr>
      <vt:lpstr>And then coalesce again in location blue, reaching the root of the tree</vt:lpstr>
      <vt:lpstr>The structured coalescent models how lineages coalesce within and migrate between locations</vt:lpstr>
      <vt:lpstr>This allows us to estimate how migration rates between locations differ</vt:lpstr>
      <vt:lpstr>Or how the number of infected individuals differs between location</vt:lpstr>
      <vt:lpstr>MERS sequences cluster by host of isolation</vt:lpstr>
      <vt:lpstr>Seasonal trends in camel to human transmissions</vt:lpstr>
      <vt:lpstr>MASCOT approximates the structured coalescent to dramatically improve efficiency</vt:lpstr>
      <vt:lpstr>Migration rates and effective population sizes can be informed using outside data in a GLM approach</vt:lpstr>
      <vt:lpstr>In 2016 and 2017, there was an Influenza A/H5N8 outbreak in France</vt:lpstr>
      <vt:lpstr>Cases first appeared in the department (state) of tarn and H5N8 was soon detected in other regions as well</vt:lpstr>
      <vt:lpstr>MASCOT-GLM reconstructs Tarn to be the most likely source, consistent with case data</vt:lpstr>
      <vt:lpstr>Evidence that the initial culling of birds reduced migration between location</vt:lpstr>
      <vt:lpstr>DTA typically returns a rather parsimonious ancestral state reconstruction</vt:lpstr>
      <vt:lpstr>Effective population size dynamics can be modelled using MASCOT-Skyline</vt:lpstr>
      <vt:lpstr>Accounting for population dynamics in structured coalescent can impact ancestral state reconstruction</vt:lpstr>
      <vt:lpstr>Structured phylodynamic methods can be biased by unaccounted for populations structure</vt:lpstr>
      <vt:lpstr>Different methods can interpret very similar observations differently</vt:lpstr>
      <vt:lpstr>Different methods can interpret very similar observations differently</vt:lpstr>
      <vt:lpstr>PowerPoint Presentation</vt:lpstr>
      <vt:lpstr>Variations</vt:lpstr>
      <vt:lpstr>Example: tuberculosis</vt:lpstr>
      <vt:lpstr>Reconstructing population trajectories using BDMM-prime</vt:lpstr>
      <vt:lpstr>Pros / Cons</vt:lpstr>
      <vt:lpstr>Phylogenetic tree of SARS-CoV-2 sequences isolated in Washington State reveal multiple introductions. </vt:lpstr>
      <vt:lpstr>The two spike variants 614D and 614G were shown to differ in viral load and presumably transmission rate.</vt:lpstr>
      <vt:lpstr>Migration histories can be conditioned on instead of estimated</vt:lpstr>
      <vt:lpstr>Reconstructing the effective population size of the spike variants reveals different temporal patterns</vt:lpstr>
      <vt:lpstr>Changes in the reproduction rate of different spike variants reflect different mobility trends in the state</vt:lpstr>
      <vt:lpstr>Introductions played different roles in the spread of different SARS-CoV-2 spike variants</vt:lpstr>
      <vt:lpstr>QUESTIONS?</vt:lpstr>
      <vt:lpstr>Some reading material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Tracking the evolution of pathogens, site and clock models</dc:title>
  <dc:creator>Mueller, Nicola F</dc:creator>
  <cp:lastModifiedBy>Mueller, Nicola</cp:lastModifiedBy>
  <cp:revision>58</cp:revision>
  <dcterms:created xsi:type="dcterms:W3CDTF">2020-07-05T17:44:26Z</dcterms:created>
  <dcterms:modified xsi:type="dcterms:W3CDTF">2025-07-15T12:43:04Z</dcterms:modified>
</cp:coreProperties>
</file>